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8229600"/>
  <p:notesSz cx="8229600" cy="14630400"/>
  <p:embeddedFontLst>
    <p:embeddedFont>
      <p:font typeface="DM Sans Medium"/>
      <p:regular r:id="rId19"/>
    </p:embeddedFont>
    <p:embeddedFont>
      <p:font typeface="DM Sans Medium"/>
      <p:regular r:id="rId20"/>
    </p:embeddedFont>
    <p:embeddedFont>
      <p:font typeface="DM Sans Medium"/>
      <p:regular r:id="rId21"/>
    </p:embeddedFont>
    <p:embeddedFont>
      <p:font typeface="DM Sans Medium"/>
      <p:regular r:id="rId22"/>
    </p:embeddedFont>
    <p:embeddedFont>
      <p:font typeface="Inter"/>
      <p:regular r:id="rId23"/>
    </p:embeddedFont>
    <p:embeddedFont>
      <p:font typeface="Inter"/>
      <p:regular r:id="rId24"/>
    </p:embeddedFont>
    <p:embeddedFont>
      <p:font typeface="Inter"/>
      <p:regular r:id="rId25"/>
    </p:embeddedFont>
    <p:embeddedFont>
      <p:font typeface="Inter"/>
      <p:regular r:id="rId2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8F5">
              <a:alpha val="90000"/>
            </a:srgbClr>
          </a:solidFill>
          <a:ln/>
        </p:spPr>
      </p:sp>
      <p:sp>
        <p:nvSpPr>
          <p:cNvPr id="4" name="Text 1"/>
          <p:cNvSpPr/>
          <p:nvPr/>
        </p:nvSpPr>
        <p:spPr>
          <a:xfrm>
            <a:off x="793790" y="713661"/>
            <a:ext cx="13042821" cy="2356723"/>
          </a:xfrm>
          <a:prstGeom prst="rect">
            <a:avLst/>
          </a:prstGeom>
          <a:noFill/>
          <a:ln/>
        </p:spPr>
        <p:txBody>
          <a:bodyPr wrap="square" lIns="0" tIns="0" rIns="0" bIns="0" rtlCol="0" anchor="t"/>
          <a:lstStyle/>
          <a:p>
            <a:pPr algn="l" indent="0" marL="0">
              <a:lnSpc>
                <a:spcPts val="9250"/>
              </a:lnSpc>
              <a:buNone/>
            </a:pPr>
            <a:r>
              <a:rPr lang="en-US" sz="7400" b="1" dirty="0">
                <a:solidFill>
                  <a:srgbClr val="161613"/>
                </a:solidFill>
                <a:latin typeface="DM Sans Medium" pitchFamily="34" charset="0"/>
                <a:ea typeface="DM Sans Medium" pitchFamily="34" charset="-122"/>
                <a:cs typeface="DM Sans Medium" pitchFamily="34" charset="-120"/>
              </a:rPr>
              <a:t>Dataset Analysis for Hybrid Indoor Localization</a:t>
            </a:r>
            <a:endParaRPr lang="en-US" sz="7400" dirty="0"/>
          </a:p>
        </p:txBody>
      </p:sp>
      <p:sp>
        <p:nvSpPr>
          <p:cNvPr id="5" name="Text 2"/>
          <p:cNvSpPr/>
          <p:nvPr/>
        </p:nvSpPr>
        <p:spPr>
          <a:xfrm>
            <a:off x="793790" y="3338989"/>
            <a:ext cx="12044839" cy="813197"/>
          </a:xfrm>
          <a:prstGeom prst="rect">
            <a:avLst/>
          </a:prstGeom>
          <a:noFill/>
          <a:ln/>
        </p:spPr>
        <p:txBody>
          <a:bodyPr wrap="none" lIns="0" tIns="0" rIns="0" bIns="0" rtlCol="0" anchor="t"/>
          <a:lstStyle/>
          <a:p>
            <a:pPr algn="l" indent="0" marL="0">
              <a:lnSpc>
                <a:spcPts val="6400"/>
              </a:lnSpc>
              <a:buNone/>
            </a:pPr>
            <a:r>
              <a:rPr lang="en-US" sz="5100" b="1" dirty="0">
                <a:solidFill>
                  <a:srgbClr val="161613"/>
                </a:solidFill>
                <a:latin typeface="DM Sans Medium" pitchFamily="34" charset="0"/>
                <a:ea typeface="DM Sans Medium" pitchFamily="34" charset="-122"/>
                <a:cs typeface="DM Sans Medium" pitchFamily="34" charset="-120"/>
              </a:rPr>
              <a:t>WiFi + Magnetic Sensor Fingerprinting</a:t>
            </a:r>
            <a:endParaRPr lang="en-US" sz="5100" dirty="0"/>
          </a:p>
        </p:txBody>
      </p:sp>
      <p:sp>
        <p:nvSpPr>
          <p:cNvPr id="6" name="Text 3"/>
          <p:cNvSpPr/>
          <p:nvPr/>
        </p:nvSpPr>
        <p:spPr>
          <a:xfrm>
            <a:off x="793790" y="4420791"/>
            <a:ext cx="13042821" cy="294203"/>
          </a:xfrm>
          <a:prstGeom prst="rect">
            <a:avLst/>
          </a:prstGeom>
          <a:noFill/>
          <a:ln/>
        </p:spPr>
        <p:txBody>
          <a:bodyPr wrap="none" lIns="0" tIns="0" rIns="0" bIns="0" rtlCol="0" anchor="t"/>
          <a:lstStyle/>
          <a:p>
            <a:pPr algn="l" indent="0" marL="0">
              <a:lnSpc>
                <a:spcPts val="2300"/>
              </a:lnSpc>
              <a:buNone/>
            </a:pPr>
            <a:r>
              <a:rPr lang="en-US" sz="1450" b="1" dirty="0">
                <a:solidFill>
                  <a:srgbClr val="161613"/>
                </a:solidFill>
                <a:latin typeface="Inter" pitchFamily="34" charset="0"/>
                <a:ea typeface="Inter" pitchFamily="34" charset="-122"/>
                <a:cs typeface="Inter" pitchFamily="34" charset="-120"/>
              </a:rPr>
              <a:t> </a:t>
            </a:r>
            <a:endParaRPr lang="en-US" sz="1450" dirty="0"/>
          </a:p>
        </p:txBody>
      </p:sp>
      <p:sp>
        <p:nvSpPr>
          <p:cNvPr id="7" name="Text 4"/>
          <p:cNvSpPr/>
          <p:nvPr/>
        </p:nvSpPr>
        <p:spPr>
          <a:xfrm>
            <a:off x="793790" y="4916448"/>
            <a:ext cx="13042821" cy="367665"/>
          </a:xfrm>
          <a:prstGeom prst="rect">
            <a:avLst/>
          </a:prstGeom>
          <a:noFill/>
          <a:ln/>
        </p:spPr>
        <p:txBody>
          <a:bodyPr wrap="none" lIns="0" tIns="0" rIns="0" bIns="0" rtlCol="0" anchor="t"/>
          <a:lstStyle/>
          <a:p>
            <a:pPr algn="l" indent="0" marL="0">
              <a:lnSpc>
                <a:spcPts val="2850"/>
              </a:lnSpc>
              <a:buNone/>
            </a:pPr>
            <a:r>
              <a:rPr lang="en-US" sz="1850" b="1" dirty="0">
                <a:solidFill>
                  <a:srgbClr val="161613"/>
                </a:solidFill>
                <a:latin typeface="Inter" pitchFamily="34" charset="0"/>
                <a:ea typeface="Inter" pitchFamily="34" charset="-122"/>
                <a:cs typeface="Inter" pitchFamily="34" charset="-120"/>
              </a:rPr>
              <a:t>SURA Research Project</a:t>
            </a:r>
            <a:endParaRPr lang="en-US" sz="1850" dirty="0"/>
          </a:p>
        </p:txBody>
      </p:sp>
      <p:sp>
        <p:nvSpPr>
          <p:cNvPr id="8" name="Text 5"/>
          <p:cNvSpPr/>
          <p:nvPr/>
        </p:nvSpPr>
        <p:spPr>
          <a:xfrm>
            <a:off x="793790" y="5552718"/>
            <a:ext cx="3549491" cy="353378"/>
          </a:xfrm>
          <a:prstGeom prst="rect">
            <a:avLst/>
          </a:prstGeom>
          <a:noFill/>
          <a:ln/>
        </p:spPr>
        <p:txBody>
          <a:bodyPr wrap="none" lIns="0" tIns="0" rIns="0" bIns="0" rtlCol="0" anchor="t"/>
          <a:lstStyle/>
          <a:p>
            <a:pPr algn="l" indent="0" marL="0">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under </a:t>
            </a:r>
            <a:pPr algn="l" indent="0" marL="0">
              <a:lnSpc>
                <a:spcPts val="2750"/>
              </a:lnSpc>
              <a:buNone/>
            </a:pPr>
            <a:r>
              <a:rPr lang="en-US" sz="2200" u="sng" dirty="0">
                <a:solidFill>
                  <a:srgbClr val="161613"/>
                </a:solidFill>
                <a:latin typeface="DM Sans Medium" pitchFamily="34" charset="0"/>
                <a:ea typeface="DM Sans Medium" pitchFamily="34" charset="-122"/>
                <a:cs typeface="DM Sans Medium" pitchFamily="34" charset="-120"/>
              </a:rPr>
              <a:t>Dr.Neel Kanth Kandu</a:t>
            </a:r>
            <a:endParaRPr lang="en-US" sz="2200" dirty="0"/>
          </a:p>
        </p:txBody>
      </p:sp>
      <p:sp>
        <p:nvSpPr>
          <p:cNvPr id="9" name="Text 6"/>
          <p:cNvSpPr/>
          <p:nvPr/>
        </p:nvSpPr>
        <p:spPr>
          <a:xfrm>
            <a:off x="793790" y="6174700"/>
            <a:ext cx="13042821" cy="294203"/>
          </a:xfrm>
          <a:prstGeom prst="rect">
            <a:avLst/>
          </a:prstGeom>
          <a:noFill/>
          <a:ln/>
        </p:spPr>
        <p:txBody>
          <a:bodyPr wrap="none" lIns="0" tIns="0" rIns="0" bIns="0" rtlCol="0" anchor="t"/>
          <a:lstStyle/>
          <a:p>
            <a:pPr algn="l" indent="0" marL="0">
              <a:lnSpc>
                <a:spcPts val="2300"/>
              </a:lnSpc>
              <a:buNone/>
            </a:pPr>
            <a:r>
              <a:rPr lang="en-US" sz="1450" b="1" dirty="0">
                <a:solidFill>
                  <a:srgbClr val="161613"/>
                </a:solidFill>
                <a:latin typeface="Inter" pitchFamily="34" charset="0"/>
                <a:ea typeface="Inter" pitchFamily="34" charset="-122"/>
                <a:cs typeface="Inter" pitchFamily="34" charset="-120"/>
              </a:rPr>
              <a:t> </a:t>
            </a:r>
            <a:endParaRPr lang="en-US" sz="1450" dirty="0"/>
          </a:p>
        </p:txBody>
      </p:sp>
      <p:sp>
        <p:nvSpPr>
          <p:cNvPr id="10" name="Text 7"/>
          <p:cNvSpPr/>
          <p:nvPr/>
        </p:nvSpPr>
        <p:spPr>
          <a:xfrm>
            <a:off x="10476428" y="6737509"/>
            <a:ext cx="3360182" cy="353378"/>
          </a:xfrm>
          <a:prstGeom prst="rect">
            <a:avLst/>
          </a:prstGeom>
          <a:noFill/>
          <a:ln/>
        </p:spPr>
        <p:txBody>
          <a:bodyPr wrap="none" lIns="0" tIns="0" rIns="0" bIns="0" rtlCol="0" anchor="t"/>
          <a:lstStyle/>
          <a:p>
            <a:pPr algn="r" indent="0" marL="0">
              <a:lnSpc>
                <a:spcPts val="2750"/>
              </a:lnSpc>
              <a:buNone/>
            </a:pPr>
            <a:r>
              <a:rPr lang="en-US" sz="2200" b="1" u="sng" dirty="0">
                <a:solidFill>
                  <a:srgbClr val="161613"/>
                </a:solidFill>
                <a:latin typeface="DM Sans Medium" pitchFamily="34" charset="0"/>
                <a:ea typeface="DM Sans Medium" pitchFamily="34" charset="-122"/>
                <a:cs typeface="DM Sans Medium" pitchFamily="34" charset="-120"/>
              </a:rPr>
              <a:t>Jayendra </a:t>
            </a:r>
            <a:pPr algn="r" indent="0" marL="0">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 </a:t>
            </a:r>
            <a:pPr algn="r" indent="0" marL="0">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2024CS10891</a:t>
            </a:r>
            <a:endParaRPr lang="en-US" sz="2200" dirty="0"/>
          </a:p>
        </p:txBody>
      </p:sp>
      <p:sp>
        <p:nvSpPr>
          <p:cNvPr id="11" name="Text 8"/>
          <p:cNvSpPr/>
          <p:nvPr/>
        </p:nvSpPr>
        <p:spPr>
          <a:xfrm>
            <a:off x="10380345" y="7162443"/>
            <a:ext cx="3456265" cy="353378"/>
          </a:xfrm>
          <a:prstGeom prst="rect">
            <a:avLst/>
          </a:prstGeom>
          <a:noFill/>
          <a:ln/>
        </p:spPr>
        <p:txBody>
          <a:bodyPr wrap="none" lIns="0" tIns="0" rIns="0" bIns="0" rtlCol="0" anchor="t"/>
          <a:lstStyle/>
          <a:p>
            <a:pPr algn="r" indent="0" marL="0">
              <a:lnSpc>
                <a:spcPts val="2750"/>
              </a:lnSpc>
              <a:buNone/>
            </a:pPr>
            <a:r>
              <a:rPr lang="en-US" sz="2200" b="1" u="sng" dirty="0">
                <a:solidFill>
                  <a:srgbClr val="161613"/>
                </a:solidFill>
                <a:latin typeface="DM Sans Medium" pitchFamily="34" charset="0"/>
                <a:ea typeface="DM Sans Medium" pitchFamily="34" charset="-122"/>
                <a:cs typeface="DM Sans Medium" pitchFamily="34" charset="-120"/>
              </a:rPr>
              <a:t>Sindhush </a:t>
            </a:r>
            <a:pPr algn="r" indent="0" marL="0">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 </a:t>
            </a:r>
            <a:pPr algn="r" indent="0" marL="0">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2024CS10303</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556379"/>
            <a:ext cx="7834074" cy="620078"/>
          </a:xfrm>
          <a:prstGeom prst="rect">
            <a:avLst/>
          </a:prstGeom>
          <a:noFill/>
          <a:ln/>
        </p:spPr>
        <p:txBody>
          <a:bodyPr wrap="non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The Indoor Localization Challenge</a:t>
            </a:r>
            <a:endParaRPr lang="en-US" sz="3900" dirty="0"/>
          </a:p>
        </p:txBody>
      </p:sp>
      <p:sp>
        <p:nvSpPr>
          <p:cNvPr id="3" name="Text 1"/>
          <p:cNvSpPr/>
          <p:nvPr/>
        </p:nvSpPr>
        <p:spPr>
          <a:xfrm>
            <a:off x="793790" y="1573292"/>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Global Positioning System (GPS) technology, while revolutionary for outdoor navigation, faces significant limitations when deployed indoors. The satellite signals required for GPS triangulation are severely attenuated by building materials such as concrete, steel, and glass, resulting in unreliable or completely unavailable positioning information within indoor environments.</a:t>
            </a:r>
            <a:endParaRPr lang="en-US" sz="1550" dirty="0"/>
          </a:p>
        </p:txBody>
      </p:sp>
      <p:sp>
        <p:nvSpPr>
          <p:cNvPr id="4" name="Text 2"/>
          <p:cNvSpPr/>
          <p:nvPr/>
        </p:nvSpPr>
        <p:spPr>
          <a:xfrm>
            <a:off x="793790" y="2749153"/>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This fundamental limitation has driven extensive research into alternative localization methodologies that leverage signals of opportunity already present in indoor spaces. The emergence of ubiquitous wireless infrastructure and sophisticated smartphone sensors has created new possibilities for accurate indoor positioning systems.</a:t>
            </a:r>
            <a:endParaRPr lang="en-US" sz="1550" dirty="0"/>
          </a:p>
        </p:txBody>
      </p:sp>
      <p:sp>
        <p:nvSpPr>
          <p:cNvPr id="5" name="Shape 3"/>
          <p:cNvSpPr/>
          <p:nvPr/>
        </p:nvSpPr>
        <p:spPr>
          <a:xfrm>
            <a:off x="793790" y="3925014"/>
            <a:ext cx="4215289" cy="2572226"/>
          </a:xfrm>
          <a:prstGeom prst="roundRect">
            <a:avLst>
              <a:gd name="adj" fmla="val 1157"/>
            </a:avLst>
          </a:prstGeom>
          <a:solidFill>
            <a:srgbClr val="EDEBE3"/>
          </a:solidFill>
          <a:ln/>
        </p:spPr>
      </p:sp>
      <p:sp>
        <p:nvSpPr>
          <p:cNvPr id="6" name="Shape 4"/>
          <p:cNvSpPr/>
          <p:nvPr/>
        </p:nvSpPr>
        <p:spPr>
          <a:xfrm>
            <a:off x="992148" y="4123372"/>
            <a:ext cx="595313" cy="595313"/>
          </a:xfrm>
          <a:prstGeom prst="roundRect">
            <a:avLst>
              <a:gd name="adj" fmla="val 15358451"/>
            </a:avLst>
          </a:prstGeom>
          <a:solidFill>
            <a:srgbClr val="28282F"/>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55859" y="4286964"/>
            <a:ext cx="267891" cy="267891"/>
          </a:xfrm>
          <a:prstGeom prst="rect">
            <a:avLst/>
          </a:prstGeom>
        </p:spPr>
      </p:pic>
      <p:sp>
        <p:nvSpPr>
          <p:cNvPr id="8" name="Text 5"/>
          <p:cNvSpPr/>
          <p:nvPr/>
        </p:nvSpPr>
        <p:spPr>
          <a:xfrm>
            <a:off x="992148" y="4917043"/>
            <a:ext cx="3463766"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WiFi Received Signal Strength</a:t>
            </a:r>
            <a:endParaRPr lang="en-US" sz="1950" dirty="0"/>
          </a:p>
        </p:txBody>
      </p:sp>
      <p:sp>
        <p:nvSpPr>
          <p:cNvPr id="9" name="Text 6"/>
          <p:cNvSpPr/>
          <p:nvPr/>
        </p:nvSpPr>
        <p:spPr>
          <a:xfrm>
            <a:off x="992148" y="5346263"/>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Radio signal measurements from wireless access points throughout the building</a:t>
            </a:r>
            <a:endParaRPr lang="en-US" sz="1550" dirty="0"/>
          </a:p>
        </p:txBody>
      </p:sp>
      <p:sp>
        <p:nvSpPr>
          <p:cNvPr id="10" name="Shape 7"/>
          <p:cNvSpPr/>
          <p:nvPr/>
        </p:nvSpPr>
        <p:spPr>
          <a:xfrm>
            <a:off x="5207437" y="3925014"/>
            <a:ext cx="4215408" cy="2572226"/>
          </a:xfrm>
          <a:prstGeom prst="roundRect">
            <a:avLst>
              <a:gd name="adj" fmla="val 1157"/>
            </a:avLst>
          </a:prstGeom>
          <a:solidFill>
            <a:srgbClr val="EDEBE3"/>
          </a:solidFill>
          <a:ln/>
        </p:spPr>
      </p:sp>
      <p:sp>
        <p:nvSpPr>
          <p:cNvPr id="11" name="Shape 8"/>
          <p:cNvSpPr/>
          <p:nvPr/>
        </p:nvSpPr>
        <p:spPr>
          <a:xfrm>
            <a:off x="5405795" y="4123372"/>
            <a:ext cx="595313" cy="595313"/>
          </a:xfrm>
          <a:prstGeom prst="roundRect">
            <a:avLst>
              <a:gd name="adj" fmla="val 15358451"/>
            </a:avLst>
          </a:prstGeom>
          <a:solidFill>
            <a:srgbClr val="28282F"/>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69506" y="4286964"/>
            <a:ext cx="267891" cy="267891"/>
          </a:xfrm>
          <a:prstGeom prst="rect">
            <a:avLst/>
          </a:prstGeom>
        </p:spPr>
      </p:pic>
      <p:sp>
        <p:nvSpPr>
          <p:cNvPr id="13" name="Text 9"/>
          <p:cNvSpPr/>
          <p:nvPr/>
        </p:nvSpPr>
        <p:spPr>
          <a:xfrm>
            <a:off x="5405795" y="4917043"/>
            <a:ext cx="3320653"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Magnetic Field Disturbances</a:t>
            </a:r>
            <a:endParaRPr lang="en-US" sz="1950" dirty="0"/>
          </a:p>
        </p:txBody>
      </p:sp>
      <p:sp>
        <p:nvSpPr>
          <p:cNvPr id="14" name="Text 10"/>
          <p:cNvSpPr/>
          <p:nvPr/>
        </p:nvSpPr>
        <p:spPr>
          <a:xfrm>
            <a:off x="5405795" y="5346263"/>
            <a:ext cx="3818692"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Unique magnetic signatures created by indoor metal structures and building materials</a:t>
            </a:r>
            <a:endParaRPr lang="en-US" sz="1550" dirty="0"/>
          </a:p>
        </p:txBody>
      </p:sp>
      <p:sp>
        <p:nvSpPr>
          <p:cNvPr id="15" name="Shape 11"/>
          <p:cNvSpPr/>
          <p:nvPr/>
        </p:nvSpPr>
        <p:spPr>
          <a:xfrm>
            <a:off x="9621203" y="3925014"/>
            <a:ext cx="4215289" cy="2572226"/>
          </a:xfrm>
          <a:prstGeom prst="roundRect">
            <a:avLst>
              <a:gd name="adj" fmla="val 1157"/>
            </a:avLst>
          </a:prstGeom>
          <a:solidFill>
            <a:srgbClr val="EDEBE3"/>
          </a:solidFill>
          <a:ln/>
        </p:spPr>
      </p:sp>
      <p:sp>
        <p:nvSpPr>
          <p:cNvPr id="16" name="Shape 12"/>
          <p:cNvSpPr/>
          <p:nvPr/>
        </p:nvSpPr>
        <p:spPr>
          <a:xfrm>
            <a:off x="9819561" y="4123372"/>
            <a:ext cx="595313" cy="595313"/>
          </a:xfrm>
          <a:prstGeom prst="roundRect">
            <a:avLst>
              <a:gd name="adj" fmla="val 15358451"/>
            </a:avLst>
          </a:prstGeom>
          <a:solidFill>
            <a:srgbClr val="28282F"/>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83272" y="4286964"/>
            <a:ext cx="267891" cy="267891"/>
          </a:xfrm>
          <a:prstGeom prst="rect">
            <a:avLst/>
          </a:prstGeom>
        </p:spPr>
      </p:pic>
      <p:sp>
        <p:nvSpPr>
          <p:cNvPr id="18" name="Text 13"/>
          <p:cNvSpPr/>
          <p:nvPr/>
        </p:nvSpPr>
        <p:spPr>
          <a:xfrm>
            <a:off x="9819561" y="4917043"/>
            <a:ext cx="3710702"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Inertial Measurement Unit (IMU)</a:t>
            </a:r>
            <a:endParaRPr lang="en-US" sz="1950" dirty="0"/>
          </a:p>
        </p:txBody>
      </p:sp>
      <p:sp>
        <p:nvSpPr>
          <p:cNvPr id="19" name="Text 14"/>
          <p:cNvSpPr/>
          <p:nvPr/>
        </p:nvSpPr>
        <p:spPr>
          <a:xfrm>
            <a:off x="9819561" y="5346263"/>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Accelerometer, gyroscope, and orientation sensors tracking device movement</a:t>
            </a:r>
            <a:endParaRPr lang="en-US" sz="1550" dirty="0"/>
          </a:p>
        </p:txBody>
      </p:sp>
      <p:sp>
        <p:nvSpPr>
          <p:cNvPr id="20" name="Text 15"/>
          <p:cNvSpPr/>
          <p:nvPr/>
        </p:nvSpPr>
        <p:spPr>
          <a:xfrm>
            <a:off x="793790" y="6720483"/>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These complementary sensing modalities can be fused together to create robust indoor localization systems that overcome the individual limitations of each signal type. The integration of multiple sensor streams provides redundancy, improves accuracy, and enables continuous positioning even when individual signal sources become temporarily unavailable.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5813" y="701635"/>
            <a:ext cx="7059811" cy="583168"/>
          </a:xfrm>
          <a:prstGeom prst="rect">
            <a:avLst/>
          </a:prstGeom>
          <a:noFill/>
          <a:ln/>
        </p:spPr>
        <p:txBody>
          <a:bodyPr wrap="none" lIns="0" tIns="0" rIns="0" bIns="0" rtlCol="0" anchor="t"/>
          <a:lstStyle/>
          <a:p>
            <a:pPr algn="l" indent="0" marL="0">
              <a:lnSpc>
                <a:spcPts val="4550"/>
              </a:lnSpc>
              <a:buNone/>
            </a:pPr>
            <a:r>
              <a:rPr lang="en-US" sz="3650" dirty="0">
                <a:solidFill>
                  <a:srgbClr val="161613"/>
                </a:solidFill>
                <a:latin typeface="DM Sans Medium" pitchFamily="34" charset="0"/>
                <a:ea typeface="DM Sans Medium" pitchFamily="34" charset="-122"/>
                <a:cs typeface="DM Sans Medium" pitchFamily="34" charset="-120"/>
              </a:rPr>
              <a:t>Research Objective and Dataset</a:t>
            </a:r>
            <a:endParaRPr lang="en-US" sz="3650" dirty="0"/>
          </a:p>
        </p:txBody>
      </p:sp>
      <p:sp>
        <p:nvSpPr>
          <p:cNvPr id="3" name="Shape 1"/>
          <p:cNvSpPr/>
          <p:nvPr/>
        </p:nvSpPr>
        <p:spPr>
          <a:xfrm>
            <a:off x="785813" y="1745456"/>
            <a:ext cx="6301740" cy="1809750"/>
          </a:xfrm>
          <a:prstGeom prst="roundRect">
            <a:avLst>
              <a:gd name="adj" fmla="val 1547"/>
            </a:avLst>
          </a:prstGeom>
          <a:solidFill>
            <a:srgbClr val="D6D6DC"/>
          </a:solidFill>
          <a:ln/>
        </p:spPr>
      </p:sp>
      <p:pic>
        <p:nvPicPr>
          <p:cNvPr id="4" name="Image 0" descr="preencoded.png">    </p:cNvPr>
          <p:cNvPicPr>
            <a:picLocks noChangeAspect="1"/>
          </p:cNvPicPr>
          <p:nvPr/>
        </p:nvPicPr>
        <p:blipFill>
          <a:blip r:embed="rId1"/>
          <a:stretch>
            <a:fillRect/>
          </a:stretch>
        </p:blipFill>
        <p:spPr>
          <a:xfrm>
            <a:off x="972383" y="1984296"/>
            <a:ext cx="291584" cy="233243"/>
          </a:xfrm>
          <a:prstGeom prst="rect">
            <a:avLst/>
          </a:prstGeom>
        </p:spPr>
      </p:pic>
      <p:sp>
        <p:nvSpPr>
          <p:cNvPr id="5" name="Text 2"/>
          <p:cNvSpPr/>
          <p:nvPr/>
        </p:nvSpPr>
        <p:spPr>
          <a:xfrm>
            <a:off x="1450538" y="1967508"/>
            <a:ext cx="2333030" cy="291703"/>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DM Sans Medium" pitchFamily="34" charset="0"/>
                <a:ea typeface="DM Sans Medium" pitchFamily="34" charset="-122"/>
                <a:cs typeface="DM Sans Medium" pitchFamily="34" charset="-120"/>
              </a:rPr>
              <a:t>Project Goal</a:t>
            </a:r>
            <a:endParaRPr lang="en-US" sz="1800" dirty="0"/>
          </a:p>
        </p:txBody>
      </p:sp>
      <p:sp>
        <p:nvSpPr>
          <p:cNvPr id="6" name="Text 3"/>
          <p:cNvSpPr/>
          <p:nvPr/>
        </p:nvSpPr>
        <p:spPr>
          <a:xfrm>
            <a:off x="1450538" y="2434709"/>
            <a:ext cx="5450443" cy="869394"/>
          </a:xfrm>
          <a:prstGeom prst="rect">
            <a:avLst/>
          </a:prstGeom>
          <a:noFill/>
          <a:ln/>
        </p:spPr>
        <p:txBody>
          <a:bodyPr wrap="square" lIns="0" tIns="0" rIns="0" bIns="0" rtlCol="0" anchor="t"/>
          <a:lstStyle/>
          <a:p>
            <a:pPr algn="l" indent="0" marL="0">
              <a:lnSpc>
                <a:spcPts val="2250"/>
              </a:lnSpc>
              <a:buNone/>
            </a:pPr>
            <a:r>
              <a:rPr lang="en-US" sz="1450" dirty="0">
                <a:solidFill>
                  <a:srgbClr val="000000"/>
                </a:solidFill>
                <a:latin typeface="Inter" pitchFamily="34" charset="0"/>
                <a:ea typeface="Inter" pitchFamily="34" charset="-122"/>
                <a:cs typeface="Inter" pitchFamily="34" charset="-120"/>
              </a:rPr>
              <a:t>Develop a high-accuracy indoor localization system leveraging hybrid sensor data fusion from WiFi, magnetic field, and inertial sensors</a:t>
            </a:r>
            <a:endParaRPr lang="en-US" sz="1450" dirty="0"/>
          </a:p>
        </p:txBody>
      </p:sp>
      <p:sp>
        <p:nvSpPr>
          <p:cNvPr id="7" name="Text 4"/>
          <p:cNvSpPr/>
          <p:nvPr/>
        </p:nvSpPr>
        <p:spPr>
          <a:xfrm>
            <a:off x="785813" y="3752612"/>
            <a:ext cx="6301740" cy="1738789"/>
          </a:xfrm>
          <a:prstGeom prst="rect">
            <a:avLst/>
          </a:prstGeom>
          <a:noFill/>
          <a:ln/>
        </p:spPr>
        <p:txBody>
          <a:bodyPr wrap="square" lIns="0" tIns="0" rIns="0" bIns="0" rtlCol="0" anchor="t"/>
          <a:lstStyle/>
          <a:p>
            <a:pPr algn="l" indent="0" marL="0">
              <a:lnSpc>
                <a:spcPts val="2250"/>
              </a:lnSpc>
              <a:buNone/>
            </a:pPr>
            <a:r>
              <a:rPr lang="en-US" sz="1450" dirty="0">
                <a:solidFill>
                  <a:srgbClr val="161613"/>
                </a:solidFill>
                <a:latin typeface="Inter" pitchFamily="34" charset="0"/>
                <a:ea typeface="Inter" pitchFamily="34" charset="-122"/>
                <a:cs typeface="Inter" pitchFamily="34" charset="-120"/>
              </a:rPr>
              <a:t>This research employs the </a:t>
            </a:r>
            <a:pPr algn="l" indent="0" marL="0">
              <a:lnSpc>
                <a:spcPts val="2250"/>
              </a:lnSpc>
              <a:buNone/>
            </a:pPr>
            <a:r>
              <a:rPr lang="en-US" sz="1450" b="1" dirty="0">
                <a:solidFill>
                  <a:srgbClr val="161613"/>
                </a:solidFill>
                <a:latin typeface="Inter" pitchFamily="34" charset="0"/>
                <a:ea typeface="Inter" pitchFamily="34" charset="-122"/>
                <a:cs typeface="Inter" pitchFamily="34" charset="-120"/>
              </a:rPr>
              <a:t>MagWi Benchmark Dataset</a:t>
            </a:r>
            <a:pPr algn="l" indent="0" marL="0">
              <a:lnSpc>
                <a:spcPts val="2250"/>
              </a:lnSpc>
              <a:buNone/>
            </a:pPr>
            <a:r>
              <a:rPr lang="en-US" sz="1450" dirty="0">
                <a:solidFill>
                  <a:srgbClr val="161613"/>
                </a:solidFill>
                <a:latin typeface="Inter" pitchFamily="34" charset="0"/>
                <a:ea typeface="Inter" pitchFamily="34" charset="-122"/>
                <a:cs typeface="Inter" pitchFamily="34" charset="-120"/>
              </a:rPr>
              <a:t>, a comprehensive collection of smartphone sensor data gathered from indoor environments across multiple buildings. The dataset represents one of the most extensive collections of its kind, specifically designed for benchmarking indoor localization algorithms and sensor fusion techniques.</a:t>
            </a:r>
            <a:endParaRPr lang="en-US" sz="1450" dirty="0"/>
          </a:p>
        </p:txBody>
      </p:sp>
      <p:sp>
        <p:nvSpPr>
          <p:cNvPr id="8" name="Text 5"/>
          <p:cNvSpPr/>
          <p:nvPr/>
        </p:nvSpPr>
        <p:spPr>
          <a:xfrm>
            <a:off x="785813" y="5649278"/>
            <a:ext cx="6301740" cy="1159193"/>
          </a:xfrm>
          <a:prstGeom prst="rect">
            <a:avLst/>
          </a:prstGeom>
          <a:noFill/>
          <a:ln/>
        </p:spPr>
        <p:txBody>
          <a:bodyPr wrap="square" lIns="0" tIns="0" rIns="0" bIns="0" rtlCol="0" anchor="t"/>
          <a:lstStyle/>
          <a:p>
            <a:pPr algn="l" indent="0" marL="0">
              <a:lnSpc>
                <a:spcPts val="2250"/>
              </a:lnSpc>
              <a:buNone/>
            </a:pPr>
            <a:r>
              <a:rPr lang="en-US" sz="1450" dirty="0">
                <a:solidFill>
                  <a:srgbClr val="161613"/>
                </a:solidFill>
                <a:latin typeface="Inter" pitchFamily="34" charset="0"/>
                <a:ea typeface="Inter" pitchFamily="34" charset="-122"/>
                <a:cs typeface="Inter" pitchFamily="34" charset="-120"/>
              </a:rPr>
              <a:t>The dataset was collected using multiple smartphone models operated by different users, ensuring diversity in hardware characteristics and usage patterns. This multi-user, multi-device approach enhances the generalizability of any localization models developed from this data.</a:t>
            </a:r>
            <a:endParaRPr lang="en-US" sz="1450" dirty="0"/>
          </a:p>
        </p:txBody>
      </p:sp>
      <p:sp>
        <p:nvSpPr>
          <p:cNvPr id="9" name="Shape 6"/>
          <p:cNvSpPr/>
          <p:nvPr/>
        </p:nvSpPr>
        <p:spPr>
          <a:xfrm>
            <a:off x="7550468" y="1844576"/>
            <a:ext cx="93226" cy="93226"/>
          </a:xfrm>
          <a:prstGeom prst="roundRect">
            <a:avLst>
              <a:gd name="adj" fmla="val 490421"/>
            </a:avLst>
          </a:prstGeom>
          <a:solidFill>
            <a:srgbClr val="28282F"/>
          </a:solidFill>
          <a:ln/>
        </p:spPr>
      </p:sp>
      <p:sp>
        <p:nvSpPr>
          <p:cNvPr id="10" name="Text 7"/>
          <p:cNvSpPr/>
          <p:nvPr/>
        </p:nvSpPr>
        <p:spPr>
          <a:xfrm>
            <a:off x="7819192" y="1745456"/>
            <a:ext cx="2772489" cy="583406"/>
          </a:xfrm>
          <a:prstGeom prst="rect">
            <a:avLst/>
          </a:prstGeom>
          <a:noFill/>
          <a:ln/>
        </p:spPr>
        <p:txBody>
          <a:bodyPr wrap="square" lIns="0" tIns="0" rIns="0" bIns="0" rtlCol="0" anchor="t"/>
          <a:lstStyle/>
          <a:p>
            <a:pPr algn="l" indent="0" marL="0">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WiFi Received Signal Strength (RSS)</a:t>
            </a:r>
            <a:endParaRPr lang="en-US" sz="1800" dirty="0"/>
          </a:p>
        </p:txBody>
      </p:sp>
      <p:sp>
        <p:nvSpPr>
          <p:cNvPr id="11" name="Text 8"/>
          <p:cNvSpPr/>
          <p:nvPr/>
        </p:nvSpPr>
        <p:spPr>
          <a:xfrm>
            <a:off x="7819192" y="2504361"/>
            <a:ext cx="2772489" cy="1159193"/>
          </a:xfrm>
          <a:prstGeom prst="rect">
            <a:avLst/>
          </a:prstGeom>
          <a:noFill/>
          <a:ln/>
        </p:spPr>
        <p:txBody>
          <a:bodyPr wrap="square" lIns="0" tIns="0" rIns="0" bIns="0" rtlCol="0" anchor="t"/>
          <a:lstStyle/>
          <a:p>
            <a:pPr algn="l" indent="0" marL="0">
              <a:lnSpc>
                <a:spcPts val="2250"/>
              </a:lnSpc>
              <a:buNone/>
            </a:pPr>
            <a:r>
              <a:rPr lang="en-US" sz="1450" dirty="0">
                <a:solidFill>
                  <a:srgbClr val="161613"/>
                </a:solidFill>
                <a:latin typeface="Inter" pitchFamily="34" charset="0"/>
                <a:ea typeface="Inter" pitchFamily="34" charset="-122"/>
                <a:cs typeface="Inter" pitchFamily="34" charset="-120"/>
              </a:rPr>
              <a:t>Signal measurements from detected wireless access points with timestamps and coordinates</a:t>
            </a:r>
            <a:endParaRPr lang="en-US" sz="1450" dirty="0"/>
          </a:p>
        </p:txBody>
      </p:sp>
      <p:sp>
        <p:nvSpPr>
          <p:cNvPr id="12" name="Shape 9"/>
          <p:cNvSpPr/>
          <p:nvPr/>
        </p:nvSpPr>
        <p:spPr>
          <a:xfrm>
            <a:off x="10810994" y="1844576"/>
            <a:ext cx="93226" cy="93226"/>
          </a:xfrm>
          <a:prstGeom prst="roundRect">
            <a:avLst>
              <a:gd name="adj" fmla="val 490421"/>
            </a:avLst>
          </a:prstGeom>
          <a:solidFill>
            <a:srgbClr val="28282F"/>
          </a:solidFill>
          <a:ln/>
        </p:spPr>
      </p:sp>
      <p:sp>
        <p:nvSpPr>
          <p:cNvPr id="13" name="Text 10"/>
          <p:cNvSpPr/>
          <p:nvPr/>
        </p:nvSpPr>
        <p:spPr>
          <a:xfrm>
            <a:off x="11079718" y="1745456"/>
            <a:ext cx="2675334" cy="291703"/>
          </a:xfrm>
          <a:prstGeom prst="rect">
            <a:avLst/>
          </a:prstGeom>
          <a:noFill/>
          <a:ln/>
        </p:spPr>
        <p:txBody>
          <a:bodyPr wrap="none" lIns="0" tIns="0" rIns="0" bIns="0" rtlCol="0" anchor="t"/>
          <a:lstStyle/>
          <a:p>
            <a:pPr algn="l" indent="0" marL="0">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Magnetometer Readings</a:t>
            </a:r>
            <a:endParaRPr lang="en-US" sz="1800" dirty="0"/>
          </a:p>
        </p:txBody>
      </p:sp>
      <p:sp>
        <p:nvSpPr>
          <p:cNvPr id="14" name="Text 11"/>
          <p:cNvSpPr/>
          <p:nvPr/>
        </p:nvSpPr>
        <p:spPr>
          <a:xfrm>
            <a:off x="11079718" y="2212657"/>
            <a:ext cx="2772489" cy="1159193"/>
          </a:xfrm>
          <a:prstGeom prst="rect">
            <a:avLst/>
          </a:prstGeom>
          <a:noFill/>
          <a:ln/>
        </p:spPr>
        <p:txBody>
          <a:bodyPr wrap="square" lIns="0" tIns="0" rIns="0" bIns="0" rtlCol="0" anchor="t"/>
          <a:lstStyle/>
          <a:p>
            <a:pPr algn="l" indent="0" marL="0">
              <a:lnSpc>
                <a:spcPts val="2250"/>
              </a:lnSpc>
              <a:buNone/>
            </a:pPr>
            <a:r>
              <a:rPr lang="en-US" sz="1450" dirty="0">
                <a:solidFill>
                  <a:srgbClr val="161613"/>
                </a:solidFill>
                <a:latin typeface="Inter" pitchFamily="34" charset="0"/>
                <a:ea typeface="Inter" pitchFamily="34" charset="-122"/>
                <a:cs typeface="Inter" pitchFamily="34" charset="-120"/>
              </a:rPr>
              <a:t>Three-axis magnetic field measurements capturing spatial variations in magnetic signatures</a:t>
            </a:r>
            <a:endParaRPr lang="en-US" sz="1450" dirty="0"/>
          </a:p>
        </p:txBody>
      </p:sp>
      <p:sp>
        <p:nvSpPr>
          <p:cNvPr id="15" name="Shape 12"/>
          <p:cNvSpPr/>
          <p:nvPr/>
        </p:nvSpPr>
        <p:spPr>
          <a:xfrm>
            <a:off x="7550468" y="4113669"/>
            <a:ext cx="93226" cy="93226"/>
          </a:xfrm>
          <a:prstGeom prst="roundRect">
            <a:avLst>
              <a:gd name="adj" fmla="val 490421"/>
            </a:avLst>
          </a:prstGeom>
          <a:solidFill>
            <a:srgbClr val="28282F"/>
          </a:solidFill>
          <a:ln/>
        </p:spPr>
      </p:sp>
      <p:sp>
        <p:nvSpPr>
          <p:cNvPr id="16" name="Text 13"/>
          <p:cNvSpPr/>
          <p:nvPr/>
        </p:nvSpPr>
        <p:spPr>
          <a:xfrm>
            <a:off x="7819192" y="4014549"/>
            <a:ext cx="2333030" cy="291703"/>
          </a:xfrm>
          <a:prstGeom prst="rect">
            <a:avLst/>
          </a:prstGeom>
          <a:noFill/>
          <a:ln/>
        </p:spPr>
        <p:txBody>
          <a:bodyPr wrap="none" lIns="0" tIns="0" rIns="0" bIns="0" rtlCol="0" anchor="t"/>
          <a:lstStyle/>
          <a:p>
            <a:pPr algn="l" indent="0" marL="0">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Accelerometer Data</a:t>
            </a:r>
            <a:endParaRPr lang="en-US" sz="1800" dirty="0"/>
          </a:p>
        </p:txBody>
      </p:sp>
      <p:sp>
        <p:nvSpPr>
          <p:cNvPr id="17" name="Text 14"/>
          <p:cNvSpPr/>
          <p:nvPr/>
        </p:nvSpPr>
        <p:spPr>
          <a:xfrm>
            <a:off x="7819192" y="4481751"/>
            <a:ext cx="2772489" cy="1159193"/>
          </a:xfrm>
          <a:prstGeom prst="rect">
            <a:avLst/>
          </a:prstGeom>
          <a:noFill/>
          <a:ln/>
        </p:spPr>
        <p:txBody>
          <a:bodyPr wrap="square" lIns="0" tIns="0" rIns="0" bIns="0" rtlCol="0" anchor="t"/>
          <a:lstStyle/>
          <a:p>
            <a:pPr algn="l" indent="0" marL="0">
              <a:lnSpc>
                <a:spcPts val="2250"/>
              </a:lnSpc>
              <a:buNone/>
            </a:pPr>
            <a:r>
              <a:rPr lang="en-US" sz="1450" dirty="0">
                <a:solidFill>
                  <a:srgbClr val="161613"/>
                </a:solidFill>
                <a:latin typeface="Inter" pitchFamily="34" charset="0"/>
                <a:ea typeface="Inter" pitchFamily="34" charset="-122"/>
                <a:cs typeface="Inter" pitchFamily="34" charset="-120"/>
              </a:rPr>
              <a:t>Three-axis acceleration measurements for motion detection and activity recognition</a:t>
            </a:r>
            <a:endParaRPr lang="en-US" sz="1450" dirty="0"/>
          </a:p>
        </p:txBody>
      </p:sp>
      <p:sp>
        <p:nvSpPr>
          <p:cNvPr id="18" name="Shape 15"/>
          <p:cNvSpPr/>
          <p:nvPr/>
        </p:nvSpPr>
        <p:spPr>
          <a:xfrm>
            <a:off x="10810994" y="4113669"/>
            <a:ext cx="93226" cy="93226"/>
          </a:xfrm>
          <a:prstGeom prst="roundRect">
            <a:avLst>
              <a:gd name="adj" fmla="val 490421"/>
            </a:avLst>
          </a:prstGeom>
          <a:solidFill>
            <a:srgbClr val="28282F"/>
          </a:solidFill>
          <a:ln/>
        </p:spPr>
      </p:sp>
      <p:sp>
        <p:nvSpPr>
          <p:cNvPr id="19" name="Text 16"/>
          <p:cNvSpPr/>
          <p:nvPr/>
        </p:nvSpPr>
        <p:spPr>
          <a:xfrm>
            <a:off x="11079718" y="4014549"/>
            <a:ext cx="2772489" cy="583406"/>
          </a:xfrm>
          <a:prstGeom prst="rect">
            <a:avLst/>
          </a:prstGeom>
          <a:noFill/>
          <a:ln/>
        </p:spPr>
        <p:txBody>
          <a:bodyPr wrap="square" lIns="0" tIns="0" rIns="0" bIns="0" rtlCol="0" anchor="t"/>
          <a:lstStyle/>
          <a:p>
            <a:pPr algn="l" indent="0" marL="0">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Gyroscope Measurements</a:t>
            </a:r>
            <a:endParaRPr lang="en-US" sz="1800" dirty="0"/>
          </a:p>
        </p:txBody>
      </p:sp>
      <p:sp>
        <p:nvSpPr>
          <p:cNvPr id="20" name="Text 17"/>
          <p:cNvSpPr/>
          <p:nvPr/>
        </p:nvSpPr>
        <p:spPr>
          <a:xfrm>
            <a:off x="11079718" y="4773454"/>
            <a:ext cx="2772489" cy="869394"/>
          </a:xfrm>
          <a:prstGeom prst="rect">
            <a:avLst/>
          </a:prstGeom>
          <a:noFill/>
          <a:ln/>
        </p:spPr>
        <p:txBody>
          <a:bodyPr wrap="square" lIns="0" tIns="0" rIns="0" bIns="0" rtlCol="0" anchor="t"/>
          <a:lstStyle/>
          <a:p>
            <a:pPr algn="l" indent="0" marL="0">
              <a:lnSpc>
                <a:spcPts val="2250"/>
              </a:lnSpc>
              <a:buNone/>
            </a:pPr>
            <a:r>
              <a:rPr lang="en-US" sz="1450" dirty="0">
                <a:solidFill>
                  <a:srgbClr val="161613"/>
                </a:solidFill>
                <a:latin typeface="Inter" pitchFamily="34" charset="0"/>
                <a:ea typeface="Inter" pitchFamily="34" charset="-122"/>
                <a:cs typeface="Inter" pitchFamily="34" charset="-120"/>
              </a:rPr>
              <a:t>Angular velocity data for orientation tracking and movement characterization</a:t>
            </a:r>
            <a:endParaRPr lang="en-US" sz="1450" dirty="0"/>
          </a:p>
        </p:txBody>
      </p:sp>
      <p:sp>
        <p:nvSpPr>
          <p:cNvPr id="21" name="Shape 18"/>
          <p:cNvSpPr/>
          <p:nvPr/>
        </p:nvSpPr>
        <p:spPr>
          <a:xfrm>
            <a:off x="7550468" y="6092964"/>
            <a:ext cx="93226" cy="93226"/>
          </a:xfrm>
          <a:prstGeom prst="roundRect">
            <a:avLst>
              <a:gd name="adj" fmla="val 490421"/>
            </a:avLst>
          </a:prstGeom>
          <a:solidFill>
            <a:srgbClr val="28282F"/>
          </a:solidFill>
          <a:ln/>
        </p:spPr>
      </p:sp>
      <p:sp>
        <p:nvSpPr>
          <p:cNvPr id="22" name="Text 19"/>
          <p:cNvSpPr/>
          <p:nvPr/>
        </p:nvSpPr>
        <p:spPr>
          <a:xfrm>
            <a:off x="7819192" y="5993844"/>
            <a:ext cx="2333030" cy="291703"/>
          </a:xfrm>
          <a:prstGeom prst="rect">
            <a:avLst/>
          </a:prstGeom>
          <a:noFill/>
          <a:ln/>
        </p:spPr>
        <p:txBody>
          <a:bodyPr wrap="none" lIns="0" tIns="0" rIns="0" bIns="0" rtlCol="0" anchor="t"/>
          <a:lstStyle/>
          <a:p>
            <a:pPr algn="l" indent="0" marL="0">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Pressure Sensor</a:t>
            </a:r>
            <a:endParaRPr lang="en-US" sz="1800" dirty="0"/>
          </a:p>
        </p:txBody>
      </p:sp>
      <p:sp>
        <p:nvSpPr>
          <p:cNvPr id="23" name="Text 20"/>
          <p:cNvSpPr/>
          <p:nvPr/>
        </p:nvSpPr>
        <p:spPr>
          <a:xfrm>
            <a:off x="7819192" y="6461046"/>
            <a:ext cx="2772489" cy="869394"/>
          </a:xfrm>
          <a:prstGeom prst="rect">
            <a:avLst/>
          </a:prstGeom>
          <a:noFill/>
          <a:ln/>
        </p:spPr>
        <p:txBody>
          <a:bodyPr wrap="square" lIns="0" tIns="0" rIns="0" bIns="0" rtlCol="0" anchor="t"/>
          <a:lstStyle/>
          <a:p>
            <a:pPr algn="l" indent="0" marL="0">
              <a:lnSpc>
                <a:spcPts val="2250"/>
              </a:lnSpc>
              <a:buNone/>
            </a:pPr>
            <a:r>
              <a:rPr lang="en-US" sz="1450" dirty="0">
                <a:solidFill>
                  <a:srgbClr val="161613"/>
                </a:solidFill>
                <a:latin typeface="Inter" pitchFamily="34" charset="0"/>
                <a:ea typeface="Inter" pitchFamily="34" charset="-122"/>
                <a:cs typeface="Inter" pitchFamily="34" charset="-120"/>
              </a:rPr>
              <a:t>Atmospheric pressure readings for floor-level detection in multi-story buildings</a:t>
            </a:r>
            <a:endParaRPr lang="en-US" sz="1450" dirty="0"/>
          </a:p>
        </p:txBody>
      </p:sp>
      <p:sp>
        <p:nvSpPr>
          <p:cNvPr id="24" name="Shape 21"/>
          <p:cNvSpPr/>
          <p:nvPr/>
        </p:nvSpPr>
        <p:spPr>
          <a:xfrm>
            <a:off x="10810994" y="6092964"/>
            <a:ext cx="93226" cy="93226"/>
          </a:xfrm>
          <a:prstGeom prst="roundRect">
            <a:avLst>
              <a:gd name="adj" fmla="val 490421"/>
            </a:avLst>
          </a:prstGeom>
          <a:solidFill>
            <a:srgbClr val="28282F"/>
          </a:solidFill>
          <a:ln/>
        </p:spPr>
      </p:sp>
      <p:sp>
        <p:nvSpPr>
          <p:cNvPr id="25" name="Text 22"/>
          <p:cNvSpPr/>
          <p:nvPr/>
        </p:nvSpPr>
        <p:spPr>
          <a:xfrm>
            <a:off x="11079718" y="5993844"/>
            <a:ext cx="2333030" cy="291703"/>
          </a:xfrm>
          <a:prstGeom prst="rect">
            <a:avLst/>
          </a:prstGeom>
          <a:noFill/>
          <a:ln/>
        </p:spPr>
        <p:txBody>
          <a:bodyPr wrap="none" lIns="0" tIns="0" rIns="0" bIns="0" rtlCol="0" anchor="t"/>
          <a:lstStyle/>
          <a:p>
            <a:pPr algn="l" indent="0" marL="0">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Orientation Sensors</a:t>
            </a:r>
            <a:endParaRPr lang="en-US" sz="1800" dirty="0"/>
          </a:p>
        </p:txBody>
      </p:sp>
      <p:sp>
        <p:nvSpPr>
          <p:cNvPr id="26" name="Text 23"/>
          <p:cNvSpPr/>
          <p:nvPr/>
        </p:nvSpPr>
        <p:spPr>
          <a:xfrm>
            <a:off x="11079718" y="6461046"/>
            <a:ext cx="2772489" cy="869394"/>
          </a:xfrm>
          <a:prstGeom prst="rect">
            <a:avLst/>
          </a:prstGeom>
          <a:noFill/>
          <a:ln/>
        </p:spPr>
        <p:txBody>
          <a:bodyPr wrap="square" lIns="0" tIns="0" rIns="0" bIns="0" rtlCol="0" anchor="t"/>
          <a:lstStyle/>
          <a:p>
            <a:pPr algn="l" indent="0" marL="0">
              <a:lnSpc>
                <a:spcPts val="2250"/>
              </a:lnSpc>
              <a:buNone/>
            </a:pPr>
            <a:r>
              <a:rPr lang="en-US" sz="1450" dirty="0">
                <a:solidFill>
                  <a:srgbClr val="161613"/>
                </a:solidFill>
                <a:latin typeface="Inter" pitchFamily="34" charset="0"/>
                <a:ea typeface="Inter" pitchFamily="34" charset="-122"/>
                <a:cs typeface="Inter" pitchFamily="34" charset="-120"/>
              </a:rPr>
              <a:t>Device orientation and heading information derived from sensor fusion algorithms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09481"/>
            <a:ext cx="7903488" cy="589121"/>
          </a:xfrm>
          <a:prstGeom prst="rect">
            <a:avLst/>
          </a:prstGeom>
          <a:noFill/>
          <a:ln/>
        </p:spPr>
        <p:txBody>
          <a:bodyPr wrap="none" lIns="0" tIns="0" rIns="0" bIns="0" rtlCol="0" anchor="t"/>
          <a:lstStyle/>
          <a:p>
            <a:pPr algn="l" indent="0" marL="0">
              <a:lnSpc>
                <a:spcPts val="4600"/>
              </a:lnSpc>
              <a:buNone/>
            </a:pPr>
            <a:r>
              <a:rPr lang="en-US" sz="3700" dirty="0">
                <a:solidFill>
                  <a:srgbClr val="161613"/>
                </a:solidFill>
                <a:latin typeface="DM Sans Medium" pitchFamily="34" charset="0"/>
                <a:ea typeface="DM Sans Medium" pitchFamily="34" charset="-122"/>
                <a:cs typeface="DM Sans Medium" pitchFamily="34" charset="-120"/>
              </a:rPr>
              <a:t>Dataset Composition and Structure</a:t>
            </a:r>
            <a:endParaRPr lang="en-US" sz="3700" dirty="0"/>
          </a:p>
        </p:txBody>
      </p:sp>
      <p:sp>
        <p:nvSpPr>
          <p:cNvPr id="3" name="Text 1"/>
          <p:cNvSpPr/>
          <p:nvPr/>
        </p:nvSpPr>
        <p:spPr>
          <a:xfrm>
            <a:off x="793790" y="1646277"/>
            <a:ext cx="2828211" cy="353378"/>
          </a:xfrm>
          <a:prstGeom prst="rect">
            <a:avLst/>
          </a:prstGeom>
          <a:noFill/>
          <a:ln/>
        </p:spPr>
        <p:txBody>
          <a:bodyPr wrap="none" lIns="0" tIns="0" rIns="0" bIns="0" rtlCol="0" anchor="t"/>
          <a:lstStyle/>
          <a:p>
            <a:pPr algn="l" indent="0" marL="0">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Data File Overview</a:t>
            </a:r>
            <a:endParaRPr lang="en-US" sz="2200" dirty="0"/>
          </a:p>
        </p:txBody>
      </p:sp>
      <p:sp>
        <p:nvSpPr>
          <p:cNvPr id="4" name="Text 2"/>
          <p:cNvSpPr/>
          <p:nvPr/>
        </p:nvSpPr>
        <p:spPr>
          <a:xfrm>
            <a:off x="793790" y="2178725"/>
            <a:ext cx="6291382" cy="1471017"/>
          </a:xfrm>
          <a:prstGeom prst="rect">
            <a:avLst/>
          </a:prstGeom>
          <a:noFill/>
          <a:ln/>
        </p:spPr>
        <p:txBody>
          <a:bodyPr wrap="square" lIns="0" tIns="0" rIns="0" bIns="0" rtlCol="0" anchor="t"/>
          <a:lstStyle/>
          <a:p>
            <a:pPr algn="l" indent="0" marL="0">
              <a:lnSpc>
                <a:spcPts val="2300"/>
              </a:lnSpc>
              <a:buNone/>
            </a:pPr>
            <a:r>
              <a:rPr lang="en-US" sz="1450" dirty="0">
                <a:solidFill>
                  <a:srgbClr val="161613"/>
                </a:solidFill>
                <a:latin typeface="Inter" pitchFamily="34" charset="0"/>
                <a:ea typeface="Inter" pitchFamily="34" charset="-122"/>
                <a:cs typeface="Inter" pitchFamily="34" charset="-120"/>
              </a:rPr>
              <a:t>The dataset comprises two primary categories of sensor recordings, each serving a distinct purpose in the localization framework. The organization follows a timestamp-based structure where each file represents sensor readings at a specific point in time and physical location.</a:t>
            </a:r>
            <a:endParaRPr lang="en-US" sz="1450" dirty="0"/>
          </a:p>
        </p:txBody>
      </p:sp>
      <p:sp>
        <p:nvSpPr>
          <p:cNvPr id="5" name="Text 3"/>
          <p:cNvSpPr/>
          <p:nvPr/>
        </p:nvSpPr>
        <p:spPr>
          <a:xfrm>
            <a:off x="7552849" y="1646277"/>
            <a:ext cx="3352562" cy="353378"/>
          </a:xfrm>
          <a:prstGeom prst="rect">
            <a:avLst/>
          </a:prstGeom>
          <a:noFill/>
          <a:ln/>
        </p:spPr>
        <p:txBody>
          <a:bodyPr wrap="none" lIns="0" tIns="0" rIns="0" bIns="0" rtlCol="0" anchor="t"/>
          <a:lstStyle/>
          <a:p>
            <a:pPr algn="l" indent="0" marL="0">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Temporal Characteristics</a:t>
            </a:r>
            <a:endParaRPr lang="en-US" sz="2200" dirty="0"/>
          </a:p>
        </p:txBody>
      </p:sp>
      <p:sp>
        <p:nvSpPr>
          <p:cNvPr id="6" name="Text 4"/>
          <p:cNvSpPr/>
          <p:nvPr/>
        </p:nvSpPr>
        <p:spPr>
          <a:xfrm>
            <a:off x="7552849" y="2178725"/>
            <a:ext cx="6291382" cy="882610"/>
          </a:xfrm>
          <a:prstGeom prst="rect">
            <a:avLst/>
          </a:prstGeom>
          <a:noFill/>
          <a:ln/>
        </p:spPr>
        <p:txBody>
          <a:bodyPr wrap="square" lIns="0" tIns="0" rIns="0" bIns="0" rtlCol="0" anchor="t"/>
          <a:lstStyle/>
          <a:p>
            <a:pPr algn="l" indent="0" marL="0">
              <a:lnSpc>
                <a:spcPts val="2300"/>
              </a:lnSpc>
              <a:buNone/>
            </a:pPr>
            <a:r>
              <a:rPr lang="en-US" sz="1450" dirty="0">
                <a:solidFill>
                  <a:srgbClr val="161613"/>
                </a:solidFill>
                <a:latin typeface="Inter" pitchFamily="34" charset="0"/>
                <a:ea typeface="Inter" pitchFamily="34" charset="-122"/>
                <a:cs typeface="Inter" pitchFamily="34" charset="-120"/>
              </a:rPr>
              <a:t>The sampling frequency differs significantly between WiFi scanning and inertial/magnetic sensors, reflecting their distinct physical properties and power consumption characteristics.</a:t>
            </a:r>
            <a:endParaRPr lang="en-US" sz="1450" dirty="0"/>
          </a:p>
        </p:txBody>
      </p:sp>
      <p:sp>
        <p:nvSpPr>
          <p:cNvPr id="7" name="Text 5"/>
          <p:cNvSpPr/>
          <p:nvPr/>
        </p:nvSpPr>
        <p:spPr>
          <a:xfrm>
            <a:off x="871061" y="4106585"/>
            <a:ext cx="2938105" cy="622102"/>
          </a:xfrm>
          <a:prstGeom prst="rect">
            <a:avLst/>
          </a:prstGeom>
          <a:noFill/>
          <a:ln/>
        </p:spPr>
        <p:txBody>
          <a:bodyPr wrap="none" lIns="0" tIns="0" rIns="0" bIns="0" rtlCol="0" anchor="t"/>
          <a:lstStyle/>
          <a:p>
            <a:pPr algn="ctr" indent="0" marL="0">
              <a:lnSpc>
                <a:spcPts val="4850"/>
              </a:lnSpc>
              <a:buNone/>
            </a:pPr>
            <a:r>
              <a:rPr lang="en-US" sz="4850" dirty="0">
                <a:solidFill>
                  <a:srgbClr val="161613"/>
                </a:solidFill>
                <a:latin typeface="DM Sans Medium" pitchFamily="34" charset="0"/>
                <a:ea typeface="DM Sans Medium" pitchFamily="34" charset="-122"/>
                <a:cs typeface="DM Sans Medium" pitchFamily="34" charset="-120"/>
              </a:rPr>
              <a:t>2831</a:t>
            </a:r>
            <a:endParaRPr lang="en-US" sz="4850" dirty="0"/>
          </a:p>
        </p:txBody>
      </p:sp>
      <p:sp>
        <p:nvSpPr>
          <p:cNvPr id="8" name="Text 6"/>
          <p:cNvSpPr/>
          <p:nvPr/>
        </p:nvSpPr>
        <p:spPr>
          <a:xfrm>
            <a:off x="1161693" y="4957167"/>
            <a:ext cx="2356842" cy="294680"/>
          </a:xfrm>
          <a:prstGeom prst="rect">
            <a:avLst/>
          </a:prstGeom>
          <a:noFill/>
          <a:ln/>
        </p:spPr>
        <p:txBody>
          <a:bodyPr wrap="none" lIns="0" tIns="0" rIns="0" bIns="0" rtlCol="0" anchor="t"/>
          <a:lstStyle/>
          <a:p>
            <a:pPr algn="ctr" indent="0" marL="0">
              <a:lnSpc>
                <a:spcPts val="2300"/>
              </a:lnSpc>
              <a:buNone/>
            </a:pPr>
            <a:r>
              <a:rPr lang="en-US" sz="1850" dirty="0">
                <a:solidFill>
                  <a:srgbClr val="161613"/>
                </a:solidFill>
                <a:latin typeface="DM Sans Medium" pitchFamily="34" charset="0"/>
                <a:ea typeface="DM Sans Medium" pitchFamily="34" charset="-122"/>
                <a:cs typeface="DM Sans Medium" pitchFamily="34" charset="-120"/>
              </a:rPr>
              <a:t>WiFi Scan Files</a:t>
            </a:r>
            <a:endParaRPr lang="en-US" sz="1850" dirty="0"/>
          </a:p>
        </p:txBody>
      </p:sp>
      <p:sp>
        <p:nvSpPr>
          <p:cNvPr id="9" name="Text 7"/>
          <p:cNvSpPr/>
          <p:nvPr/>
        </p:nvSpPr>
        <p:spPr>
          <a:xfrm>
            <a:off x="793790" y="5359241"/>
            <a:ext cx="3092768" cy="882610"/>
          </a:xfrm>
          <a:prstGeom prst="rect">
            <a:avLst/>
          </a:prstGeom>
          <a:noFill/>
          <a:ln/>
        </p:spPr>
        <p:txBody>
          <a:bodyPr wrap="square" lIns="0" tIns="0" rIns="0" bIns="0" rtlCol="0" anchor="t"/>
          <a:lstStyle/>
          <a:p>
            <a:pPr algn="ctr" indent="0" marL="0">
              <a:lnSpc>
                <a:spcPts val="2300"/>
              </a:lnSpc>
              <a:buNone/>
            </a:pPr>
            <a:r>
              <a:rPr lang="en-US" sz="1450" dirty="0">
                <a:solidFill>
                  <a:srgbClr val="161613"/>
                </a:solidFill>
                <a:latin typeface="Inter" pitchFamily="34" charset="0"/>
                <a:ea typeface="Inter" pitchFamily="34" charset="-122"/>
                <a:cs typeface="Inter" pitchFamily="34" charset="-120"/>
              </a:rPr>
              <a:t>Individual fingerprint locations with associated access point detections</a:t>
            </a:r>
            <a:endParaRPr lang="en-US" sz="1450" dirty="0"/>
          </a:p>
        </p:txBody>
      </p:sp>
      <p:sp>
        <p:nvSpPr>
          <p:cNvPr id="10" name="Text 8"/>
          <p:cNvSpPr/>
          <p:nvPr/>
        </p:nvSpPr>
        <p:spPr>
          <a:xfrm>
            <a:off x="4187666" y="4106585"/>
            <a:ext cx="2938224" cy="622102"/>
          </a:xfrm>
          <a:prstGeom prst="rect">
            <a:avLst/>
          </a:prstGeom>
          <a:noFill/>
          <a:ln/>
        </p:spPr>
        <p:txBody>
          <a:bodyPr wrap="none" lIns="0" tIns="0" rIns="0" bIns="0" rtlCol="0" anchor="t"/>
          <a:lstStyle/>
          <a:p>
            <a:pPr algn="ctr" indent="0" marL="0">
              <a:lnSpc>
                <a:spcPts val="4850"/>
              </a:lnSpc>
              <a:buNone/>
            </a:pPr>
            <a:r>
              <a:rPr lang="en-US" sz="4850" dirty="0">
                <a:solidFill>
                  <a:srgbClr val="161613"/>
                </a:solidFill>
                <a:latin typeface="DM Sans Medium" pitchFamily="34" charset="0"/>
                <a:ea typeface="DM Sans Medium" pitchFamily="34" charset="-122"/>
                <a:cs typeface="DM Sans Medium" pitchFamily="34" charset="-120"/>
              </a:rPr>
              <a:t>4261</a:t>
            </a:r>
            <a:endParaRPr lang="en-US" sz="4850" dirty="0"/>
          </a:p>
        </p:txBody>
      </p:sp>
      <p:sp>
        <p:nvSpPr>
          <p:cNvPr id="11" name="Text 9"/>
          <p:cNvSpPr/>
          <p:nvPr/>
        </p:nvSpPr>
        <p:spPr>
          <a:xfrm>
            <a:off x="4230291" y="4957167"/>
            <a:ext cx="2852976" cy="294680"/>
          </a:xfrm>
          <a:prstGeom prst="rect">
            <a:avLst/>
          </a:prstGeom>
          <a:noFill/>
          <a:ln/>
        </p:spPr>
        <p:txBody>
          <a:bodyPr wrap="none" lIns="0" tIns="0" rIns="0" bIns="0" rtlCol="0" anchor="t"/>
          <a:lstStyle/>
          <a:p>
            <a:pPr algn="ctr" indent="0" marL="0">
              <a:lnSpc>
                <a:spcPts val="2300"/>
              </a:lnSpc>
              <a:buNone/>
            </a:pPr>
            <a:r>
              <a:rPr lang="en-US" sz="1850" dirty="0">
                <a:solidFill>
                  <a:srgbClr val="161613"/>
                </a:solidFill>
                <a:latin typeface="DM Sans Medium" pitchFamily="34" charset="0"/>
                <a:ea typeface="DM Sans Medium" pitchFamily="34" charset="-122"/>
                <a:cs typeface="DM Sans Medium" pitchFamily="34" charset="-120"/>
              </a:rPr>
              <a:t>Magnetic/IMU Recordings</a:t>
            </a:r>
            <a:endParaRPr lang="en-US" sz="1850" dirty="0"/>
          </a:p>
        </p:txBody>
      </p:sp>
      <p:sp>
        <p:nvSpPr>
          <p:cNvPr id="12" name="Text 10"/>
          <p:cNvSpPr/>
          <p:nvPr/>
        </p:nvSpPr>
        <p:spPr>
          <a:xfrm>
            <a:off x="4110395" y="5359241"/>
            <a:ext cx="3092887" cy="882610"/>
          </a:xfrm>
          <a:prstGeom prst="rect">
            <a:avLst/>
          </a:prstGeom>
          <a:noFill/>
          <a:ln/>
        </p:spPr>
        <p:txBody>
          <a:bodyPr wrap="square" lIns="0" tIns="0" rIns="0" bIns="0" rtlCol="0" anchor="t"/>
          <a:lstStyle/>
          <a:p>
            <a:pPr algn="ctr" indent="0" marL="0">
              <a:lnSpc>
                <a:spcPts val="2300"/>
              </a:lnSpc>
              <a:buNone/>
            </a:pPr>
            <a:r>
              <a:rPr lang="en-US" sz="1450" dirty="0">
                <a:solidFill>
                  <a:srgbClr val="161613"/>
                </a:solidFill>
                <a:latin typeface="Inter" pitchFamily="34" charset="0"/>
                <a:ea typeface="Inter" pitchFamily="34" charset="-122"/>
                <a:cs typeface="Inter" pitchFamily="34" charset="-120"/>
              </a:rPr>
              <a:t>High-frequency sensor measurements synchronized with WiFi scans</a:t>
            </a:r>
            <a:endParaRPr lang="en-US" sz="1450" dirty="0"/>
          </a:p>
        </p:txBody>
      </p:sp>
      <p:sp>
        <p:nvSpPr>
          <p:cNvPr id="13" name="Text 11"/>
          <p:cNvSpPr/>
          <p:nvPr/>
        </p:nvSpPr>
        <p:spPr>
          <a:xfrm>
            <a:off x="7504390" y="4106585"/>
            <a:ext cx="2938105" cy="622102"/>
          </a:xfrm>
          <a:prstGeom prst="rect">
            <a:avLst/>
          </a:prstGeom>
          <a:noFill/>
          <a:ln/>
        </p:spPr>
        <p:txBody>
          <a:bodyPr wrap="none" lIns="0" tIns="0" rIns="0" bIns="0" rtlCol="0" anchor="t"/>
          <a:lstStyle/>
          <a:p>
            <a:pPr algn="ctr" indent="0" marL="0">
              <a:lnSpc>
                <a:spcPts val="4850"/>
              </a:lnSpc>
              <a:buNone/>
            </a:pPr>
            <a:r>
              <a:rPr lang="en-US" sz="4850" dirty="0">
                <a:solidFill>
                  <a:srgbClr val="161613"/>
                </a:solidFill>
                <a:latin typeface="DM Sans Medium" pitchFamily="34" charset="0"/>
                <a:ea typeface="DM Sans Medium" pitchFamily="34" charset="-122"/>
                <a:cs typeface="DM Sans Medium" pitchFamily="34" charset="-120"/>
              </a:rPr>
              <a:t>50-200</a:t>
            </a:r>
            <a:endParaRPr lang="en-US" sz="4850" dirty="0"/>
          </a:p>
        </p:txBody>
      </p:sp>
      <p:sp>
        <p:nvSpPr>
          <p:cNvPr id="14" name="Text 12"/>
          <p:cNvSpPr/>
          <p:nvPr/>
        </p:nvSpPr>
        <p:spPr>
          <a:xfrm>
            <a:off x="7689890" y="4957167"/>
            <a:ext cx="2567226" cy="294680"/>
          </a:xfrm>
          <a:prstGeom prst="rect">
            <a:avLst/>
          </a:prstGeom>
          <a:noFill/>
          <a:ln/>
        </p:spPr>
        <p:txBody>
          <a:bodyPr wrap="none" lIns="0" tIns="0" rIns="0" bIns="0" rtlCol="0" anchor="t"/>
          <a:lstStyle/>
          <a:p>
            <a:pPr algn="ctr" indent="0" marL="0">
              <a:lnSpc>
                <a:spcPts val="2300"/>
              </a:lnSpc>
              <a:buNone/>
            </a:pPr>
            <a:r>
              <a:rPr lang="en-US" sz="1850" dirty="0">
                <a:solidFill>
                  <a:srgbClr val="161613"/>
                </a:solidFill>
                <a:latin typeface="DM Sans Medium" pitchFamily="34" charset="0"/>
                <a:ea typeface="DM Sans Medium" pitchFamily="34" charset="-122"/>
                <a:cs typeface="DM Sans Medium" pitchFamily="34" charset="-120"/>
              </a:rPr>
              <a:t>IMU Sampling Rate (Hz)</a:t>
            </a:r>
            <a:endParaRPr lang="en-US" sz="1850" dirty="0"/>
          </a:p>
        </p:txBody>
      </p:sp>
      <p:sp>
        <p:nvSpPr>
          <p:cNvPr id="15" name="Text 13"/>
          <p:cNvSpPr/>
          <p:nvPr/>
        </p:nvSpPr>
        <p:spPr>
          <a:xfrm>
            <a:off x="7427119" y="5359241"/>
            <a:ext cx="3092768" cy="882610"/>
          </a:xfrm>
          <a:prstGeom prst="rect">
            <a:avLst/>
          </a:prstGeom>
          <a:noFill/>
          <a:ln/>
        </p:spPr>
        <p:txBody>
          <a:bodyPr wrap="square" lIns="0" tIns="0" rIns="0" bIns="0" rtlCol="0" anchor="t"/>
          <a:lstStyle/>
          <a:p>
            <a:pPr algn="ctr" indent="0" marL="0">
              <a:lnSpc>
                <a:spcPts val="2300"/>
              </a:lnSpc>
              <a:buNone/>
            </a:pPr>
            <a:r>
              <a:rPr lang="en-US" sz="1450" dirty="0">
                <a:solidFill>
                  <a:srgbClr val="161613"/>
                </a:solidFill>
                <a:latin typeface="Inter" pitchFamily="34" charset="0"/>
                <a:ea typeface="Inter" pitchFamily="34" charset="-122"/>
                <a:cs typeface="Inter" pitchFamily="34" charset="-120"/>
              </a:rPr>
              <a:t>Continuous high-frequency measurements of inertial and magnetic signals</a:t>
            </a:r>
            <a:endParaRPr lang="en-US" sz="1450" dirty="0"/>
          </a:p>
        </p:txBody>
      </p:sp>
      <p:sp>
        <p:nvSpPr>
          <p:cNvPr id="16" name="Text 14"/>
          <p:cNvSpPr/>
          <p:nvPr/>
        </p:nvSpPr>
        <p:spPr>
          <a:xfrm>
            <a:off x="10820995" y="4106585"/>
            <a:ext cx="2938224" cy="622102"/>
          </a:xfrm>
          <a:prstGeom prst="rect">
            <a:avLst/>
          </a:prstGeom>
          <a:noFill/>
          <a:ln/>
        </p:spPr>
        <p:txBody>
          <a:bodyPr wrap="none" lIns="0" tIns="0" rIns="0" bIns="0" rtlCol="0" anchor="t"/>
          <a:lstStyle/>
          <a:p>
            <a:pPr algn="ctr" indent="0" marL="0">
              <a:lnSpc>
                <a:spcPts val="4850"/>
              </a:lnSpc>
              <a:buNone/>
            </a:pPr>
            <a:r>
              <a:rPr lang="en-US" sz="4850" dirty="0">
                <a:solidFill>
                  <a:srgbClr val="161613"/>
                </a:solidFill>
                <a:latin typeface="DM Sans Medium" pitchFamily="34" charset="0"/>
                <a:ea typeface="DM Sans Medium" pitchFamily="34" charset="-122"/>
                <a:cs typeface="DM Sans Medium" pitchFamily="34" charset="-120"/>
              </a:rPr>
              <a:t>1-2</a:t>
            </a:r>
            <a:endParaRPr lang="en-US" sz="4850" dirty="0"/>
          </a:p>
        </p:txBody>
      </p:sp>
      <p:sp>
        <p:nvSpPr>
          <p:cNvPr id="17" name="Text 15"/>
          <p:cNvSpPr/>
          <p:nvPr/>
        </p:nvSpPr>
        <p:spPr>
          <a:xfrm>
            <a:off x="11111746" y="4957167"/>
            <a:ext cx="2356842" cy="294680"/>
          </a:xfrm>
          <a:prstGeom prst="rect">
            <a:avLst/>
          </a:prstGeom>
          <a:noFill/>
          <a:ln/>
        </p:spPr>
        <p:txBody>
          <a:bodyPr wrap="none" lIns="0" tIns="0" rIns="0" bIns="0" rtlCol="0" anchor="t"/>
          <a:lstStyle/>
          <a:p>
            <a:pPr algn="ctr" indent="0" marL="0">
              <a:lnSpc>
                <a:spcPts val="2300"/>
              </a:lnSpc>
              <a:buNone/>
            </a:pPr>
            <a:r>
              <a:rPr lang="en-US" sz="1850" dirty="0">
                <a:solidFill>
                  <a:srgbClr val="161613"/>
                </a:solidFill>
                <a:latin typeface="DM Sans Medium" pitchFamily="34" charset="0"/>
                <a:ea typeface="DM Sans Medium" pitchFamily="34" charset="-122"/>
                <a:cs typeface="DM Sans Medium" pitchFamily="34" charset="-120"/>
              </a:rPr>
              <a:t>WiFi Scan Rate (Hz)</a:t>
            </a:r>
            <a:endParaRPr lang="en-US" sz="1850" dirty="0"/>
          </a:p>
        </p:txBody>
      </p:sp>
      <p:sp>
        <p:nvSpPr>
          <p:cNvPr id="18" name="Text 16"/>
          <p:cNvSpPr/>
          <p:nvPr/>
        </p:nvSpPr>
        <p:spPr>
          <a:xfrm>
            <a:off x="10743724" y="5359241"/>
            <a:ext cx="3092887" cy="882610"/>
          </a:xfrm>
          <a:prstGeom prst="rect">
            <a:avLst/>
          </a:prstGeom>
          <a:noFill/>
          <a:ln/>
        </p:spPr>
        <p:txBody>
          <a:bodyPr wrap="square" lIns="0" tIns="0" rIns="0" bIns="0" rtlCol="0" anchor="t"/>
          <a:lstStyle/>
          <a:p>
            <a:pPr algn="ctr" indent="0" marL="0">
              <a:lnSpc>
                <a:spcPts val="2300"/>
              </a:lnSpc>
              <a:buNone/>
            </a:pPr>
            <a:r>
              <a:rPr lang="en-US" sz="1450" dirty="0">
                <a:solidFill>
                  <a:srgbClr val="161613"/>
                </a:solidFill>
                <a:latin typeface="Inter" pitchFamily="34" charset="0"/>
                <a:ea typeface="Inter" pitchFamily="34" charset="-122"/>
                <a:cs typeface="Inter" pitchFamily="34" charset="-120"/>
              </a:rPr>
              <a:t>Periodic wireless network discovery operations balancing accuracy with power consumption</a:t>
            </a:r>
            <a:endParaRPr lang="en-US" sz="1450" dirty="0"/>
          </a:p>
        </p:txBody>
      </p:sp>
      <p:sp>
        <p:nvSpPr>
          <p:cNvPr id="19" name="Text 17"/>
          <p:cNvSpPr/>
          <p:nvPr/>
        </p:nvSpPr>
        <p:spPr>
          <a:xfrm>
            <a:off x="793790" y="6443305"/>
            <a:ext cx="13042821" cy="1176814"/>
          </a:xfrm>
          <a:prstGeom prst="rect">
            <a:avLst/>
          </a:prstGeom>
          <a:noFill/>
          <a:ln/>
        </p:spPr>
        <p:txBody>
          <a:bodyPr wrap="square" lIns="0" tIns="0" rIns="0" bIns="0" rtlCol="0" anchor="t"/>
          <a:lstStyle/>
          <a:p>
            <a:pPr algn="l" indent="0" marL="0">
              <a:lnSpc>
                <a:spcPts val="2300"/>
              </a:lnSpc>
              <a:buNone/>
            </a:pPr>
            <a:r>
              <a:rPr lang="en-US" sz="1450" dirty="0">
                <a:solidFill>
                  <a:srgbClr val="161613"/>
                </a:solidFill>
                <a:latin typeface="Inter" pitchFamily="34" charset="0"/>
                <a:ea typeface="Inter" pitchFamily="34" charset="-122"/>
                <a:cs typeface="Inter" pitchFamily="34" charset="-120"/>
              </a:rPr>
              <a:t>The disparity in sampling rates between WiFi and IMU sensors is intentional and reflects practical constraints. WiFi scanning consumes significant power and generates radio frequency emissions, limiting how frequently smartphones can perform network discovery operations. Conversely, inertial and magnetic sensors can sample continuously with minimal power overhead, providing rich temporal information about device movement and environmental characteristics.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47274"/>
            <a:ext cx="6895743" cy="527090"/>
          </a:xfrm>
          <a:prstGeom prst="rect">
            <a:avLst/>
          </a:prstGeom>
          <a:noFill/>
          <a:ln/>
        </p:spPr>
        <p:txBody>
          <a:bodyPr wrap="none" lIns="0" tIns="0" rIns="0" bIns="0" rtlCol="0" anchor="t"/>
          <a:lstStyle/>
          <a:p>
            <a:pPr algn="l" indent="0" marL="0">
              <a:lnSpc>
                <a:spcPts val="4150"/>
              </a:lnSpc>
              <a:buNone/>
            </a:pPr>
            <a:r>
              <a:rPr lang="en-US" sz="3300" dirty="0">
                <a:solidFill>
                  <a:srgbClr val="161613"/>
                </a:solidFill>
                <a:latin typeface="DM Sans Medium" pitchFamily="34" charset="0"/>
                <a:ea typeface="DM Sans Medium" pitchFamily="34" charset="-122"/>
                <a:cs typeface="DM Sans Medium" pitchFamily="34" charset="-120"/>
              </a:rPr>
              <a:t>WiFi Data Format and Organization</a:t>
            </a:r>
            <a:endParaRPr lang="en-US" sz="3300" dirty="0"/>
          </a:p>
        </p:txBody>
      </p:sp>
      <p:sp>
        <p:nvSpPr>
          <p:cNvPr id="3" name="Shape 1"/>
          <p:cNvSpPr/>
          <p:nvPr/>
        </p:nvSpPr>
        <p:spPr>
          <a:xfrm>
            <a:off x="793790" y="1950601"/>
            <a:ext cx="6315670" cy="5070515"/>
          </a:xfrm>
          <a:prstGeom prst="roundRect">
            <a:avLst>
              <a:gd name="adj" fmla="val 499"/>
            </a:avLst>
          </a:prstGeom>
          <a:noFill/>
          <a:ln w="7620">
            <a:solidFill>
              <a:srgbClr val="000000">
                <a:alpha val="8000"/>
              </a:srgbClr>
            </a:solidFill>
            <a:prstDash val="solid"/>
          </a:ln>
        </p:spPr>
      </p:sp>
      <p:sp>
        <p:nvSpPr>
          <p:cNvPr id="4" name="Shape 2"/>
          <p:cNvSpPr/>
          <p:nvPr/>
        </p:nvSpPr>
        <p:spPr>
          <a:xfrm>
            <a:off x="801410" y="1958221"/>
            <a:ext cx="6300430" cy="436840"/>
          </a:xfrm>
          <a:prstGeom prst="rect">
            <a:avLst/>
          </a:prstGeom>
          <a:solidFill>
            <a:srgbClr val="FFFFFF">
              <a:alpha val="4000"/>
            </a:srgbClr>
          </a:solidFill>
          <a:ln/>
        </p:spPr>
      </p:sp>
      <p:sp>
        <p:nvSpPr>
          <p:cNvPr id="5" name="Text 3"/>
          <p:cNvSpPr/>
          <p:nvPr/>
        </p:nvSpPr>
        <p:spPr>
          <a:xfrm>
            <a:off x="970121" y="2051804"/>
            <a:ext cx="1234083" cy="249674"/>
          </a:xfrm>
          <a:prstGeom prst="rect">
            <a:avLst/>
          </a:prstGeom>
          <a:noFill/>
          <a:ln/>
        </p:spPr>
        <p:txBody>
          <a:bodyPr wrap="none" lIns="0" tIns="0" rIns="0" bIns="0" rtlCol="0" anchor="t"/>
          <a:lstStyle/>
          <a:p>
            <a:pPr algn="l" indent="0" marL="0">
              <a:lnSpc>
                <a:spcPts val="1950"/>
              </a:lnSpc>
              <a:buNone/>
            </a:pPr>
            <a:r>
              <a:rPr lang="en-US" sz="1300" b="1" dirty="0">
                <a:solidFill>
                  <a:srgbClr val="161613"/>
                </a:solidFill>
                <a:latin typeface="Inter" pitchFamily="34" charset="0"/>
                <a:ea typeface="Inter" pitchFamily="34" charset="-122"/>
                <a:cs typeface="Inter" pitchFamily="34" charset="-120"/>
              </a:rPr>
              <a:t>Column Name</a:t>
            </a:r>
            <a:endParaRPr lang="en-US" sz="1300" dirty="0"/>
          </a:p>
        </p:txBody>
      </p:sp>
      <p:sp>
        <p:nvSpPr>
          <p:cNvPr id="6" name="Text 4"/>
          <p:cNvSpPr/>
          <p:nvPr/>
        </p:nvSpPr>
        <p:spPr>
          <a:xfrm>
            <a:off x="2549009" y="2051804"/>
            <a:ext cx="4384238" cy="249674"/>
          </a:xfrm>
          <a:prstGeom prst="rect">
            <a:avLst/>
          </a:prstGeom>
          <a:noFill/>
          <a:ln/>
        </p:spPr>
        <p:txBody>
          <a:bodyPr wrap="none" lIns="0" tIns="0" rIns="0" bIns="0" rtlCol="0" anchor="t"/>
          <a:lstStyle/>
          <a:p>
            <a:pPr algn="l" indent="0" marL="0">
              <a:lnSpc>
                <a:spcPts val="1950"/>
              </a:lnSpc>
              <a:buNone/>
            </a:pPr>
            <a:r>
              <a:rPr lang="en-US" sz="1300" b="1" dirty="0">
                <a:solidFill>
                  <a:srgbClr val="161613"/>
                </a:solidFill>
                <a:latin typeface="Inter" pitchFamily="34" charset="0"/>
                <a:ea typeface="Inter" pitchFamily="34" charset="-122"/>
                <a:cs typeface="Inter" pitchFamily="34" charset="-120"/>
              </a:rPr>
              <a:t>Description</a:t>
            </a:r>
            <a:endParaRPr lang="en-US" sz="1300" dirty="0"/>
          </a:p>
        </p:txBody>
      </p:sp>
      <p:sp>
        <p:nvSpPr>
          <p:cNvPr id="7" name="Shape 5"/>
          <p:cNvSpPr/>
          <p:nvPr/>
        </p:nvSpPr>
        <p:spPr>
          <a:xfrm>
            <a:off x="801410" y="2395061"/>
            <a:ext cx="6300430" cy="686514"/>
          </a:xfrm>
          <a:prstGeom prst="rect">
            <a:avLst/>
          </a:prstGeom>
          <a:solidFill>
            <a:srgbClr val="000000">
              <a:alpha val="4000"/>
            </a:srgbClr>
          </a:solidFill>
          <a:ln/>
        </p:spPr>
      </p:sp>
      <p:sp>
        <p:nvSpPr>
          <p:cNvPr id="8" name="Text 6"/>
          <p:cNvSpPr/>
          <p:nvPr/>
        </p:nvSpPr>
        <p:spPr>
          <a:xfrm>
            <a:off x="970121" y="2488644"/>
            <a:ext cx="1234083" cy="249674"/>
          </a:xfrm>
          <a:prstGeom prst="rect">
            <a:avLst/>
          </a:prstGeom>
          <a:noFill/>
          <a:ln/>
        </p:spPr>
        <p:txBody>
          <a:bodyPr wrap="non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Time</a:t>
            </a:r>
            <a:endParaRPr lang="en-US" sz="1300" dirty="0"/>
          </a:p>
        </p:txBody>
      </p:sp>
      <p:sp>
        <p:nvSpPr>
          <p:cNvPr id="9" name="Text 7"/>
          <p:cNvSpPr/>
          <p:nvPr/>
        </p:nvSpPr>
        <p:spPr>
          <a:xfrm>
            <a:off x="2549009" y="2488644"/>
            <a:ext cx="4384238" cy="499348"/>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Timestamp of the WiFi scan measurement in Unix epoch format with millisecond precision</a:t>
            </a:r>
            <a:endParaRPr lang="en-US" sz="1300" dirty="0"/>
          </a:p>
        </p:txBody>
      </p:sp>
      <p:sp>
        <p:nvSpPr>
          <p:cNvPr id="10" name="Shape 8"/>
          <p:cNvSpPr/>
          <p:nvPr/>
        </p:nvSpPr>
        <p:spPr>
          <a:xfrm>
            <a:off x="801410" y="3081576"/>
            <a:ext cx="6300430" cy="686514"/>
          </a:xfrm>
          <a:prstGeom prst="rect">
            <a:avLst/>
          </a:prstGeom>
          <a:solidFill>
            <a:srgbClr val="FFFFFF">
              <a:alpha val="4000"/>
            </a:srgbClr>
          </a:solidFill>
          <a:ln/>
        </p:spPr>
      </p:sp>
      <p:sp>
        <p:nvSpPr>
          <p:cNvPr id="11" name="Text 9"/>
          <p:cNvSpPr/>
          <p:nvPr/>
        </p:nvSpPr>
        <p:spPr>
          <a:xfrm>
            <a:off x="970121" y="3175159"/>
            <a:ext cx="1234083" cy="249674"/>
          </a:xfrm>
          <a:prstGeom prst="rect">
            <a:avLst/>
          </a:prstGeom>
          <a:noFill/>
          <a:ln/>
        </p:spPr>
        <p:txBody>
          <a:bodyPr wrap="non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X-pos</a:t>
            </a:r>
            <a:endParaRPr lang="en-US" sz="1300" dirty="0"/>
          </a:p>
        </p:txBody>
      </p:sp>
      <p:sp>
        <p:nvSpPr>
          <p:cNvPr id="12" name="Text 10"/>
          <p:cNvSpPr/>
          <p:nvPr/>
        </p:nvSpPr>
        <p:spPr>
          <a:xfrm>
            <a:off x="2549009" y="3175159"/>
            <a:ext cx="4384238" cy="499348"/>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Cartesian X-coordinate representing the physical location where the scan was taken (in meters)</a:t>
            </a:r>
            <a:endParaRPr lang="en-US" sz="1300" dirty="0"/>
          </a:p>
        </p:txBody>
      </p:sp>
      <p:sp>
        <p:nvSpPr>
          <p:cNvPr id="13" name="Shape 11"/>
          <p:cNvSpPr/>
          <p:nvPr/>
        </p:nvSpPr>
        <p:spPr>
          <a:xfrm>
            <a:off x="801410" y="3768090"/>
            <a:ext cx="6300430" cy="686514"/>
          </a:xfrm>
          <a:prstGeom prst="rect">
            <a:avLst/>
          </a:prstGeom>
          <a:solidFill>
            <a:srgbClr val="000000">
              <a:alpha val="4000"/>
            </a:srgbClr>
          </a:solidFill>
          <a:ln/>
        </p:spPr>
      </p:sp>
      <p:sp>
        <p:nvSpPr>
          <p:cNvPr id="14" name="Text 12"/>
          <p:cNvSpPr/>
          <p:nvPr/>
        </p:nvSpPr>
        <p:spPr>
          <a:xfrm>
            <a:off x="970121" y="3861673"/>
            <a:ext cx="1234083" cy="249674"/>
          </a:xfrm>
          <a:prstGeom prst="rect">
            <a:avLst/>
          </a:prstGeom>
          <a:noFill/>
          <a:ln/>
        </p:spPr>
        <p:txBody>
          <a:bodyPr wrap="non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Y-pos</a:t>
            </a:r>
            <a:endParaRPr lang="en-US" sz="1300" dirty="0"/>
          </a:p>
        </p:txBody>
      </p:sp>
      <p:sp>
        <p:nvSpPr>
          <p:cNvPr id="15" name="Text 13"/>
          <p:cNvSpPr/>
          <p:nvPr/>
        </p:nvSpPr>
        <p:spPr>
          <a:xfrm>
            <a:off x="2549009" y="3861673"/>
            <a:ext cx="4384238" cy="499348"/>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Cartesian Y-coordinate representing the physical location where the scan was taken (in meters)</a:t>
            </a:r>
            <a:endParaRPr lang="en-US" sz="1300" dirty="0"/>
          </a:p>
        </p:txBody>
      </p:sp>
      <p:sp>
        <p:nvSpPr>
          <p:cNvPr id="16" name="Shape 14"/>
          <p:cNvSpPr/>
          <p:nvPr/>
        </p:nvSpPr>
        <p:spPr>
          <a:xfrm>
            <a:off x="801410" y="4454604"/>
            <a:ext cx="6300430" cy="686514"/>
          </a:xfrm>
          <a:prstGeom prst="rect">
            <a:avLst/>
          </a:prstGeom>
          <a:solidFill>
            <a:srgbClr val="FFFFFF">
              <a:alpha val="4000"/>
            </a:srgbClr>
          </a:solidFill>
          <a:ln/>
        </p:spPr>
      </p:sp>
      <p:sp>
        <p:nvSpPr>
          <p:cNvPr id="17" name="Text 15"/>
          <p:cNvSpPr/>
          <p:nvPr/>
        </p:nvSpPr>
        <p:spPr>
          <a:xfrm>
            <a:off x="970121" y="4548187"/>
            <a:ext cx="1234083" cy="249674"/>
          </a:xfrm>
          <a:prstGeom prst="rect">
            <a:avLst/>
          </a:prstGeom>
          <a:noFill/>
          <a:ln/>
        </p:spPr>
        <p:txBody>
          <a:bodyPr wrap="non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SSID</a:t>
            </a:r>
            <a:endParaRPr lang="en-US" sz="1300" dirty="0"/>
          </a:p>
        </p:txBody>
      </p:sp>
      <p:sp>
        <p:nvSpPr>
          <p:cNvPr id="18" name="Text 16"/>
          <p:cNvSpPr/>
          <p:nvPr/>
        </p:nvSpPr>
        <p:spPr>
          <a:xfrm>
            <a:off x="2549009" y="4548187"/>
            <a:ext cx="4384238" cy="499348"/>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Service Set Identifier - the human-readable name of the wireless network broadcast by the access point</a:t>
            </a:r>
            <a:endParaRPr lang="en-US" sz="1300" dirty="0"/>
          </a:p>
        </p:txBody>
      </p:sp>
      <p:sp>
        <p:nvSpPr>
          <p:cNvPr id="19" name="Shape 17"/>
          <p:cNvSpPr/>
          <p:nvPr/>
        </p:nvSpPr>
        <p:spPr>
          <a:xfrm>
            <a:off x="801410" y="5141119"/>
            <a:ext cx="6300430" cy="936188"/>
          </a:xfrm>
          <a:prstGeom prst="rect">
            <a:avLst/>
          </a:prstGeom>
          <a:solidFill>
            <a:srgbClr val="000000">
              <a:alpha val="4000"/>
            </a:srgbClr>
          </a:solidFill>
          <a:ln/>
        </p:spPr>
      </p:sp>
      <p:sp>
        <p:nvSpPr>
          <p:cNvPr id="20" name="Text 18"/>
          <p:cNvSpPr/>
          <p:nvPr/>
        </p:nvSpPr>
        <p:spPr>
          <a:xfrm>
            <a:off x="970121" y="5234702"/>
            <a:ext cx="1234083" cy="249674"/>
          </a:xfrm>
          <a:prstGeom prst="rect">
            <a:avLst/>
          </a:prstGeom>
          <a:noFill/>
          <a:ln/>
        </p:spPr>
        <p:txBody>
          <a:bodyPr wrap="non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BSSID</a:t>
            </a:r>
            <a:endParaRPr lang="en-US" sz="1300" dirty="0"/>
          </a:p>
        </p:txBody>
      </p:sp>
      <p:sp>
        <p:nvSpPr>
          <p:cNvPr id="21" name="Text 19"/>
          <p:cNvSpPr/>
          <p:nvPr/>
        </p:nvSpPr>
        <p:spPr>
          <a:xfrm>
            <a:off x="2549009" y="5234702"/>
            <a:ext cx="4384238" cy="749022"/>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Basic Service Set Identifier - the unique MAC address (hardware identifier) of the wireless router or access point</a:t>
            </a:r>
            <a:endParaRPr lang="en-US" sz="1300" dirty="0"/>
          </a:p>
        </p:txBody>
      </p:sp>
      <p:sp>
        <p:nvSpPr>
          <p:cNvPr id="22" name="Shape 20"/>
          <p:cNvSpPr/>
          <p:nvPr/>
        </p:nvSpPr>
        <p:spPr>
          <a:xfrm>
            <a:off x="801410" y="6077307"/>
            <a:ext cx="6300430" cy="936188"/>
          </a:xfrm>
          <a:prstGeom prst="rect">
            <a:avLst/>
          </a:prstGeom>
          <a:solidFill>
            <a:srgbClr val="FFFFFF">
              <a:alpha val="4000"/>
            </a:srgbClr>
          </a:solidFill>
          <a:ln/>
        </p:spPr>
      </p:sp>
      <p:sp>
        <p:nvSpPr>
          <p:cNvPr id="23" name="Text 21"/>
          <p:cNvSpPr/>
          <p:nvPr/>
        </p:nvSpPr>
        <p:spPr>
          <a:xfrm>
            <a:off x="970121" y="6170890"/>
            <a:ext cx="1234083" cy="249674"/>
          </a:xfrm>
          <a:prstGeom prst="rect">
            <a:avLst/>
          </a:prstGeom>
          <a:noFill/>
          <a:ln/>
        </p:spPr>
        <p:txBody>
          <a:bodyPr wrap="non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RSS</a:t>
            </a:r>
            <a:endParaRPr lang="en-US" sz="1300" dirty="0"/>
          </a:p>
        </p:txBody>
      </p:sp>
      <p:sp>
        <p:nvSpPr>
          <p:cNvPr id="24" name="Text 22"/>
          <p:cNvSpPr/>
          <p:nvPr/>
        </p:nvSpPr>
        <p:spPr>
          <a:xfrm>
            <a:off x="2549009" y="6170890"/>
            <a:ext cx="4384238" cy="749022"/>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Received Signal Strength - power level of the WiFi signal measured in decibels relative to one milliwatt (dBm)</a:t>
            </a:r>
            <a:endParaRPr lang="en-US" sz="1300" dirty="0"/>
          </a:p>
        </p:txBody>
      </p:sp>
      <p:sp>
        <p:nvSpPr>
          <p:cNvPr id="25" name="Text 23"/>
          <p:cNvSpPr/>
          <p:nvPr/>
        </p:nvSpPr>
        <p:spPr>
          <a:xfrm>
            <a:off x="7528560" y="1918335"/>
            <a:ext cx="6315670" cy="998696"/>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Each WiFi fingerprint file follows a structured format that combines location metadata with wireless network observations. The file structure employs a hierarchical organization where the first row establishes the spatial reference point, and subsequent rows enumerate detected access points at that location.</a:t>
            </a:r>
            <a:endParaRPr lang="en-US" sz="1300" dirty="0"/>
          </a:p>
        </p:txBody>
      </p:sp>
      <p:sp>
        <p:nvSpPr>
          <p:cNvPr id="26" name="Text 24"/>
          <p:cNvSpPr/>
          <p:nvPr/>
        </p:nvSpPr>
        <p:spPr>
          <a:xfrm>
            <a:off x="7528560" y="3045976"/>
            <a:ext cx="6315670" cy="1747718"/>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This file organization has important implications for data preprocessing and feature engineering. When constructing training datasets for machine learning models, all rows from a single file must be aggregated to create a comprehensive fingerprint representation for that location. The aggregation process typically involves creating a feature vector where each element represents the signal strength from a specific access point, with missing values handled through imputation or zero-padding strategies.</a:t>
            </a:r>
            <a:endParaRPr lang="en-US" sz="1300" dirty="0"/>
          </a:p>
        </p:txBody>
      </p:sp>
      <p:sp>
        <p:nvSpPr>
          <p:cNvPr id="27" name="Shape 25"/>
          <p:cNvSpPr/>
          <p:nvPr/>
        </p:nvSpPr>
        <p:spPr>
          <a:xfrm>
            <a:off x="7528560" y="4954905"/>
            <a:ext cx="6315670" cy="2053947"/>
          </a:xfrm>
          <a:prstGeom prst="roundRect">
            <a:avLst>
              <a:gd name="adj" fmla="val 1232"/>
            </a:avLst>
          </a:prstGeom>
          <a:solidFill>
            <a:srgbClr val="D6D6DC"/>
          </a:solidFill>
          <a:ln/>
        </p:spPr>
      </p:sp>
      <p:pic>
        <p:nvPicPr>
          <p:cNvPr id="28" name="Image 0" descr="preencoded.png">    </p:cNvPr>
          <p:cNvPicPr>
            <a:picLocks noChangeAspect="1"/>
          </p:cNvPicPr>
          <p:nvPr/>
        </p:nvPicPr>
        <p:blipFill>
          <a:blip r:embed="rId1"/>
          <a:stretch>
            <a:fillRect/>
          </a:stretch>
        </p:blipFill>
        <p:spPr>
          <a:xfrm>
            <a:off x="7697153" y="5153978"/>
            <a:ext cx="263485" cy="210860"/>
          </a:xfrm>
          <a:prstGeom prst="rect">
            <a:avLst/>
          </a:prstGeom>
        </p:spPr>
      </p:pic>
      <p:sp>
        <p:nvSpPr>
          <p:cNvPr id="29" name="Text 26"/>
          <p:cNvSpPr/>
          <p:nvPr/>
        </p:nvSpPr>
        <p:spPr>
          <a:xfrm>
            <a:off x="8129230" y="5140404"/>
            <a:ext cx="2947273" cy="263485"/>
          </a:xfrm>
          <a:prstGeom prst="rect">
            <a:avLst/>
          </a:prstGeom>
          <a:noFill/>
          <a:ln/>
        </p:spPr>
        <p:txBody>
          <a:bodyPr wrap="none" lIns="0" tIns="0" rIns="0" bIns="0" rtlCol="0" anchor="t"/>
          <a:lstStyle/>
          <a:p>
            <a:pPr algn="l" indent="0" marL="0">
              <a:lnSpc>
                <a:spcPts val="2050"/>
              </a:lnSpc>
              <a:buNone/>
            </a:pPr>
            <a:r>
              <a:rPr lang="en-US" sz="1650" dirty="0">
                <a:solidFill>
                  <a:srgbClr val="000000"/>
                </a:solidFill>
                <a:latin typeface="DM Sans Medium" pitchFamily="34" charset="0"/>
                <a:ea typeface="DM Sans Medium" pitchFamily="34" charset="-122"/>
                <a:cs typeface="DM Sans Medium" pitchFamily="34" charset="-120"/>
              </a:rPr>
              <a:t>Critical Data Structure Insight</a:t>
            </a:r>
            <a:endParaRPr lang="en-US" sz="1650" dirty="0"/>
          </a:p>
        </p:txBody>
      </p:sp>
      <p:sp>
        <p:nvSpPr>
          <p:cNvPr id="30" name="Text 27"/>
          <p:cNvSpPr/>
          <p:nvPr/>
        </p:nvSpPr>
        <p:spPr>
          <a:xfrm>
            <a:off x="8129230" y="5547241"/>
            <a:ext cx="5546408" cy="1248370"/>
          </a:xfrm>
          <a:prstGeom prst="rect">
            <a:avLst/>
          </a:prstGeom>
          <a:noFill/>
          <a:ln/>
        </p:spPr>
        <p:txBody>
          <a:bodyPr wrap="square" lIns="0" tIns="0" rIns="0" bIns="0" rtlCol="0" anchor="t"/>
          <a:lstStyle/>
          <a:p>
            <a:pPr algn="l" indent="0" marL="0">
              <a:lnSpc>
                <a:spcPts val="1950"/>
              </a:lnSpc>
              <a:buNone/>
            </a:pPr>
            <a:r>
              <a:rPr lang="en-US" sz="1300" dirty="0">
                <a:solidFill>
                  <a:srgbClr val="000000"/>
                </a:solidFill>
                <a:latin typeface="Inter" pitchFamily="34" charset="0"/>
                <a:ea typeface="Inter" pitchFamily="34" charset="-122"/>
                <a:cs typeface="Inter" pitchFamily="34" charset="-120"/>
              </a:rPr>
              <a:t>Only the first row in each file contains valid X and Y coordinate values. All subsequent rows represent additional access points detected during the same scan at the identical physical location. Therefore, each file corresponds to exactly one fingerprint location, but may contain multiple access point detections.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04267"/>
            <a:ext cx="12109728" cy="620078"/>
          </a:xfrm>
          <a:prstGeom prst="rect">
            <a:avLst/>
          </a:prstGeom>
          <a:noFill/>
          <a:ln/>
        </p:spPr>
        <p:txBody>
          <a:bodyPr wrap="non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Received Signal Strength (RSS) Distribution Analysis</a:t>
            </a:r>
            <a:endParaRPr lang="en-US" sz="3900" dirty="0"/>
          </a:p>
        </p:txBody>
      </p:sp>
      <p:sp>
        <p:nvSpPr>
          <p:cNvPr id="3" name="Text 1"/>
          <p:cNvSpPr/>
          <p:nvPr/>
        </p:nvSpPr>
        <p:spPr>
          <a:xfrm>
            <a:off x="793790" y="1821180"/>
            <a:ext cx="3074670" cy="654963"/>
          </a:xfrm>
          <a:prstGeom prst="rect">
            <a:avLst/>
          </a:prstGeom>
          <a:noFill/>
          <a:ln/>
        </p:spPr>
        <p:txBody>
          <a:bodyPr wrap="none" lIns="0" tIns="0" rIns="0" bIns="0" rtlCol="0" anchor="t"/>
          <a:lstStyle/>
          <a:p>
            <a:pPr algn="ctr" indent="0" marL="0">
              <a:lnSpc>
                <a:spcPts val="5150"/>
              </a:lnSpc>
              <a:buNone/>
            </a:pPr>
            <a:r>
              <a:rPr lang="en-US" sz="5150" dirty="0">
                <a:solidFill>
                  <a:srgbClr val="161613"/>
                </a:solidFill>
                <a:latin typeface="DM Sans Medium" pitchFamily="34" charset="0"/>
                <a:ea typeface="DM Sans Medium" pitchFamily="34" charset="-122"/>
                <a:cs typeface="DM Sans Medium" pitchFamily="34" charset="-120"/>
              </a:rPr>
              <a:t>-72</a:t>
            </a:r>
            <a:endParaRPr lang="en-US" sz="5150" dirty="0"/>
          </a:p>
        </p:txBody>
      </p:sp>
      <p:sp>
        <p:nvSpPr>
          <p:cNvPr id="4" name="Text 2"/>
          <p:cNvSpPr/>
          <p:nvPr/>
        </p:nvSpPr>
        <p:spPr>
          <a:xfrm>
            <a:off x="1090613" y="272415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Mean RSS (dBm)</a:t>
            </a:r>
            <a:endParaRPr lang="en-US" sz="1950" dirty="0"/>
          </a:p>
        </p:txBody>
      </p:sp>
      <p:sp>
        <p:nvSpPr>
          <p:cNvPr id="5" name="Text 3"/>
          <p:cNvSpPr/>
          <p:nvPr/>
        </p:nvSpPr>
        <p:spPr>
          <a:xfrm>
            <a:off x="4116467" y="1821180"/>
            <a:ext cx="3074670" cy="654963"/>
          </a:xfrm>
          <a:prstGeom prst="rect">
            <a:avLst/>
          </a:prstGeom>
          <a:noFill/>
          <a:ln/>
        </p:spPr>
        <p:txBody>
          <a:bodyPr wrap="none" lIns="0" tIns="0" rIns="0" bIns="0" rtlCol="0" anchor="t"/>
          <a:lstStyle/>
          <a:p>
            <a:pPr algn="ctr" indent="0" marL="0">
              <a:lnSpc>
                <a:spcPts val="5150"/>
              </a:lnSpc>
              <a:buNone/>
            </a:pPr>
            <a:r>
              <a:rPr lang="en-US" sz="5150" dirty="0">
                <a:solidFill>
                  <a:srgbClr val="161613"/>
                </a:solidFill>
                <a:latin typeface="DM Sans Medium" pitchFamily="34" charset="0"/>
                <a:ea typeface="DM Sans Medium" pitchFamily="34" charset="-122"/>
                <a:cs typeface="DM Sans Medium" pitchFamily="34" charset="-120"/>
              </a:rPr>
              <a:t>-95</a:t>
            </a:r>
            <a:endParaRPr lang="en-US" sz="5150" dirty="0"/>
          </a:p>
        </p:txBody>
      </p:sp>
      <p:sp>
        <p:nvSpPr>
          <p:cNvPr id="6" name="Text 4"/>
          <p:cNvSpPr/>
          <p:nvPr/>
        </p:nvSpPr>
        <p:spPr>
          <a:xfrm>
            <a:off x="4413290" y="272415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Minimum RSS (dBm)</a:t>
            </a:r>
            <a:endParaRPr lang="en-US" sz="1950" dirty="0"/>
          </a:p>
        </p:txBody>
      </p:sp>
      <p:sp>
        <p:nvSpPr>
          <p:cNvPr id="7" name="Text 5"/>
          <p:cNvSpPr/>
          <p:nvPr/>
        </p:nvSpPr>
        <p:spPr>
          <a:xfrm>
            <a:off x="7439144" y="1821180"/>
            <a:ext cx="3074670" cy="654963"/>
          </a:xfrm>
          <a:prstGeom prst="rect">
            <a:avLst/>
          </a:prstGeom>
          <a:noFill/>
          <a:ln/>
        </p:spPr>
        <p:txBody>
          <a:bodyPr wrap="none" lIns="0" tIns="0" rIns="0" bIns="0" rtlCol="0" anchor="t"/>
          <a:lstStyle/>
          <a:p>
            <a:pPr algn="ctr" indent="0" marL="0">
              <a:lnSpc>
                <a:spcPts val="5150"/>
              </a:lnSpc>
              <a:buNone/>
            </a:pPr>
            <a:r>
              <a:rPr lang="en-US" sz="5150" dirty="0">
                <a:solidFill>
                  <a:srgbClr val="161613"/>
                </a:solidFill>
                <a:latin typeface="DM Sans Medium" pitchFamily="34" charset="0"/>
                <a:ea typeface="DM Sans Medium" pitchFamily="34" charset="-122"/>
                <a:cs typeface="DM Sans Medium" pitchFamily="34" charset="-120"/>
              </a:rPr>
              <a:t>-20</a:t>
            </a:r>
            <a:endParaRPr lang="en-US" sz="5150" dirty="0"/>
          </a:p>
        </p:txBody>
      </p:sp>
      <p:sp>
        <p:nvSpPr>
          <p:cNvPr id="8" name="Text 6"/>
          <p:cNvSpPr/>
          <p:nvPr/>
        </p:nvSpPr>
        <p:spPr>
          <a:xfrm>
            <a:off x="7735967" y="272415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Maximum RSS (dBm)</a:t>
            </a:r>
            <a:endParaRPr lang="en-US" sz="1950" dirty="0"/>
          </a:p>
        </p:txBody>
      </p:sp>
      <p:sp>
        <p:nvSpPr>
          <p:cNvPr id="9" name="Text 7"/>
          <p:cNvSpPr/>
          <p:nvPr/>
        </p:nvSpPr>
        <p:spPr>
          <a:xfrm>
            <a:off x="10761821" y="1821180"/>
            <a:ext cx="3074789" cy="654963"/>
          </a:xfrm>
          <a:prstGeom prst="rect">
            <a:avLst/>
          </a:prstGeom>
          <a:noFill/>
          <a:ln/>
        </p:spPr>
        <p:txBody>
          <a:bodyPr wrap="none" lIns="0" tIns="0" rIns="0" bIns="0" rtlCol="0" anchor="t"/>
          <a:lstStyle/>
          <a:p>
            <a:pPr algn="ctr" indent="0" marL="0">
              <a:lnSpc>
                <a:spcPts val="5150"/>
              </a:lnSpc>
              <a:buNone/>
            </a:pPr>
            <a:r>
              <a:rPr lang="en-US" sz="5150" dirty="0">
                <a:solidFill>
                  <a:srgbClr val="161613"/>
                </a:solidFill>
                <a:latin typeface="DM Sans Medium" pitchFamily="34" charset="0"/>
                <a:ea typeface="DM Sans Medium" pitchFamily="34" charset="-122"/>
                <a:cs typeface="DM Sans Medium" pitchFamily="34" charset="-120"/>
              </a:rPr>
              <a:t>11.5</a:t>
            </a:r>
            <a:endParaRPr lang="en-US" sz="5150" dirty="0"/>
          </a:p>
        </p:txBody>
      </p:sp>
      <p:sp>
        <p:nvSpPr>
          <p:cNvPr id="10" name="Text 8"/>
          <p:cNvSpPr/>
          <p:nvPr/>
        </p:nvSpPr>
        <p:spPr>
          <a:xfrm>
            <a:off x="11058763" y="272415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Standard Deviation</a:t>
            </a:r>
            <a:endParaRPr lang="en-US" sz="1950" dirty="0"/>
          </a:p>
        </p:txBody>
      </p:sp>
      <p:pic>
        <p:nvPicPr>
          <p:cNvPr id="11" name="Image 0" descr="preencoded.png">    </p:cNvPr>
          <p:cNvPicPr>
            <a:picLocks noChangeAspect="1"/>
          </p:cNvPicPr>
          <p:nvPr/>
        </p:nvPicPr>
        <p:blipFill>
          <a:blip r:embed="rId1"/>
          <a:stretch>
            <a:fillRect/>
          </a:stretch>
        </p:blipFill>
        <p:spPr>
          <a:xfrm>
            <a:off x="793790" y="3480792"/>
            <a:ext cx="4024313" cy="2881789"/>
          </a:xfrm>
          <a:prstGeom prst="rect">
            <a:avLst/>
          </a:prstGeom>
        </p:spPr>
      </p:pic>
      <p:sp>
        <p:nvSpPr>
          <p:cNvPr id="12" name="Text 9"/>
          <p:cNvSpPr/>
          <p:nvPr/>
        </p:nvSpPr>
        <p:spPr>
          <a:xfrm>
            <a:off x="5309830" y="3436144"/>
            <a:ext cx="4024313" cy="3810476"/>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histogram of RSS values reveals a distribution centered around -72 dBm with a standard deviation of approximately 11.5 dBm, indicating substantial signal variability across the measurement locations. The minimum observed value of -95 dBm represents the practical detection threshold where signals become indistinguishable from background noise, while the maximum of -20 dBm indicates proximity to powerful access points with direct line-of-sight propagation paths.</a:t>
            </a:r>
            <a:endParaRPr lang="en-US" sz="1550" dirty="0"/>
          </a:p>
        </p:txBody>
      </p:sp>
      <p:sp>
        <p:nvSpPr>
          <p:cNvPr id="13" name="Text 10"/>
          <p:cNvSpPr/>
          <p:nvPr/>
        </p:nvSpPr>
        <p:spPr>
          <a:xfrm>
            <a:off x="9825871" y="3436144"/>
            <a:ext cx="4025741"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14" name="Shape 11"/>
          <p:cNvSpPr/>
          <p:nvPr/>
        </p:nvSpPr>
        <p:spPr>
          <a:xfrm>
            <a:off x="9825871" y="3976926"/>
            <a:ext cx="4025741" cy="3065978"/>
          </a:xfrm>
          <a:prstGeom prst="roundRect">
            <a:avLst>
              <a:gd name="adj" fmla="val 971"/>
            </a:avLst>
          </a:prstGeom>
          <a:solidFill>
            <a:srgbClr val="B6D6FC"/>
          </a:solidFill>
          <a:ln/>
        </p:spPr>
      </p:sp>
      <p:pic>
        <p:nvPicPr>
          <p:cNvPr id="15" name="Image 1" descr="preencoded.png">    </p:cNvPr>
          <p:cNvPicPr>
            <a:picLocks noChangeAspect="1"/>
          </p:cNvPicPr>
          <p:nvPr/>
        </p:nvPicPr>
        <p:blipFill>
          <a:blip r:embed="rId2"/>
          <a:stretch>
            <a:fillRect/>
          </a:stretch>
        </p:blipFill>
        <p:spPr>
          <a:xfrm>
            <a:off x="10024229" y="4279821"/>
            <a:ext cx="248007" cy="198358"/>
          </a:xfrm>
          <a:prstGeom prst="rect">
            <a:avLst/>
          </a:prstGeom>
        </p:spPr>
      </p:pic>
      <p:sp>
        <p:nvSpPr>
          <p:cNvPr id="16" name="Text 12"/>
          <p:cNvSpPr/>
          <p:nvPr/>
        </p:nvSpPr>
        <p:spPr>
          <a:xfrm>
            <a:off x="10470594" y="4224814"/>
            <a:ext cx="3182660" cy="2540318"/>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Inter" pitchFamily="34" charset="0"/>
                <a:ea typeface="Inter" pitchFamily="34" charset="-122"/>
                <a:cs typeface="Inter" pitchFamily="34" charset="-120"/>
              </a:rPr>
              <a:t>The signal distribution falls within expected indoor ranges, validating the dataset quality. Very few missing values (&lt;0.1%) suggest reliable WiFi scanning hardware and stable wireless infrastructure during data collection.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0218" y="549950"/>
            <a:ext cx="8768596" cy="617339"/>
          </a:xfrm>
          <a:prstGeom prst="rect">
            <a:avLst/>
          </a:prstGeom>
          <a:noFill/>
          <a:ln/>
        </p:spPr>
        <p:txBody>
          <a:bodyPr wrap="none" lIns="0" tIns="0" rIns="0" bIns="0" rtlCol="0" anchor="t"/>
          <a:lstStyle/>
          <a:p>
            <a:pPr algn="l" indent="0" marL="0">
              <a:lnSpc>
                <a:spcPts val="4850"/>
              </a:lnSpc>
              <a:buNone/>
            </a:pPr>
            <a:r>
              <a:rPr lang="en-US" sz="3850" dirty="0">
                <a:solidFill>
                  <a:srgbClr val="161613"/>
                </a:solidFill>
                <a:latin typeface="DM Sans Medium" pitchFamily="34" charset="0"/>
                <a:ea typeface="DM Sans Medium" pitchFamily="34" charset="-122"/>
                <a:cs typeface="DM Sans Medium" pitchFamily="34" charset="-120"/>
              </a:rPr>
              <a:t>Access Point Density and Distribution</a:t>
            </a:r>
            <a:endParaRPr lang="en-US" sz="3850" dirty="0"/>
          </a:p>
        </p:txBody>
      </p:sp>
      <p:pic>
        <p:nvPicPr>
          <p:cNvPr id="3" name="Image 0" descr="preencoded.png">    </p:cNvPr>
          <p:cNvPicPr>
            <a:picLocks noChangeAspect="1"/>
          </p:cNvPicPr>
          <p:nvPr/>
        </p:nvPicPr>
        <p:blipFill>
          <a:blip r:embed="rId1"/>
          <a:stretch>
            <a:fillRect/>
          </a:stretch>
        </p:blipFill>
        <p:spPr>
          <a:xfrm>
            <a:off x="790218" y="1683425"/>
            <a:ext cx="7231142" cy="5297924"/>
          </a:xfrm>
          <a:prstGeom prst="rect">
            <a:avLst/>
          </a:prstGeom>
        </p:spPr>
      </p:pic>
      <p:sp>
        <p:nvSpPr>
          <p:cNvPr id="4" name="Text 1"/>
          <p:cNvSpPr/>
          <p:nvPr/>
        </p:nvSpPr>
        <p:spPr>
          <a:xfrm>
            <a:off x="8510945" y="1782128"/>
            <a:ext cx="2545437" cy="523518"/>
          </a:xfrm>
          <a:prstGeom prst="rect">
            <a:avLst/>
          </a:prstGeom>
          <a:noFill/>
          <a:ln/>
        </p:spPr>
        <p:txBody>
          <a:bodyPr wrap="none" lIns="0" tIns="0" rIns="0" bIns="0" rtlCol="0" anchor="t"/>
          <a:lstStyle/>
          <a:p>
            <a:pPr algn="ctr" indent="0" marL="0">
              <a:lnSpc>
                <a:spcPts val="4100"/>
              </a:lnSpc>
              <a:buNone/>
            </a:pPr>
            <a:r>
              <a:rPr lang="en-US" sz="4100" dirty="0">
                <a:solidFill>
                  <a:srgbClr val="161613"/>
                </a:solidFill>
                <a:latin typeface="DM Sans Medium" pitchFamily="34" charset="0"/>
                <a:ea typeface="DM Sans Medium" pitchFamily="34" charset="-122"/>
                <a:cs typeface="DM Sans Medium" pitchFamily="34" charset="-120"/>
              </a:rPr>
              <a:t>78</a:t>
            </a:r>
            <a:endParaRPr lang="en-US" sz="4100" dirty="0"/>
          </a:p>
        </p:txBody>
      </p:sp>
      <p:sp>
        <p:nvSpPr>
          <p:cNvPr id="5" name="Text 2"/>
          <p:cNvSpPr/>
          <p:nvPr/>
        </p:nvSpPr>
        <p:spPr>
          <a:xfrm>
            <a:off x="8510945" y="2551748"/>
            <a:ext cx="2545437" cy="315278"/>
          </a:xfrm>
          <a:prstGeom prst="rect">
            <a:avLst/>
          </a:prstGeom>
          <a:noFill/>
          <a:ln/>
        </p:spPr>
        <p:txBody>
          <a:bodyPr wrap="none" lIns="0" tIns="0" rIns="0" bIns="0" rtlCol="0" anchor="t"/>
          <a:lstStyle/>
          <a:p>
            <a:pPr algn="ctr" indent="0" marL="0">
              <a:lnSpc>
                <a:spcPts val="2450"/>
              </a:lnSpc>
              <a:buNone/>
            </a:pPr>
            <a:r>
              <a:rPr lang="en-US" sz="1550" dirty="0">
                <a:solidFill>
                  <a:srgbClr val="161613"/>
                </a:solidFill>
                <a:latin typeface="Inter" pitchFamily="34" charset="0"/>
                <a:ea typeface="Inter" pitchFamily="34" charset="-122"/>
                <a:cs typeface="Inter" pitchFamily="34" charset="-120"/>
              </a:rPr>
              <a:t>Average APs per Scan</a:t>
            </a:r>
            <a:endParaRPr lang="en-US" sz="1550" dirty="0"/>
          </a:p>
        </p:txBody>
      </p:sp>
      <p:sp>
        <p:nvSpPr>
          <p:cNvPr id="6" name="Text 3"/>
          <p:cNvSpPr/>
          <p:nvPr/>
        </p:nvSpPr>
        <p:spPr>
          <a:xfrm>
            <a:off x="11302127" y="1782128"/>
            <a:ext cx="2545556" cy="523518"/>
          </a:xfrm>
          <a:prstGeom prst="rect">
            <a:avLst/>
          </a:prstGeom>
          <a:noFill/>
          <a:ln/>
        </p:spPr>
        <p:txBody>
          <a:bodyPr wrap="none" lIns="0" tIns="0" rIns="0" bIns="0" rtlCol="0" anchor="t"/>
          <a:lstStyle/>
          <a:p>
            <a:pPr algn="ctr" indent="0" marL="0">
              <a:lnSpc>
                <a:spcPts val="4100"/>
              </a:lnSpc>
              <a:buNone/>
            </a:pPr>
            <a:r>
              <a:rPr lang="en-US" sz="4100" dirty="0">
                <a:solidFill>
                  <a:srgbClr val="161613"/>
                </a:solidFill>
                <a:latin typeface="DM Sans Medium" pitchFamily="34" charset="0"/>
                <a:ea typeface="DM Sans Medium" pitchFamily="34" charset="-122"/>
                <a:cs typeface="DM Sans Medium" pitchFamily="34" charset="-120"/>
              </a:rPr>
              <a:t>300</a:t>
            </a:r>
            <a:endParaRPr lang="en-US" sz="4100" dirty="0"/>
          </a:p>
        </p:txBody>
      </p:sp>
      <p:sp>
        <p:nvSpPr>
          <p:cNvPr id="7" name="Text 4"/>
          <p:cNvSpPr/>
          <p:nvPr/>
        </p:nvSpPr>
        <p:spPr>
          <a:xfrm>
            <a:off x="11302127" y="2551748"/>
            <a:ext cx="2545556" cy="315278"/>
          </a:xfrm>
          <a:prstGeom prst="rect">
            <a:avLst/>
          </a:prstGeom>
          <a:noFill/>
          <a:ln/>
        </p:spPr>
        <p:txBody>
          <a:bodyPr wrap="none" lIns="0" tIns="0" rIns="0" bIns="0" rtlCol="0" anchor="t"/>
          <a:lstStyle/>
          <a:p>
            <a:pPr algn="ctr" indent="0" marL="0">
              <a:lnSpc>
                <a:spcPts val="2450"/>
              </a:lnSpc>
              <a:buNone/>
            </a:pPr>
            <a:r>
              <a:rPr lang="en-US" sz="1550" dirty="0">
                <a:solidFill>
                  <a:srgbClr val="161613"/>
                </a:solidFill>
                <a:latin typeface="Inter" pitchFamily="34" charset="0"/>
                <a:ea typeface="Inter" pitchFamily="34" charset="-122"/>
                <a:cs typeface="Inter" pitchFamily="34" charset="-120"/>
              </a:rPr>
              <a:t>Maximum APs</a:t>
            </a:r>
            <a:endParaRPr lang="en-US" sz="1550" dirty="0"/>
          </a:p>
        </p:txBody>
      </p:sp>
      <p:sp>
        <p:nvSpPr>
          <p:cNvPr id="8" name="Text 5"/>
          <p:cNvSpPr/>
          <p:nvPr/>
        </p:nvSpPr>
        <p:spPr>
          <a:xfrm>
            <a:off x="9906476" y="3358991"/>
            <a:ext cx="2545556" cy="523518"/>
          </a:xfrm>
          <a:prstGeom prst="rect">
            <a:avLst/>
          </a:prstGeom>
          <a:noFill/>
          <a:ln/>
        </p:spPr>
        <p:txBody>
          <a:bodyPr wrap="none" lIns="0" tIns="0" rIns="0" bIns="0" rtlCol="0" anchor="t"/>
          <a:lstStyle/>
          <a:p>
            <a:pPr algn="ctr" indent="0" marL="0">
              <a:lnSpc>
                <a:spcPts val="4100"/>
              </a:lnSpc>
              <a:buNone/>
            </a:pPr>
            <a:r>
              <a:rPr lang="en-US" sz="4100" dirty="0">
                <a:solidFill>
                  <a:srgbClr val="161613"/>
                </a:solidFill>
                <a:latin typeface="DM Sans Medium" pitchFamily="34" charset="0"/>
                <a:ea typeface="DM Sans Medium" pitchFamily="34" charset="-122"/>
                <a:cs typeface="DM Sans Medium" pitchFamily="34" charset="-120"/>
              </a:rPr>
              <a:t>7</a:t>
            </a:r>
            <a:endParaRPr lang="en-US" sz="4100" dirty="0"/>
          </a:p>
        </p:txBody>
      </p:sp>
      <p:sp>
        <p:nvSpPr>
          <p:cNvPr id="9" name="Text 6"/>
          <p:cNvSpPr/>
          <p:nvPr/>
        </p:nvSpPr>
        <p:spPr>
          <a:xfrm>
            <a:off x="9906476" y="4128611"/>
            <a:ext cx="2545556" cy="315278"/>
          </a:xfrm>
          <a:prstGeom prst="rect">
            <a:avLst/>
          </a:prstGeom>
          <a:noFill/>
          <a:ln/>
        </p:spPr>
        <p:txBody>
          <a:bodyPr wrap="none" lIns="0" tIns="0" rIns="0" bIns="0" rtlCol="0" anchor="t"/>
          <a:lstStyle/>
          <a:p>
            <a:pPr algn="ctr" indent="0" marL="0">
              <a:lnSpc>
                <a:spcPts val="2450"/>
              </a:lnSpc>
              <a:buNone/>
            </a:pPr>
            <a:r>
              <a:rPr lang="en-US" sz="1550" dirty="0">
                <a:solidFill>
                  <a:srgbClr val="161613"/>
                </a:solidFill>
                <a:latin typeface="Inter" pitchFamily="34" charset="0"/>
                <a:ea typeface="Inter" pitchFamily="34" charset="-122"/>
                <a:cs typeface="Inter" pitchFamily="34" charset="-120"/>
              </a:rPr>
              <a:t>Minimum APs</a:t>
            </a:r>
            <a:endParaRPr lang="en-US" sz="1550" dirty="0"/>
          </a:p>
        </p:txBody>
      </p:sp>
      <p:sp>
        <p:nvSpPr>
          <p:cNvPr id="10" name="Text 7"/>
          <p:cNvSpPr/>
          <p:nvPr/>
        </p:nvSpPr>
        <p:spPr>
          <a:xfrm>
            <a:off x="8510945" y="4665107"/>
            <a:ext cx="5336738" cy="2837498"/>
          </a:xfrm>
          <a:prstGeom prst="rect">
            <a:avLst/>
          </a:prstGeom>
          <a:noFill/>
          <a:ln/>
        </p:spPr>
        <p:txBody>
          <a:bodyPr wrap="square" lIns="0" tIns="0" rIns="0" bIns="0" rtlCol="0" anchor="t"/>
          <a:lstStyle/>
          <a:p>
            <a:pPr algn="l" indent="0" marL="0">
              <a:lnSpc>
                <a:spcPts val="2450"/>
              </a:lnSpc>
              <a:buNone/>
            </a:pPr>
            <a:r>
              <a:rPr lang="en-US" sz="1550" dirty="0">
                <a:solidFill>
                  <a:srgbClr val="161613"/>
                </a:solidFill>
                <a:latin typeface="Inter" pitchFamily="34" charset="0"/>
                <a:ea typeface="Inter" pitchFamily="34" charset="-122"/>
                <a:cs typeface="Inter" pitchFamily="34" charset="-120"/>
              </a:rPr>
              <a:t>Access point density varies significantly (7-300 APs per location) due to building layout and infrastructure differences. Higher density improves localization accuracy by providing more spatial features, but excessive density adds computational overhead. Of 1425 unique routers detected, some appear 1400+ times (stable features), while many appear rarely (potential noise). Feature selection can identify discriminative access points and filter unreliable routers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52224"/>
            <a:ext cx="8569047" cy="527090"/>
          </a:xfrm>
          <a:prstGeom prst="rect">
            <a:avLst/>
          </a:prstGeom>
          <a:noFill/>
          <a:ln/>
        </p:spPr>
        <p:txBody>
          <a:bodyPr wrap="none" lIns="0" tIns="0" rIns="0" bIns="0" rtlCol="0" anchor="t"/>
          <a:lstStyle/>
          <a:p>
            <a:pPr algn="l" indent="0" marL="0">
              <a:lnSpc>
                <a:spcPts val="4150"/>
              </a:lnSpc>
              <a:buNone/>
            </a:pPr>
            <a:r>
              <a:rPr lang="en-US" sz="3300" dirty="0">
                <a:solidFill>
                  <a:srgbClr val="161613"/>
                </a:solidFill>
                <a:latin typeface="DM Sans Medium" pitchFamily="34" charset="0"/>
                <a:ea typeface="DM Sans Medium" pitchFamily="34" charset="-122"/>
                <a:cs typeface="DM Sans Medium" pitchFamily="34" charset="-120"/>
              </a:rPr>
              <a:t>Spatial Distribution and Trajectory Patterns</a:t>
            </a:r>
            <a:endParaRPr lang="en-US" sz="3300" dirty="0"/>
          </a:p>
        </p:txBody>
      </p:sp>
      <p:sp>
        <p:nvSpPr>
          <p:cNvPr id="3" name="Text 1"/>
          <p:cNvSpPr/>
          <p:nvPr/>
        </p:nvSpPr>
        <p:spPr>
          <a:xfrm>
            <a:off x="793790" y="1466017"/>
            <a:ext cx="13042821" cy="749022"/>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Scatter plot visualization of the fingerprint locations reveals 2381 labeled fingerprints collected along a continuous trajectory through the indoor environment. The spatial distribution exhibits a distinctive pattern where the Y-coordinate remains nearly constant while the X-coordinate varies significantly, suggesting data collection along a corridor or hallway path.</a:t>
            </a:r>
            <a:endParaRPr lang="en-US" sz="1300" dirty="0"/>
          </a:p>
        </p:txBody>
      </p:sp>
      <p:sp>
        <p:nvSpPr>
          <p:cNvPr id="4" name="Shape 2"/>
          <p:cNvSpPr/>
          <p:nvPr/>
        </p:nvSpPr>
        <p:spPr>
          <a:xfrm>
            <a:off x="793790" y="2376249"/>
            <a:ext cx="4251960" cy="1435656"/>
          </a:xfrm>
          <a:prstGeom prst="roundRect">
            <a:avLst>
              <a:gd name="adj" fmla="val 1763"/>
            </a:avLst>
          </a:prstGeom>
          <a:solidFill>
            <a:srgbClr val="EDEBE3"/>
          </a:solidFill>
          <a:ln/>
        </p:spPr>
      </p:sp>
      <p:sp>
        <p:nvSpPr>
          <p:cNvPr id="5" name="Text 3"/>
          <p:cNvSpPr/>
          <p:nvPr/>
        </p:nvSpPr>
        <p:spPr>
          <a:xfrm>
            <a:off x="962382" y="2544842"/>
            <a:ext cx="2211824" cy="263485"/>
          </a:xfrm>
          <a:prstGeom prst="rect">
            <a:avLst/>
          </a:prstGeom>
          <a:noFill/>
          <a:ln/>
        </p:spPr>
        <p:txBody>
          <a:bodyPr wrap="none" lIns="0" tIns="0" rIns="0" bIns="0" rtlCol="0" anchor="t"/>
          <a:lstStyle/>
          <a:p>
            <a:pPr algn="l" indent="0" marL="0">
              <a:lnSpc>
                <a:spcPts val="2050"/>
              </a:lnSpc>
              <a:buNone/>
            </a:pPr>
            <a:r>
              <a:rPr lang="en-US" sz="1650" dirty="0">
                <a:solidFill>
                  <a:srgbClr val="161613"/>
                </a:solidFill>
                <a:latin typeface="DM Sans Medium" pitchFamily="34" charset="0"/>
                <a:ea typeface="DM Sans Medium" pitchFamily="34" charset="-122"/>
                <a:cs typeface="DM Sans Medium" pitchFamily="34" charset="-120"/>
              </a:rPr>
              <a:t>Continuous Trajectory</a:t>
            </a:r>
            <a:endParaRPr lang="en-US" sz="1650" dirty="0"/>
          </a:p>
        </p:txBody>
      </p:sp>
      <p:sp>
        <p:nvSpPr>
          <p:cNvPr id="6" name="Text 4"/>
          <p:cNvSpPr/>
          <p:nvPr/>
        </p:nvSpPr>
        <p:spPr>
          <a:xfrm>
            <a:off x="962382" y="2894290"/>
            <a:ext cx="3914775" cy="749022"/>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2381 labeled fingerprint locations arranged along a path, indicating systematic data collection rather than random sampling</a:t>
            </a:r>
            <a:endParaRPr lang="en-US" sz="1300" dirty="0"/>
          </a:p>
        </p:txBody>
      </p:sp>
      <p:sp>
        <p:nvSpPr>
          <p:cNvPr id="7" name="Shape 5"/>
          <p:cNvSpPr/>
          <p:nvPr/>
        </p:nvSpPr>
        <p:spPr>
          <a:xfrm>
            <a:off x="5189101" y="2376249"/>
            <a:ext cx="4252079" cy="1435656"/>
          </a:xfrm>
          <a:prstGeom prst="roundRect">
            <a:avLst>
              <a:gd name="adj" fmla="val 1763"/>
            </a:avLst>
          </a:prstGeom>
          <a:solidFill>
            <a:srgbClr val="EDEBE3"/>
          </a:solidFill>
          <a:ln/>
        </p:spPr>
      </p:sp>
      <p:sp>
        <p:nvSpPr>
          <p:cNvPr id="8" name="Text 6"/>
          <p:cNvSpPr/>
          <p:nvPr/>
        </p:nvSpPr>
        <p:spPr>
          <a:xfrm>
            <a:off x="5357693" y="2544842"/>
            <a:ext cx="2112764" cy="263485"/>
          </a:xfrm>
          <a:prstGeom prst="rect">
            <a:avLst/>
          </a:prstGeom>
          <a:noFill/>
          <a:ln/>
        </p:spPr>
        <p:txBody>
          <a:bodyPr wrap="none" lIns="0" tIns="0" rIns="0" bIns="0" rtlCol="0" anchor="t"/>
          <a:lstStyle/>
          <a:p>
            <a:pPr algn="l" indent="0" marL="0">
              <a:lnSpc>
                <a:spcPts val="2050"/>
              </a:lnSpc>
              <a:buNone/>
            </a:pPr>
            <a:r>
              <a:rPr lang="en-US" sz="1650" dirty="0">
                <a:solidFill>
                  <a:srgbClr val="161613"/>
                </a:solidFill>
                <a:latin typeface="DM Sans Medium" pitchFamily="34" charset="0"/>
                <a:ea typeface="DM Sans Medium" pitchFamily="34" charset="-122"/>
                <a:cs typeface="DM Sans Medium" pitchFamily="34" charset="-120"/>
              </a:rPr>
              <a:t>Corridor Path Pattern</a:t>
            </a:r>
            <a:endParaRPr lang="en-US" sz="1650" dirty="0"/>
          </a:p>
        </p:txBody>
      </p:sp>
      <p:sp>
        <p:nvSpPr>
          <p:cNvPr id="9" name="Text 7"/>
          <p:cNvSpPr/>
          <p:nvPr/>
        </p:nvSpPr>
        <p:spPr>
          <a:xfrm>
            <a:off x="5357693" y="2894290"/>
            <a:ext cx="3914894" cy="749022"/>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Y-coordinate remains almost constant while X varies, suggesting linear hallway or corridor collection route</a:t>
            </a:r>
            <a:endParaRPr lang="en-US" sz="1300" dirty="0"/>
          </a:p>
        </p:txBody>
      </p:sp>
      <p:sp>
        <p:nvSpPr>
          <p:cNvPr id="10" name="Shape 8"/>
          <p:cNvSpPr/>
          <p:nvPr/>
        </p:nvSpPr>
        <p:spPr>
          <a:xfrm>
            <a:off x="9584531" y="2376249"/>
            <a:ext cx="4252079" cy="1435656"/>
          </a:xfrm>
          <a:prstGeom prst="roundRect">
            <a:avLst>
              <a:gd name="adj" fmla="val 1763"/>
            </a:avLst>
          </a:prstGeom>
          <a:solidFill>
            <a:srgbClr val="EDEBE3"/>
          </a:solidFill>
          <a:ln/>
        </p:spPr>
      </p:sp>
      <p:sp>
        <p:nvSpPr>
          <p:cNvPr id="11" name="Text 9"/>
          <p:cNvSpPr/>
          <p:nvPr/>
        </p:nvSpPr>
        <p:spPr>
          <a:xfrm>
            <a:off x="9753124" y="2544842"/>
            <a:ext cx="2541389" cy="263485"/>
          </a:xfrm>
          <a:prstGeom prst="rect">
            <a:avLst/>
          </a:prstGeom>
          <a:noFill/>
          <a:ln/>
        </p:spPr>
        <p:txBody>
          <a:bodyPr wrap="none" lIns="0" tIns="0" rIns="0" bIns="0" rtlCol="0" anchor="t"/>
          <a:lstStyle/>
          <a:p>
            <a:pPr algn="l" indent="0" marL="0">
              <a:lnSpc>
                <a:spcPts val="2050"/>
              </a:lnSpc>
              <a:buNone/>
            </a:pPr>
            <a:r>
              <a:rPr lang="en-US" sz="1650" dirty="0">
                <a:solidFill>
                  <a:srgbClr val="161613"/>
                </a:solidFill>
                <a:latin typeface="DM Sans Medium" pitchFamily="34" charset="0"/>
                <a:ea typeface="DM Sans Medium" pitchFamily="34" charset="-122"/>
                <a:cs typeface="DM Sans Medium" pitchFamily="34" charset="-120"/>
              </a:rPr>
              <a:t>Sequential Dependencies</a:t>
            </a:r>
            <a:endParaRPr lang="en-US" sz="1650" dirty="0"/>
          </a:p>
        </p:txBody>
      </p:sp>
      <p:sp>
        <p:nvSpPr>
          <p:cNvPr id="12" name="Text 10"/>
          <p:cNvSpPr/>
          <p:nvPr/>
        </p:nvSpPr>
        <p:spPr>
          <a:xfrm>
            <a:off x="9753124" y="2894290"/>
            <a:ext cx="3914894" cy="749022"/>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Temporal ordering of measurements enables sequential modeling approaches using LSTM or GRU architectures</a:t>
            </a:r>
            <a:endParaRPr lang="en-US" sz="1300" dirty="0"/>
          </a:p>
        </p:txBody>
      </p:sp>
      <p:sp>
        <p:nvSpPr>
          <p:cNvPr id="13" name="Text 11"/>
          <p:cNvSpPr/>
          <p:nvPr/>
        </p:nvSpPr>
        <p:spPr>
          <a:xfrm>
            <a:off x="793790" y="4102060"/>
            <a:ext cx="7122914" cy="1498044"/>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The trajectory nature of the data collection has important implications for model selection and evaluation. Traditional classification or regression models treat each fingerprint as an independent observation, ignoring the temporal dependencies between consecutive measurements. However, sequential models such as Long Short-Term Memory (LSTM) networks and Gated Recurrent Units (GRU) can exploit the temporal structure, using previous locations and movements to inform current position estimates.</a:t>
            </a:r>
            <a:endParaRPr lang="en-US" sz="1300" dirty="0"/>
          </a:p>
        </p:txBody>
      </p:sp>
      <p:sp>
        <p:nvSpPr>
          <p:cNvPr id="14" name="Text 12"/>
          <p:cNvSpPr/>
          <p:nvPr/>
        </p:nvSpPr>
        <p:spPr>
          <a:xfrm>
            <a:off x="8335804" y="4102060"/>
            <a:ext cx="5508308" cy="1498044"/>
          </a:xfrm>
          <a:prstGeom prst="rect">
            <a:avLst/>
          </a:prstGeom>
          <a:noFill/>
          <a:ln/>
        </p:spPr>
        <p:txBody>
          <a:bodyPr wrap="square" lIns="0" tIns="0" rIns="0" bIns="0" rtlCol="0" anchor="t"/>
          <a:lstStyle/>
          <a:p>
            <a:pPr algn="l" indent="0" marL="0">
              <a:lnSpc>
                <a:spcPts val="1950"/>
              </a:lnSpc>
              <a:buNone/>
            </a:pPr>
            <a:r>
              <a:rPr lang="en-US" sz="1300" dirty="0">
                <a:solidFill>
                  <a:srgbClr val="161613"/>
                </a:solidFill>
                <a:latin typeface="Inter" pitchFamily="34" charset="0"/>
                <a:ea typeface="Inter" pitchFamily="34" charset="-122"/>
                <a:cs typeface="Inter" pitchFamily="34" charset="-120"/>
              </a:rPr>
              <a:t>This sequential pattern also suggests opportunities for trajectory smoothing and dead reckoning integration, where inertial sensor data between WiFi scans can be used to interpolate positions and improve temporal resolution. The combination of fingerprint matching with inertial dead reckoning represents a common sensor fusion approach in indoor localization systems.</a:t>
            </a:r>
            <a:endParaRPr lang="en-US" sz="1300" dirty="0"/>
          </a:p>
        </p:txBody>
      </p:sp>
      <p:pic>
        <p:nvPicPr>
          <p:cNvPr id="15" name="Image 0" descr="preencoded.png">    </p:cNvPr>
          <p:cNvPicPr>
            <a:picLocks noChangeAspect="1"/>
          </p:cNvPicPr>
          <p:nvPr/>
        </p:nvPicPr>
        <p:blipFill>
          <a:blip r:embed="rId1"/>
          <a:stretch>
            <a:fillRect/>
          </a:stretch>
        </p:blipFill>
        <p:spPr>
          <a:xfrm>
            <a:off x="793790" y="5890260"/>
            <a:ext cx="10480596" cy="16869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14256"/>
            <a:ext cx="7119580" cy="620078"/>
          </a:xfrm>
          <a:prstGeom prst="rect">
            <a:avLst/>
          </a:prstGeom>
          <a:noFill/>
          <a:ln/>
        </p:spPr>
        <p:txBody>
          <a:bodyPr wrap="non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Magnetic Field Characteristics</a:t>
            </a:r>
            <a:endParaRPr lang="en-US" sz="3900" dirty="0"/>
          </a:p>
        </p:txBody>
      </p:sp>
      <p:sp>
        <p:nvSpPr>
          <p:cNvPr id="3" name="Text 1"/>
          <p:cNvSpPr/>
          <p:nvPr/>
        </p:nvSpPr>
        <p:spPr>
          <a:xfrm>
            <a:off x="793790" y="1954411"/>
            <a:ext cx="2401133" cy="396835"/>
          </a:xfrm>
          <a:prstGeom prst="rect">
            <a:avLst/>
          </a:prstGeom>
          <a:noFill/>
          <a:ln/>
        </p:spPr>
        <p:txBody>
          <a:bodyPr wrap="none" lIns="0" tIns="0" rIns="0" bIns="0" rtlCol="0" anchor="t"/>
          <a:lstStyle/>
          <a:p>
            <a:pPr algn="ctr" indent="0" marL="0">
              <a:lnSpc>
                <a:spcPts val="3100"/>
              </a:lnSpc>
              <a:buNone/>
            </a:pPr>
            <a:r>
              <a:rPr lang="en-US" sz="3100" dirty="0">
                <a:solidFill>
                  <a:srgbClr val="161613"/>
                </a:solidFill>
                <a:latin typeface="DM Sans Medium" pitchFamily="34" charset="0"/>
                <a:ea typeface="DM Sans Medium" pitchFamily="34" charset="-122"/>
                <a:cs typeface="DM Sans Medium" pitchFamily="34" charset="-120"/>
              </a:rPr>
              <a:t>44</a:t>
            </a:r>
            <a:endParaRPr lang="en-US" sz="3100" dirty="0"/>
          </a:p>
        </p:txBody>
      </p:sp>
      <p:sp>
        <p:nvSpPr>
          <p:cNvPr id="4" name="Text 2"/>
          <p:cNvSpPr/>
          <p:nvPr/>
        </p:nvSpPr>
        <p:spPr>
          <a:xfrm>
            <a:off x="793790" y="2599253"/>
            <a:ext cx="2401133" cy="317540"/>
          </a:xfrm>
          <a:prstGeom prst="rect">
            <a:avLst/>
          </a:prstGeom>
          <a:noFill/>
          <a:ln/>
        </p:spPr>
        <p:txBody>
          <a:bodyPr wrap="none" lIns="0" tIns="0" rIns="0" bIns="0" rtlCol="0" anchor="t"/>
          <a:lstStyle/>
          <a:p>
            <a:pPr algn="ctr" indent="0" marL="0">
              <a:lnSpc>
                <a:spcPts val="2500"/>
              </a:lnSpc>
              <a:buNone/>
            </a:pPr>
            <a:r>
              <a:rPr lang="en-US" sz="1550" dirty="0">
                <a:solidFill>
                  <a:srgbClr val="161613"/>
                </a:solidFill>
                <a:latin typeface="Inter" pitchFamily="34" charset="0"/>
                <a:ea typeface="Inter" pitchFamily="34" charset="-122"/>
                <a:cs typeface="Inter" pitchFamily="34" charset="-120"/>
              </a:rPr>
              <a:t>Mean Magnitude (µT)</a:t>
            </a:r>
            <a:endParaRPr lang="en-US" sz="1550" dirty="0"/>
          </a:p>
        </p:txBody>
      </p:sp>
      <p:sp>
        <p:nvSpPr>
          <p:cNvPr id="5" name="Text 3"/>
          <p:cNvSpPr/>
          <p:nvPr/>
        </p:nvSpPr>
        <p:spPr>
          <a:xfrm>
            <a:off x="793790" y="3412807"/>
            <a:ext cx="2401133" cy="396835"/>
          </a:xfrm>
          <a:prstGeom prst="rect">
            <a:avLst/>
          </a:prstGeom>
          <a:noFill/>
          <a:ln/>
        </p:spPr>
        <p:txBody>
          <a:bodyPr wrap="none" lIns="0" tIns="0" rIns="0" bIns="0" rtlCol="0" anchor="t"/>
          <a:lstStyle/>
          <a:p>
            <a:pPr algn="ctr" indent="0" marL="0">
              <a:lnSpc>
                <a:spcPts val="3100"/>
              </a:lnSpc>
              <a:buNone/>
            </a:pPr>
            <a:r>
              <a:rPr lang="en-US" sz="3100" dirty="0">
                <a:solidFill>
                  <a:srgbClr val="161613"/>
                </a:solidFill>
                <a:latin typeface="DM Sans Medium" pitchFamily="34" charset="0"/>
                <a:ea typeface="DM Sans Medium" pitchFamily="34" charset="-122"/>
                <a:cs typeface="DM Sans Medium" pitchFamily="34" charset="-120"/>
              </a:rPr>
              <a:t>7.1</a:t>
            </a:r>
            <a:endParaRPr lang="en-US" sz="3100" dirty="0"/>
          </a:p>
        </p:txBody>
      </p:sp>
      <p:sp>
        <p:nvSpPr>
          <p:cNvPr id="6" name="Text 4"/>
          <p:cNvSpPr/>
          <p:nvPr/>
        </p:nvSpPr>
        <p:spPr>
          <a:xfrm>
            <a:off x="793790" y="4057650"/>
            <a:ext cx="2401133" cy="317540"/>
          </a:xfrm>
          <a:prstGeom prst="rect">
            <a:avLst/>
          </a:prstGeom>
          <a:noFill/>
          <a:ln/>
        </p:spPr>
        <p:txBody>
          <a:bodyPr wrap="none" lIns="0" tIns="0" rIns="0" bIns="0" rtlCol="0" anchor="t"/>
          <a:lstStyle/>
          <a:p>
            <a:pPr algn="ctr" indent="0" marL="0">
              <a:lnSpc>
                <a:spcPts val="2500"/>
              </a:lnSpc>
              <a:buNone/>
            </a:pPr>
            <a:r>
              <a:rPr lang="en-US" sz="1550" dirty="0">
                <a:solidFill>
                  <a:srgbClr val="161613"/>
                </a:solidFill>
                <a:latin typeface="Inter" pitchFamily="34" charset="0"/>
                <a:ea typeface="Inter" pitchFamily="34" charset="-122"/>
                <a:cs typeface="Inter" pitchFamily="34" charset="-120"/>
              </a:rPr>
              <a:t>Standard Deviation (µT)</a:t>
            </a:r>
            <a:endParaRPr lang="en-US" sz="1550" dirty="0"/>
          </a:p>
        </p:txBody>
      </p:sp>
      <p:sp>
        <p:nvSpPr>
          <p:cNvPr id="7" name="Text 5"/>
          <p:cNvSpPr/>
          <p:nvPr/>
        </p:nvSpPr>
        <p:spPr>
          <a:xfrm>
            <a:off x="793790" y="4871204"/>
            <a:ext cx="2401133" cy="396835"/>
          </a:xfrm>
          <a:prstGeom prst="rect">
            <a:avLst/>
          </a:prstGeom>
          <a:noFill/>
          <a:ln/>
        </p:spPr>
        <p:txBody>
          <a:bodyPr wrap="none" lIns="0" tIns="0" rIns="0" bIns="0" rtlCol="0" anchor="t"/>
          <a:lstStyle/>
          <a:p>
            <a:pPr algn="ctr" indent="0" marL="0">
              <a:lnSpc>
                <a:spcPts val="3100"/>
              </a:lnSpc>
              <a:buNone/>
            </a:pPr>
            <a:r>
              <a:rPr lang="en-US" sz="3100" dirty="0">
                <a:solidFill>
                  <a:srgbClr val="161613"/>
                </a:solidFill>
                <a:latin typeface="DM Sans Medium" pitchFamily="34" charset="0"/>
                <a:ea typeface="DM Sans Medium" pitchFamily="34" charset="-122"/>
                <a:cs typeface="DM Sans Medium" pitchFamily="34" charset="-120"/>
              </a:rPr>
              <a:t>18</a:t>
            </a:r>
            <a:endParaRPr lang="en-US" sz="3100" dirty="0"/>
          </a:p>
        </p:txBody>
      </p:sp>
      <p:sp>
        <p:nvSpPr>
          <p:cNvPr id="8" name="Text 6"/>
          <p:cNvSpPr/>
          <p:nvPr/>
        </p:nvSpPr>
        <p:spPr>
          <a:xfrm>
            <a:off x="793790" y="5516047"/>
            <a:ext cx="2401133" cy="317540"/>
          </a:xfrm>
          <a:prstGeom prst="rect">
            <a:avLst/>
          </a:prstGeom>
          <a:noFill/>
          <a:ln/>
        </p:spPr>
        <p:txBody>
          <a:bodyPr wrap="none" lIns="0" tIns="0" rIns="0" bIns="0" rtlCol="0" anchor="t"/>
          <a:lstStyle/>
          <a:p>
            <a:pPr algn="ctr" indent="0" marL="0">
              <a:lnSpc>
                <a:spcPts val="2500"/>
              </a:lnSpc>
              <a:buNone/>
            </a:pPr>
            <a:r>
              <a:rPr lang="en-US" sz="1550" dirty="0">
                <a:solidFill>
                  <a:srgbClr val="161613"/>
                </a:solidFill>
                <a:latin typeface="Inter" pitchFamily="34" charset="0"/>
                <a:ea typeface="Inter" pitchFamily="34" charset="-122"/>
                <a:cs typeface="Inter" pitchFamily="34" charset="-120"/>
              </a:rPr>
              <a:t>Minimum (µT)</a:t>
            </a:r>
            <a:endParaRPr lang="en-US" sz="1550" dirty="0"/>
          </a:p>
        </p:txBody>
      </p:sp>
      <p:sp>
        <p:nvSpPr>
          <p:cNvPr id="9" name="Text 7"/>
          <p:cNvSpPr/>
          <p:nvPr/>
        </p:nvSpPr>
        <p:spPr>
          <a:xfrm>
            <a:off x="793790" y="6329601"/>
            <a:ext cx="2401133" cy="396835"/>
          </a:xfrm>
          <a:prstGeom prst="rect">
            <a:avLst/>
          </a:prstGeom>
          <a:noFill/>
          <a:ln/>
        </p:spPr>
        <p:txBody>
          <a:bodyPr wrap="none" lIns="0" tIns="0" rIns="0" bIns="0" rtlCol="0" anchor="t"/>
          <a:lstStyle/>
          <a:p>
            <a:pPr algn="ctr" indent="0" marL="0">
              <a:lnSpc>
                <a:spcPts val="3100"/>
              </a:lnSpc>
              <a:buNone/>
            </a:pPr>
            <a:r>
              <a:rPr lang="en-US" sz="3100" dirty="0">
                <a:solidFill>
                  <a:srgbClr val="161613"/>
                </a:solidFill>
                <a:latin typeface="DM Sans Medium" pitchFamily="34" charset="0"/>
                <a:ea typeface="DM Sans Medium" pitchFamily="34" charset="-122"/>
                <a:cs typeface="DM Sans Medium" pitchFamily="34" charset="-120"/>
              </a:rPr>
              <a:t>66</a:t>
            </a:r>
            <a:endParaRPr lang="en-US" sz="3100" dirty="0"/>
          </a:p>
        </p:txBody>
      </p:sp>
      <p:sp>
        <p:nvSpPr>
          <p:cNvPr id="10" name="Text 8"/>
          <p:cNvSpPr/>
          <p:nvPr/>
        </p:nvSpPr>
        <p:spPr>
          <a:xfrm>
            <a:off x="793790" y="6974443"/>
            <a:ext cx="2401133" cy="317540"/>
          </a:xfrm>
          <a:prstGeom prst="rect">
            <a:avLst/>
          </a:prstGeom>
          <a:noFill/>
          <a:ln/>
        </p:spPr>
        <p:txBody>
          <a:bodyPr wrap="none" lIns="0" tIns="0" rIns="0" bIns="0" rtlCol="0" anchor="t"/>
          <a:lstStyle/>
          <a:p>
            <a:pPr algn="ctr" indent="0" marL="0">
              <a:lnSpc>
                <a:spcPts val="2500"/>
              </a:lnSpc>
              <a:buNone/>
            </a:pPr>
            <a:r>
              <a:rPr lang="en-US" sz="1550" dirty="0">
                <a:solidFill>
                  <a:srgbClr val="161613"/>
                </a:solidFill>
                <a:latin typeface="Inter" pitchFamily="34" charset="0"/>
                <a:ea typeface="Inter" pitchFamily="34" charset="-122"/>
                <a:cs typeface="Inter" pitchFamily="34" charset="-120"/>
              </a:rPr>
              <a:t>Maximum (µT)</a:t>
            </a:r>
            <a:endParaRPr lang="en-US" sz="1550" dirty="0"/>
          </a:p>
        </p:txBody>
      </p:sp>
      <p:pic>
        <p:nvPicPr>
          <p:cNvPr id="11" name="Image 0" descr="preencoded.png">    </p:cNvPr>
          <p:cNvPicPr>
            <a:picLocks noChangeAspect="1"/>
          </p:cNvPicPr>
          <p:nvPr/>
        </p:nvPicPr>
        <p:blipFill>
          <a:blip r:embed="rId1"/>
          <a:stretch>
            <a:fillRect/>
          </a:stretch>
        </p:blipFill>
        <p:spPr>
          <a:xfrm>
            <a:off x="3686651" y="1855232"/>
            <a:ext cx="7001589" cy="4871085"/>
          </a:xfrm>
          <a:prstGeom prst="rect">
            <a:avLst/>
          </a:prstGeom>
        </p:spPr>
      </p:pic>
      <p:sp>
        <p:nvSpPr>
          <p:cNvPr id="12" name="Text 9"/>
          <p:cNvSpPr/>
          <p:nvPr/>
        </p:nvSpPr>
        <p:spPr>
          <a:xfrm>
            <a:off x="11179969" y="1810583"/>
            <a:ext cx="2671643" cy="5080635"/>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magnetometer data reveals stable signal distributions with mean magnetic field magnitude of approximately 43.9 microtesla (µT) and standard deviation of 7.1 µT, spanning a range from 18 to 66 µT. These values align with typical indoor magnetic field characteristics, where the Earth's natural magnetic field (approximately 25-65 µT) is distorted by building materials, metal structures, and electrical installations.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97825"/>
            <a:ext cx="5692259" cy="558165"/>
          </a:xfrm>
          <a:prstGeom prst="rect">
            <a:avLst/>
          </a:prstGeom>
          <a:noFill/>
          <a:ln/>
        </p:spPr>
        <p:txBody>
          <a:bodyPr wrap="none" lIns="0" tIns="0" rIns="0" bIns="0" rtlCol="0" anchor="t"/>
          <a:lstStyle/>
          <a:p>
            <a:pPr algn="l" indent="0" marL="0">
              <a:lnSpc>
                <a:spcPts val="4350"/>
              </a:lnSpc>
              <a:buNone/>
            </a:pPr>
            <a:r>
              <a:rPr lang="en-US" sz="3500" dirty="0">
                <a:solidFill>
                  <a:srgbClr val="161613"/>
                </a:solidFill>
                <a:latin typeface="DM Sans Medium" pitchFamily="34" charset="0"/>
                <a:ea typeface="DM Sans Medium" pitchFamily="34" charset="-122"/>
                <a:cs typeface="DM Sans Medium" pitchFamily="34" charset="-120"/>
              </a:rPr>
              <a:t>Magnetic Field Singular File</a:t>
            </a:r>
            <a:endParaRPr lang="en-US" sz="3500" dirty="0"/>
          </a:p>
        </p:txBody>
      </p:sp>
      <p:pic>
        <p:nvPicPr>
          <p:cNvPr id="3" name="Image 0" descr="preencoded.png">    </p:cNvPr>
          <p:cNvPicPr>
            <a:picLocks noChangeAspect="1"/>
          </p:cNvPicPr>
          <p:nvPr/>
        </p:nvPicPr>
        <p:blipFill>
          <a:blip r:embed="rId1"/>
          <a:stretch>
            <a:fillRect/>
          </a:stretch>
        </p:blipFill>
        <p:spPr>
          <a:xfrm>
            <a:off x="793790" y="1677948"/>
            <a:ext cx="6764774" cy="3080504"/>
          </a:xfrm>
          <a:prstGeom prst="rect">
            <a:avLst/>
          </a:prstGeom>
        </p:spPr>
      </p:pic>
      <p:sp>
        <p:nvSpPr>
          <p:cNvPr id="4" name="Text 1"/>
          <p:cNvSpPr/>
          <p:nvPr/>
        </p:nvSpPr>
        <p:spPr>
          <a:xfrm>
            <a:off x="793790" y="4939308"/>
            <a:ext cx="7516535" cy="1628775"/>
          </a:xfrm>
          <a:prstGeom prst="rect">
            <a:avLst/>
          </a:prstGeom>
          <a:noFill/>
          <a:ln/>
        </p:spPr>
        <p:txBody>
          <a:bodyPr wrap="square" lIns="0" tIns="0" rIns="0" bIns="0" rtlCol="0" anchor="t"/>
          <a:lstStyle/>
          <a:p>
            <a:pPr algn="l" indent="0" marL="0">
              <a:lnSpc>
                <a:spcPts val="2100"/>
              </a:lnSpc>
              <a:buNone/>
            </a:pPr>
            <a:r>
              <a:rPr lang="en-US" sz="1400" dirty="0">
                <a:solidFill>
                  <a:srgbClr val="161613"/>
                </a:solidFill>
                <a:latin typeface="Inter" pitchFamily="34" charset="0"/>
                <a:ea typeface="Inter" pitchFamily="34" charset="-122"/>
                <a:cs typeface="Inter" pitchFamily="34" charset="-120"/>
              </a:rPr>
              <a:t>The localized magnetic distortions created by indoor metal structures serve as distinctive location fingerprints. Unlike WiFi signals that can be affected by network configuration changes, magnetic field distortions are largely determined by permanent building characteristics, making them stable over time. This temporal stability represents a significant advantage for long-term localization deployments where WiFi infrastructure may be reconfigured or replaced.</a:t>
            </a:r>
            <a:endParaRPr lang="en-US" sz="1400" dirty="0"/>
          </a:p>
        </p:txBody>
      </p:sp>
      <p:pic>
        <p:nvPicPr>
          <p:cNvPr id="5" name="Image 1" descr="preencoded.png">    </p:cNvPr>
          <p:cNvPicPr>
            <a:picLocks noChangeAspect="1"/>
          </p:cNvPicPr>
          <p:nvPr/>
        </p:nvPicPr>
        <p:blipFill>
          <a:blip r:embed="rId2"/>
          <a:stretch>
            <a:fillRect/>
          </a:stretch>
        </p:blipFill>
        <p:spPr>
          <a:xfrm>
            <a:off x="8753713" y="1677948"/>
            <a:ext cx="4581287" cy="3356491"/>
          </a:xfrm>
          <a:prstGeom prst="rect">
            <a:avLst/>
          </a:prstGeom>
        </p:spPr>
      </p:pic>
      <p:sp>
        <p:nvSpPr>
          <p:cNvPr id="6" name="Text 2"/>
          <p:cNvSpPr/>
          <p:nvPr/>
        </p:nvSpPr>
        <p:spPr>
          <a:xfrm>
            <a:off x="8753713" y="5215295"/>
            <a:ext cx="5090398" cy="2171700"/>
          </a:xfrm>
          <a:prstGeom prst="rect">
            <a:avLst/>
          </a:prstGeom>
          <a:noFill/>
          <a:ln/>
        </p:spPr>
        <p:txBody>
          <a:bodyPr wrap="square" lIns="0" tIns="0" rIns="0" bIns="0" rtlCol="0" anchor="t"/>
          <a:lstStyle/>
          <a:p>
            <a:pPr algn="l" indent="0" marL="0">
              <a:lnSpc>
                <a:spcPts val="2100"/>
              </a:lnSpc>
              <a:buNone/>
            </a:pPr>
            <a:r>
              <a:rPr lang="en-US" sz="1400" dirty="0">
                <a:solidFill>
                  <a:srgbClr val="161613"/>
                </a:solidFill>
                <a:latin typeface="Inter" pitchFamily="34" charset="0"/>
                <a:ea typeface="Inter" pitchFamily="34" charset="-122"/>
                <a:cs typeface="Inter" pitchFamily="34" charset="-120"/>
              </a:rPr>
              <a:t>Three-axis magnetometer readings can be combined to compute magnetic field magnitude or decomposed into directional components, each providing different information for localization. The magnitude captures the overall strength of distortion at a location, while directional components reveal the spatial orientation of metal structures. Both approaches have demonstrated effectiveness in magnetic fingerprinting literature.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586859"/>
            <a:ext cx="7377708" cy="558165"/>
          </a:xfrm>
          <a:prstGeom prst="rect">
            <a:avLst/>
          </a:prstGeom>
          <a:noFill/>
          <a:ln/>
        </p:spPr>
        <p:txBody>
          <a:bodyPr wrap="none" lIns="0" tIns="0" rIns="0" bIns="0" rtlCol="0" anchor="t"/>
          <a:lstStyle/>
          <a:p>
            <a:pPr algn="l" indent="0" marL="0">
              <a:lnSpc>
                <a:spcPts val="4350"/>
              </a:lnSpc>
              <a:buNone/>
            </a:pPr>
            <a:r>
              <a:rPr lang="en-US" sz="3500" dirty="0">
                <a:solidFill>
                  <a:srgbClr val="161613"/>
                </a:solidFill>
                <a:latin typeface="DM Sans Medium" pitchFamily="34" charset="0"/>
                <a:ea typeface="DM Sans Medium" pitchFamily="34" charset="-122"/>
                <a:cs typeface="DM Sans Medium" pitchFamily="34" charset="-120"/>
              </a:rPr>
              <a:t>Summary and Next Research Steps</a:t>
            </a:r>
            <a:endParaRPr lang="en-US" sz="3500" dirty="0"/>
          </a:p>
        </p:txBody>
      </p:sp>
      <p:sp>
        <p:nvSpPr>
          <p:cNvPr id="3" name="Text 1"/>
          <p:cNvSpPr/>
          <p:nvPr/>
        </p:nvSpPr>
        <p:spPr>
          <a:xfrm>
            <a:off x="793790" y="1546860"/>
            <a:ext cx="3578543" cy="334804"/>
          </a:xfrm>
          <a:prstGeom prst="rect">
            <a:avLst/>
          </a:prstGeom>
          <a:noFill/>
          <a:ln/>
        </p:spPr>
        <p:txBody>
          <a:bodyPr wrap="none" lIns="0" tIns="0" rIns="0" bIns="0" rtlCol="0" anchor="t"/>
          <a:lstStyle/>
          <a:p>
            <a:pPr algn="l" indent="0" marL="0">
              <a:lnSpc>
                <a:spcPts val="2600"/>
              </a:lnSpc>
              <a:buNone/>
            </a:pPr>
            <a:r>
              <a:rPr lang="en-US" sz="2100" dirty="0">
                <a:solidFill>
                  <a:srgbClr val="161613"/>
                </a:solidFill>
                <a:latin typeface="DM Sans Medium" pitchFamily="34" charset="0"/>
                <a:ea typeface="DM Sans Medium" pitchFamily="34" charset="-122"/>
                <a:cs typeface="DM Sans Medium" pitchFamily="34" charset="-120"/>
              </a:rPr>
              <a:t>Dataset Quality Assessment</a:t>
            </a:r>
            <a:endParaRPr lang="en-US" sz="2100" dirty="0"/>
          </a:p>
        </p:txBody>
      </p:sp>
      <p:sp>
        <p:nvSpPr>
          <p:cNvPr id="4" name="Text 2"/>
          <p:cNvSpPr/>
          <p:nvPr/>
        </p:nvSpPr>
        <p:spPr>
          <a:xfrm>
            <a:off x="793790" y="2042398"/>
            <a:ext cx="6303526" cy="1085850"/>
          </a:xfrm>
          <a:prstGeom prst="rect">
            <a:avLst/>
          </a:prstGeom>
          <a:noFill/>
          <a:ln/>
        </p:spPr>
        <p:txBody>
          <a:bodyPr wrap="square" lIns="0" tIns="0" rIns="0" bIns="0" rtlCol="0" anchor="t"/>
          <a:lstStyle/>
          <a:p>
            <a:pPr algn="l" indent="0" marL="0">
              <a:lnSpc>
                <a:spcPts val="2100"/>
              </a:lnSpc>
              <a:buNone/>
            </a:pPr>
            <a:r>
              <a:rPr lang="en-US" sz="1400" dirty="0">
                <a:solidFill>
                  <a:srgbClr val="161613"/>
                </a:solidFill>
                <a:latin typeface="Inter" pitchFamily="34" charset="0"/>
                <a:ea typeface="Inter" pitchFamily="34" charset="-122"/>
                <a:cs typeface="Inter" pitchFamily="34" charset="-120"/>
              </a:rPr>
              <a:t>The MagWi Benchmark Dataset represents a high-quality, large-scale collection suitable for developing and evaluating hybrid indoor localization systems. The dataset exhibits realistic indoor signal characteristics, high access point density, and complementary sensor modalities.</a:t>
            </a:r>
            <a:endParaRPr lang="en-US" sz="1400" dirty="0"/>
          </a:p>
        </p:txBody>
      </p:sp>
      <p:sp>
        <p:nvSpPr>
          <p:cNvPr id="5" name="Text 3"/>
          <p:cNvSpPr/>
          <p:nvPr/>
        </p:nvSpPr>
        <p:spPr>
          <a:xfrm>
            <a:off x="7540704" y="1546860"/>
            <a:ext cx="2679383" cy="334804"/>
          </a:xfrm>
          <a:prstGeom prst="rect">
            <a:avLst/>
          </a:prstGeom>
          <a:noFill/>
          <a:ln/>
        </p:spPr>
        <p:txBody>
          <a:bodyPr wrap="none" lIns="0" tIns="0" rIns="0" bIns="0" rtlCol="0" anchor="t"/>
          <a:lstStyle/>
          <a:p>
            <a:pPr algn="l" indent="0" marL="0">
              <a:lnSpc>
                <a:spcPts val="2600"/>
              </a:lnSpc>
              <a:buNone/>
            </a:pPr>
            <a:r>
              <a:rPr lang="en-US" sz="2100" dirty="0">
                <a:solidFill>
                  <a:srgbClr val="161613"/>
                </a:solidFill>
                <a:latin typeface="DM Sans Medium" pitchFamily="34" charset="0"/>
                <a:ea typeface="DM Sans Medium" pitchFamily="34" charset="-122"/>
                <a:cs typeface="DM Sans Medium" pitchFamily="34" charset="-120"/>
              </a:rPr>
              <a:t>Key Findings</a:t>
            </a:r>
            <a:endParaRPr lang="en-US" sz="2100" dirty="0"/>
          </a:p>
        </p:txBody>
      </p:sp>
      <p:sp>
        <p:nvSpPr>
          <p:cNvPr id="6" name="Text 4"/>
          <p:cNvSpPr/>
          <p:nvPr/>
        </p:nvSpPr>
        <p:spPr>
          <a:xfrm>
            <a:off x="7540704" y="2042398"/>
            <a:ext cx="6303526" cy="542925"/>
          </a:xfrm>
          <a:prstGeom prst="rect">
            <a:avLst/>
          </a:prstGeom>
          <a:noFill/>
          <a:ln/>
        </p:spPr>
        <p:txBody>
          <a:bodyPr wrap="square" lIns="0" tIns="0" rIns="0" bIns="0" rtlCol="0" anchor="t"/>
          <a:lstStyle/>
          <a:p>
            <a:pPr algn="l" indent="0" marL="0">
              <a:lnSpc>
                <a:spcPts val="2100"/>
              </a:lnSpc>
              <a:buNone/>
            </a:pPr>
            <a:r>
              <a:rPr lang="en-US" sz="1400" dirty="0">
                <a:solidFill>
                  <a:srgbClr val="161613"/>
                </a:solidFill>
                <a:latin typeface="Inter" pitchFamily="34" charset="0"/>
                <a:ea typeface="Inter" pitchFamily="34" charset="-122"/>
                <a:cs typeface="Inter" pitchFamily="34" charset="-120"/>
              </a:rPr>
              <a:t>Statistical analysis confirms expected signal distributions, minimal missing data, and systematic spatial coverage along continuous trajectories.</a:t>
            </a:r>
            <a:endParaRPr lang="en-US" sz="1400" dirty="0"/>
          </a:p>
        </p:txBody>
      </p:sp>
      <p:sp>
        <p:nvSpPr>
          <p:cNvPr id="7" name="Shape 5"/>
          <p:cNvSpPr/>
          <p:nvPr/>
        </p:nvSpPr>
        <p:spPr>
          <a:xfrm>
            <a:off x="793790" y="3453765"/>
            <a:ext cx="6441043" cy="2314694"/>
          </a:xfrm>
          <a:prstGeom prst="roundRect">
            <a:avLst>
              <a:gd name="adj" fmla="val 1158"/>
            </a:avLst>
          </a:prstGeom>
          <a:solidFill>
            <a:srgbClr val="EDEBE3"/>
          </a:solidFill>
          <a:ln/>
        </p:spPr>
      </p:sp>
      <p:sp>
        <p:nvSpPr>
          <p:cNvPr id="8" name="Text 6"/>
          <p:cNvSpPr/>
          <p:nvPr/>
        </p:nvSpPr>
        <p:spPr>
          <a:xfrm>
            <a:off x="972383" y="3632359"/>
            <a:ext cx="2232779" cy="278963"/>
          </a:xfrm>
          <a:prstGeom prst="rect">
            <a:avLst/>
          </a:prstGeom>
          <a:noFill/>
          <a:ln/>
        </p:spPr>
        <p:txBody>
          <a:bodyPr wrap="none" lIns="0" tIns="0" rIns="0" bIns="0" rtlCol="0" anchor="t"/>
          <a:lstStyle/>
          <a:p>
            <a:pPr algn="l" indent="0" marL="0">
              <a:lnSpc>
                <a:spcPts val="2150"/>
              </a:lnSpc>
              <a:buNone/>
            </a:pPr>
            <a:r>
              <a:rPr lang="en-US" sz="1750" dirty="0">
                <a:solidFill>
                  <a:srgbClr val="161613"/>
                </a:solidFill>
                <a:latin typeface="DM Sans Medium" pitchFamily="34" charset="0"/>
                <a:ea typeface="DM Sans Medium" pitchFamily="34" charset="-122"/>
                <a:cs typeface="DM Sans Medium" pitchFamily="34" charset="-120"/>
              </a:rPr>
              <a:t>WiFi Characteristics</a:t>
            </a:r>
            <a:endParaRPr lang="en-US" sz="1750" dirty="0"/>
          </a:p>
        </p:txBody>
      </p:sp>
      <p:sp>
        <p:nvSpPr>
          <p:cNvPr id="9" name="Text 7"/>
          <p:cNvSpPr/>
          <p:nvPr/>
        </p:nvSpPr>
        <p:spPr>
          <a:xfrm>
            <a:off x="972383" y="4007763"/>
            <a:ext cx="6083856" cy="1582103"/>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161613"/>
                </a:solidFill>
                <a:latin typeface="Inter" pitchFamily="34" charset="0"/>
                <a:ea typeface="Inter" pitchFamily="34" charset="-122"/>
                <a:cs typeface="Inter" pitchFamily="34" charset="-120"/>
              </a:rPr>
              <a:t>2831 fingerprints with coordinates</a:t>
            </a:r>
            <a:endParaRPr lang="en-US" sz="1400" dirty="0"/>
          </a:p>
          <a:p>
            <a:pPr algn="l" marL="342900" indent="-342900">
              <a:lnSpc>
                <a:spcPts val="2100"/>
              </a:lnSpc>
              <a:buSzPct val="100000"/>
              <a:buChar char="•"/>
            </a:pPr>
            <a:r>
              <a:rPr lang="en-US" sz="1400" dirty="0">
                <a:solidFill>
                  <a:srgbClr val="161613"/>
                </a:solidFill>
                <a:latin typeface="Inter" pitchFamily="34" charset="0"/>
                <a:ea typeface="Inter" pitchFamily="34" charset="-122"/>
                <a:cs typeface="Inter" pitchFamily="34" charset="-120"/>
              </a:rPr>
              <a:t>1425 unique routers detected</a:t>
            </a:r>
            <a:endParaRPr lang="en-US" sz="1400" dirty="0"/>
          </a:p>
          <a:p>
            <a:pPr algn="l" marL="342900" indent="-342900">
              <a:lnSpc>
                <a:spcPts val="2100"/>
              </a:lnSpc>
              <a:buSzPct val="100000"/>
              <a:buChar char="•"/>
            </a:pPr>
            <a:r>
              <a:rPr lang="en-US" sz="1400" dirty="0">
                <a:solidFill>
                  <a:srgbClr val="161613"/>
                </a:solidFill>
                <a:latin typeface="Inter" pitchFamily="34" charset="0"/>
                <a:ea typeface="Inter" pitchFamily="34" charset="-122"/>
                <a:cs typeface="Inter" pitchFamily="34" charset="-120"/>
              </a:rPr>
              <a:t>~78 APs per location on average</a:t>
            </a:r>
            <a:endParaRPr lang="en-US" sz="1400" dirty="0"/>
          </a:p>
          <a:p>
            <a:pPr algn="l" marL="342900" indent="-342900">
              <a:lnSpc>
                <a:spcPts val="2100"/>
              </a:lnSpc>
              <a:buSzPct val="100000"/>
              <a:buChar char="•"/>
            </a:pPr>
            <a:r>
              <a:rPr lang="en-US" sz="1400" dirty="0">
                <a:solidFill>
                  <a:srgbClr val="161613"/>
                </a:solidFill>
                <a:latin typeface="Inter" pitchFamily="34" charset="0"/>
                <a:ea typeface="Inter" pitchFamily="34" charset="-122"/>
                <a:cs typeface="Inter" pitchFamily="34" charset="-120"/>
              </a:rPr>
              <a:t>RSS centered at -72 dBm</a:t>
            </a:r>
            <a:endParaRPr lang="en-US" sz="1400" dirty="0"/>
          </a:p>
          <a:p>
            <a:pPr algn="l" marL="342900" indent="-342900">
              <a:lnSpc>
                <a:spcPts val="2100"/>
              </a:lnSpc>
              <a:buSzPct val="100000"/>
              <a:buChar char="•"/>
            </a:pPr>
            <a:r>
              <a:rPr lang="en-US" sz="1400" dirty="0">
                <a:solidFill>
                  <a:srgbClr val="161613"/>
                </a:solidFill>
                <a:latin typeface="Inter" pitchFamily="34" charset="0"/>
                <a:ea typeface="Inter" pitchFamily="34" charset="-122"/>
                <a:cs typeface="Inter" pitchFamily="34" charset="-120"/>
              </a:rPr>
              <a:t>&lt;0.1% missing values</a:t>
            </a:r>
            <a:endParaRPr lang="en-US" sz="1400" dirty="0"/>
          </a:p>
        </p:txBody>
      </p:sp>
      <p:sp>
        <p:nvSpPr>
          <p:cNvPr id="10" name="Shape 8"/>
          <p:cNvSpPr/>
          <p:nvPr/>
        </p:nvSpPr>
        <p:spPr>
          <a:xfrm>
            <a:off x="7395567" y="3453765"/>
            <a:ext cx="6441043" cy="2314694"/>
          </a:xfrm>
          <a:prstGeom prst="roundRect">
            <a:avLst>
              <a:gd name="adj" fmla="val 1158"/>
            </a:avLst>
          </a:prstGeom>
          <a:solidFill>
            <a:srgbClr val="EDEBE3"/>
          </a:solidFill>
          <a:ln/>
        </p:spPr>
      </p:sp>
      <p:sp>
        <p:nvSpPr>
          <p:cNvPr id="11" name="Text 9"/>
          <p:cNvSpPr/>
          <p:nvPr/>
        </p:nvSpPr>
        <p:spPr>
          <a:xfrm>
            <a:off x="7574161" y="3632359"/>
            <a:ext cx="2232779" cy="278963"/>
          </a:xfrm>
          <a:prstGeom prst="rect">
            <a:avLst/>
          </a:prstGeom>
          <a:noFill/>
          <a:ln/>
        </p:spPr>
        <p:txBody>
          <a:bodyPr wrap="none" lIns="0" tIns="0" rIns="0" bIns="0" rtlCol="0" anchor="t"/>
          <a:lstStyle/>
          <a:p>
            <a:pPr algn="l" indent="0" marL="0">
              <a:lnSpc>
                <a:spcPts val="2150"/>
              </a:lnSpc>
              <a:buNone/>
            </a:pPr>
            <a:r>
              <a:rPr lang="en-US" sz="1750" dirty="0">
                <a:solidFill>
                  <a:srgbClr val="161613"/>
                </a:solidFill>
                <a:latin typeface="DM Sans Medium" pitchFamily="34" charset="0"/>
                <a:ea typeface="DM Sans Medium" pitchFamily="34" charset="-122"/>
                <a:cs typeface="DM Sans Medium" pitchFamily="34" charset="-120"/>
              </a:rPr>
              <a:t>Magnetic Signatures</a:t>
            </a:r>
            <a:endParaRPr lang="en-US" sz="1750" dirty="0"/>
          </a:p>
        </p:txBody>
      </p:sp>
      <p:sp>
        <p:nvSpPr>
          <p:cNvPr id="12" name="Text 10"/>
          <p:cNvSpPr/>
          <p:nvPr/>
        </p:nvSpPr>
        <p:spPr>
          <a:xfrm>
            <a:off x="7574161" y="4007763"/>
            <a:ext cx="6083856" cy="1582103"/>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161613"/>
                </a:solidFill>
                <a:latin typeface="Inter" pitchFamily="34" charset="0"/>
                <a:ea typeface="Inter" pitchFamily="34" charset="-122"/>
                <a:cs typeface="Inter" pitchFamily="34" charset="-120"/>
              </a:rPr>
              <a:t>Stable signal distribution</a:t>
            </a:r>
            <a:endParaRPr lang="en-US" sz="1400" dirty="0"/>
          </a:p>
          <a:p>
            <a:pPr algn="l" marL="342900" indent="-342900">
              <a:lnSpc>
                <a:spcPts val="2100"/>
              </a:lnSpc>
              <a:buSzPct val="100000"/>
              <a:buChar char="•"/>
            </a:pPr>
            <a:r>
              <a:rPr lang="en-US" sz="1400" dirty="0">
                <a:solidFill>
                  <a:srgbClr val="161613"/>
                </a:solidFill>
                <a:latin typeface="Inter" pitchFamily="34" charset="0"/>
                <a:ea typeface="Inter" pitchFamily="34" charset="-122"/>
                <a:cs typeface="Inter" pitchFamily="34" charset="-120"/>
              </a:rPr>
              <a:t>Mean magnitude ~44 µT</a:t>
            </a:r>
            <a:endParaRPr lang="en-US" sz="1400" dirty="0"/>
          </a:p>
          <a:p>
            <a:pPr algn="l" marL="342900" indent="-342900">
              <a:lnSpc>
                <a:spcPts val="2100"/>
              </a:lnSpc>
              <a:buSzPct val="100000"/>
              <a:buChar char="•"/>
            </a:pPr>
            <a:r>
              <a:rPr lang="en-US" sz="1400" dirty="0">
                <a:solidFill>
                  <a:srgbClr val="161613"/>
                </a:solidFill>
                <a:latin typeface="Inter" pitchFamily="34" charset="0"/>
                <a:ea typeface="Inter" pitchFamily="34" charset="-122"/>
                <a:cs typeface="Inter" pitchFamily="34" charset="-120"/>
              </a:rPr>
              <a:t>Range 18-66 µT</a:t>
            </a:r>
            <a:endParaRPr lang="en-US" sz="1400" dirty="0"/>
          </a:p>
          <a:p>
            <a:pPr algn="l" marL="342900" indent="-342900">
              <a:lnSpc>
                <a:spcPts val="2100"/>
              </a:lnSpc>
              <a:buSzPct val="100000"/>
              <a:buChar char="•"/>
            </a:pPr>
            <a:r>
              <a:rPr lang="en-US" sz="1400" dirty="0">
                <a:solidFill>
                  <a:srgbClr val="161613"/>
                </a:solidFill>
                <a:latin typeface="Inter" pitchFamily="34" charset="0"/>
                <a:ea typeface="Inter" pitchFamily="34" charset="-122"/>
                <a:cs typeface="Inter" pitchFamily="34" charset="-120"/>
              </a:rPr>
              <a:t>Useful for fingerprinting</a:t>
            </a:r>
            <a:endParaRPr lang="en-US" sz="1400" dirty="0"/>
          </a:p>
          <a:p>
            <a:pPr algn="l" marL="342900" indent="-342900">
              <a:lnSpc>
                <a:spcPts val="2100"/>
              </a:lnSpc>
              <a:buSzPct val="100000"/>
              <a:buChar char="•"/>
            </a:pPr>
            <a:r>
              <a:rPr lang="en-US" sz="1400" dirty="0">
                <a:solidFill>
                  <a:srgbClr val="161613"/>
                </a:solidFill>
                <a:latin typeface="Inter" pitchFamily="34" charset="0"/>
                <a:ea typeface="Inter" pitchFamily="34" charset="-122"/>
                <a:cs typeface="Inter" pitchFamily="34" charset="-120"/>
              </a:rPr>
              <a:t>Time-invariant features</a:t>
            </a:r>
            <a:endParaRPr lang="en-US" sz="1400" dirty="0"/>
          </a:p>
        </p:txBody>
      </p:sp>
      <p:sp>
        <p:nvSpPr>
          <p:cNvPr id="13" name="Shape 11"/>
          <p:cNvSpPr/>
          <p:nvPr/>
        </p:nvSpPr>
        <p:spPr>
          <a:xfrm>
            <a:off x="793790" y="5949315"/>
            <a:ext cx="13042821" cy="1693426"/>
          </a:xfrm>
          <a:prstGeom prst="roundRect">
            <a:avLst>
              <a:gd name="adj" fmla="val 1582"/>
            </a:avLst>
          </a:prstGeom>
          <a:solidFill>
            <a:srgbClr val="D6D6DC"/>
          </a:solidFill>
          <a:ln/>
        </p:spPr>
      </p:sp>
      <p:pic>
        <p:nvPicPr>
          <p:cNvPr id="14" name="Image 0" descr="preencoded.png">    </p:cNvPr>
          <p:cNvPicPr>
            <a:picLocks noChangeAspect="1"/>
          </p:cNvPicPr>
          <p:nvPr/>
        </p:nvPicPr>
        <p:blipFill>
          <a:blip r:embed="rId1"/>
          <a:stretch>
            <a:fillRect/>
          </a:stretch>
        </p:blipFill>
        <p:spPr>
          <a:xfrm>
            <a:off x="972383" y="6172676"/>
            <a:ext cx="279083" cy="223242"/>
          </a:xfrm>
          <a:prstGeom prst="rect">
            <a:avLst/>
          </a:prstGeom>
        </p:spPr>
      </p:pic>
      <p:sp>
        <p:nvSpPr>
          <p:cNvPr id="15" name="Text 12"/>
          <p:cNvSpPr/>
          <p:nvPr/>
        </p:nvSpPr>
        <p:spPr>
          <a:xfrm>
            <a:off x="1430060" y="6154698"/>
            <a:ext cx="4481155" cy="278963"/>
          </a:xfrm>
          <a:prstGeom prst="rect">
            <a:avLst/>
          </a:prstGeom>
          <a:noFill/>
          <a:ln/>
        </p:spPr>
        <p:txBody>
          <a:bodyPr wrap="none" lIns="0" tIns="0" rIns="0" bIns="0" rtlCol="0" anchor="t"/>
          <a:lstStyle/>
          <a:p>
            <a:pPr algn="l" indent="0" marL="0">
              <a:lnSpc>
                <a:spcPts val="2150"/>
              </a:lnSpc>
              <a:buNone/>
            </a:pPr>
            <a:r>
              <a:rPr lang="en-US" sz="1750" dirty="0">
                <a:solidFill>
                  <a:srgbClr val="000000"/>
                </a:solidFill>
                <a:latin typeface="DM Sans Medium" pitchFamily="34" charset="0"/>
                <a:ea typeface="DM Sans Medium" pitchFamily="34" charset="-122"/>
                <a:cs typeface="DM Sans Medium" pitchFamily="34" charset="-120"/>
              </a:rPr>
              <a:t>Expected Benefits of Hybrid Sensor Fusion</a:t>
            </a:r>
            <a:endParaRPr lang="en-US" sz="1750" dirty="0"/>
          </a:p>
        </p:txBody>
      </p:sp>
      <p:sp>
        <p:nvSpPr>
          <p:cNvPr id="16" name="Text 13"/>
          <p:cNvSpPr/>
          <p:nvPr/>
        </p:nvSpPr>
        <p:spPr>
          <a:xfrm>
            <a:off x="1430060" y="6594396"/>
            <a:ext cx="12227957" cy="814388"/>
          </a:xfrm>
          <a:prstGeom prst="rect">
            <a:avLst/>
          </a:prstGeom>
          <a:noFill/>
          <a:ln/>
        </p:spPr>
        <p:txBody>
          <a:bodyPr wrap="square" lIns="0" tIns="0" rIns="0" bIns="0" rtlCol="0" anchor="t"/>
          <a:lstStyle/>
          <a:p>
            <a:pPr algn="l" indent="0" marL="0">
              <a:lnSpc>
                <a:spcPts val="2100"/>
              </a:lnSpc>
              <a:buNone/>
            </a:pPr>
            <a:r>
              <a:rPr lang="en-US" sz="1400" dirty="0">
                <a:solidFill>
                  <a:srgbClr val="000000"/>
                </a:solidFill>
                <a:latin typeface="Inter" pitchFamily="34" charset="0"/>
                <a:ea typeface="Inter" pitchFamily="34" charset="-122"/>
                <a:cs typeface="Inter" pitchFamily="34" charset="-120"/>
              </a:rPr>
              <a:t>The combination of WiFi fingerprinting with magnetic field measurements and inertial sensors is expected to improve localization accuracy compared to single-sensor approaches. WiFi provides spatial discrimination through access point visibility patterns, magnetic fields offer time-invariant location signatures, and IMU sensors enable continuous tracking between fingerprint updates.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856417"/>
            <a:ext cx="13042821" cy="294203"/>
          </a:xfrm>
          <a:prstGeom prst="rect">
            <a:avLst/>
          </a:prstGeom>
          <a:noFill/>
          <a:ln/>
        </p:spPr>
        <p:txBody>
          <a:bodyPr wrap="none" lIns="0" tIns="0" rIns="0" bIns="0" rtlCol="0" anchor="t"/>
          <a:lstStyle/>
          <a:p>
            <a:pPr algn="l" indent="0" marL="0">
              <a:lnSpc>
                <a:spcPts val="2300"/>
              </a:lnSpc>
              <a:buNone/>
            </a:pPr>
            <a:endParaRPr lang="en-US" sz="1450" dirty="0"/>
          </a:p>
        </p:txBody>
      </p:sp>
      <p:sp>
        <p:nvSpPr>
          <p:cNvPr id="3" name="Text 1"/>
          <p:cNvSpPr/>
          <p:nvPr/>
        </p:nvSpPr>
        <p:spPr>
          <a:xfrm>
            <a:off x="793790" y="1329690"/>
            <a:ext cx="6316385" cy="353378"/>
          </a:xfrm>
          <a:prstGeom prst="rect">
            <a:avLst/>
          </a:prstGeom>
          <a:noFill/>
          <a:ln/>
        </p:spPr>
        <p:txBody>
          <a:bodyPr wrap="none" lIns="0" tIns="0" rIns="0" bIns="0" rtlCol="0" anchor="t"/>
          <a:lstStyle/>
          <a:p>
            <a:pPr algn="l" indent="0" marL="0">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Next Phase: Model Development and Evaluation</a:t>
            </a:r>
            <a:endParaRPr lang="en-US" sz="2200" dirty="0"/>
          </a:p>
        </p:txBody>
      </p:sp>
      <p:sp>
        <p:nvSpPr>
          <p:cNvPr id="4" name="Shape 2"/>
          <p:cNvSpPr/>
          <p:nvPr/>
        </p:nvSpPr>
        <p:spPr>
          <a:xfrm>
            <a:off x="7303770" y="1951673"/>
            <a:ext cx="22860" cy="5582603"/>
          </a:xfrm>
          <a:prstGeom prst="roundRect">
            <a:avLst>
              <a:gd name="adj" fmla="val 123721"/>
            </a:avLst>
          </a:prstGeom>
          <a:solidFill>
            <a:srgbClr val="D3D1C9"/>
          </a:solidFill>
          <a:ln/>
        </p:spPr>
      </p:sp>
      <p:sp>
        <p:nvSpPr>
          <p:cNvPr id="5" name="Shape 3"/>
          <p:cNvSpPr/>
          <p:nvPr/>
        </p:nvSpPr>
        <p:spPr>
          <a:xfrm>
            <a:off x="6560403" y="2152293"/>
            <a:ext cx="565547" cy="22860"/>
          </a:xfrm>
          <a:prstGeom prst="roundRect">
            <a:avLst>
              <a:gd name="adj" fmla="val 123721"/>
            </a:avLst>
          </a:prstGeom>
          <a:solidFill>
            <a:srgbClr val="D3D1C9"/>
          </a:solidFill>
          <a:ln/>
        </p:spPr>
      </p:sp>
      <p:sp>
        <p:nvSpPr>
          <p:cNvPr id="6" name="Shape 4"/>
          <p:cNvSpPr/>
          <p:nvPr/>
        </p:nvSpPr>
        <p:spPr>
          <a:xfrm>
            <a:off x="7103090" y="1951673"/>
            <a:ext cx="424220" cy="424220"/>
          </a:xfrm>
          <a:prstGeom prst="roundRect">
            <a:avLst>
              <a:gd name="adj" fmla="val 6667"/>
            </a:avLst>
          </a:prstGeom>
          <a:solidFill>
            <a:srgbClr val="EDEBE3"/>
          </a:solidFill>
          <a:ln/>
        </p:spPr>
      </p:sp>
      <p:sp>
        <p:nvSpPr>
          <p:cNvPr id="7" name="Text 5"/>
          <p:cNvSpPr/>
          <p:nvPr/>
        </p:nvSpPr>
        <p:spPr>
          <a:xfrm>
            <a:off x="7173754" y="1986975"/>
            <a:ext cx="282773" cy="353497"/>
          </a:xfrm>
          <a:prstGeom prst="rect">
            <a:avLst/>
          </a:prstGeom>
          <a:noFill/>
          <a:ln/>
        </p:spPr>
        <p:txBody>
          <a:bodyPr wrap="none" lIns="0" tIns="0" rIns="0" bIns="0" rtlCol="0" anchor="t"/>
          <a:lstStyle/>
          <a:p>
            <a:pPr algn="ctr" indent="0" marL="0">
              <a:lnSpc>
                <a:spcPts val="2200"/>
              </a:lnSpc>
              <a:buNone/>
            </a:pPr>
            <a:r>
              <a:rPr lang="en-US" sz="2200" dirty="0">
                <a:solidFill>
                  <a:srgbClr val="161613"/>
                </a:solidFill>
                <a:latin typeface="DM Sans Medium" pitchFamily="34" charset="0"/>
                <a:ea typeface="DM Sans Medium" pitchFamily="34" charset="-122"/>
                <a:cs typeface="DM Sans Medium" pitchFamily="34" charset="-120"/>
              </a:rPr>
              <a:t>1</a:t>
            </a:r>
            <a:endParaRPr lang="en-US" sz="2200" dirty="0"/>
          </a:p>
        </p:txBody>
      </p:sp>
      <p:sp>
        <p:nvSpPr>
          <p:cNvPr id="8" name="Text 6"/>
          <p:cNvSpPr/>
          <p:nvPr/>
        </p:nvSpPr>
        <p:spPr>
          <a:xfrm>
            <a:off x="3210044" y="2016442"/>
            <a:ext cx="3162419" cy="294680"/>
          </a:xfrm>
          <a:prstGeom prst="rect">
            <a:avLst/>
          </a:prstGeom>
          <a:noFill/>
          <a:ln/>
        </p:spPr>
        <p:txBody>
          <a:bodyPr wrap="none" lIns="0" tIns="0" rIns="0" bIns="0" rtlCol="0" anchor="t"/>
          <a:lstStyle/>
          <a:p>
            <a:pPr algn="r" indent="0" marL="0">
              <a:lnSpc>
                <a:spcPts val="2300"/>
              </a:lnSpc>
              <a:buNone/>
            </a:pPr>
            <a:r>
              <a:rPr lang="en-US" sz="1850" dirty="0">
                <a:solidFill>
                  <a:srgbClr val="161613"/>
                </a:solidFill>
                <a:latin typeface="DM Sans Medium" pitchFamily="34" charset="0"/>
                <a:ea typeface="DM Sans Medium" pitchFamily="34" charset="-122"/>
                <a:cs typeface="DM Sans Medium" pitchFamily="34" charset="-120"/>
              </a:rPr>
              <a:t>Feature Vector Construction</a:t>
            </a:r>
            <a:endParaRPr lang="en-US" sz="1850" dirty="0"/>
          </a:p>
        </p:txBody>
      </p:sp>
      <p:sp>
        <p:nvSpPr>
          <p:cNvPr id="9" name="Text 7"/>
          <p:cNvSpPr/>
          <p:nvPr/>
        </p:nvSpPr>
        <p:spPr>
          <a:xfrm>
            <a:off x="793790" y="2418517"/>
            <a:ext cx="5578673" cy="882610"/>
          </a:xfrm>
          <a:prstGeom prst="rect">
            <a:avLst/>
          </a:prstGeom>
          <a:noFill/>
          <a:ln/>
        </p:spPr>
        <p:txBody>
          <a:bodyPr wrap="square" lIns="0" tIns="0" rIns="0" bIns="0" rtlCol="0" anchor="t"/>
          <a:lstStyle/>
          <a:p>
            <a:pPr algn="r" indent="0" marL="0">
              <a:lnSpc>
                <a:spcPts val="2300"/>
              </a:lnSpc>
              <a:buNone/>
            </a:pPr>
            <a:r>
              <a:rPr lang="en-US" sz="1450" dirty="0">
                <a:solidFill>
                  <a:srgbClr val="161613"/>
                </a:solidFill>
                <a:latin typeface="Inter" pitchFamily="34" charset="0"/>
                <a:ea typeface="Inter" pitchFamily="34" charset="-122"/>
                <a:cs typeface="Inter" pitchFamily="34" charset="-120"/>
              </a:rPr>
              <a:t>Convert raw WiFi fingerprints into structured feature vectors with consistent dimensionality, handling missing values and access point variability</a:t>
            </a:r>
            <a:endParaRPr lang="en-US" sz="1450" dirty="0"/>
          </a:p>
        </p:txBody>
      </p:sp>
      <p:sp>
        <p:nvSpPr>
          <p:cNvPr id="10" name="Shape 8"/>
          <p:cNvSpPr/>
          <p:nvPr/>
        </p:nvSpPr>
        <p:spPr>
          <a:xfrm>
            <a:off x="7504450" y="3264575"/>
            <a:ext cx="565547" cy="22860"/>
          </a:xfrm>
          <a:prstGeom prst="roundRect">
            <a:avLst>
              <a:gd name="adj" fmla="val 123721"/>
            </a:avLst>
          </a:prstGeom>
          <a:solidFill>
            <a:srgbClr val="D3D1C9"/>
          </a:solidFill>
          <a:ln/>
        </p:spPr>
      </p:sp>
      <p:sp>
        <p:nvSpPr>
          <p:cNvPr id="11" name="Shape 9"/>
          <p:cNvSpPr/>
          <p:nvPr/>
        </p:nvSpPr>
        <p:spPr>
          <a:xfrm>
            <a:off x="7103090" y="3063954"/>
            <a:ext cx="424220" cy="424220"/>
          </a:xfrm>
          <a:prstGeom prst="roundRect">
            <a:avLst>
              <a:gd name="adj" fmla="val 6667"/>
            </a:avLst>
          </a:prstGeom>
          <a:solidFill>
            <a:srgbClr val="EDEBE3"/>
          </a:solidFill>
          <a:ln/>
        </p:spPr>
      </p:sp>
      <p:sp>
        <p:nvSpPr>
          <p:cNvPr id="12" name="Text 10"/>
          <p:cNvSpPr/>
          <p:nvPr/>
        </p:nvSpPr>
        <p:spPr>
          <a:xfrm>
            <a:off x="7173754" y="3099256"/>
            <a:ext cx="282773" cy="353497"/>
          </a:xfrm>
          <a:prstGeom prst="rect">
            <a:avLst/>
          </a:prstGeom>
          <a:noFill/>
          <a:ln/>
        </p:spPr>
        <p:txBody>
          <a:bodyPr wrap="none" lIns="0" tIns="0" rIns="0" bIns="0" rtlCol="0" anchor="t"/>
          <a:lstStyle/>
          <a:p>
            <a:pPr algn="ctr" indent="0" marL="0">
              <a:lnSpc>
                <a:spcPts val="2200"/>
              </a:lnSpc>
              <a:buNone/>
            </a:pPr>
            <a:r>
              <a:rPr lang="en-US" sz="2200" dirty="0">
                <a:solidFill>
                  <a:srgbClr val="161613"/>
                </a:solidFill>
                <a:latin typeface="DM Sans Medium" pitchFamily="34" charset="0"/>
                <a:ea typeface="DM Sans Medium" pitchFamily="34" charset="-122"/>
                <a:cs typeface="DM Sans Medium" pitchFamily="34" charset="-120"/>
              </a:rPr>
              <a:t>2</a:t>
            </a:r>
            <a:endParaRPr lang="en-US" sz="2200" dirty="0"/>
          </a:p>
        </p:txBody>
      </p:sp>
      <p:sp>
        <p:nvSpPr>
          <p:cNvPr id="13" name="Text 11"/>
          <p:cNvSpPr/>
          <p:nvPr/>
        </p:nvSpPr>
        <p:spPr>
          <a:xfrm>
            <a:off x="8257937" y="3128724"/>
            <a:ext cx="3010614" cy="294680"/>
          </a:xfrm>
          <a:prstGeom prst="rect">
            <a:avLst/>
          </a:prstGeom>
          <a:noFill/>
          <a:ln/>
        </p:spPr>
        <p:txBody>
          <a:bodyPr wrap="none" lIns="0" tIns="0" rIns="0" bIns="0" rtlCol="0" anchor="t"/>
          <a:lstStyle/>
          <a:p>
            <a:pPr algn="l" indent="0" marL="0">
              <a:lnSpc>
                <a:spcPts val="2300"/>
              </a:lnSpc>
              <a:buNone/>
            </a:pPr>
            <a:r>
              <a:rPr lang="en-US" sz="1850" dirty="0">
                <a:solidFill>
                  <a:srgbClr val="161613"/>
                </a:solidFill>
                <a:latin typeface="DM Sans Medium" pitchFamily="34" charset="0"/>
                <a:ea typeface="DM Sans Medium" pitchFamily="34" charset="-122"/>
                <a:cs typeface="DM Sans Medium" pitchFamily="34" charset="-120"/>
              </a:rPr>
              <a:t>Sensor Fusion Architecture</a:t>
            </a:r>
            <a:endParaRPr lang="en-US" sz="1850" dirty="0"/>
          </a:p>
        </p:txBody>
      </p:sp>
      <p:sp>
        <p:nvSpPr>
          <p:cNvPr id="14" name="Text 12"/>
          <p:cNvSpPr/>
          <p:nvPr/>
        </p:nvSpPr>
        <p:spPr>
          <a:xfrm>
            <a:off x="8257937" y="3530798"/>
            <a:ext cx="5578673" cy="882610"/>
          </a:xfrm>
          <a:prstGeom prst="rect">
            <a:avLst/>
          </a:prstGeom>
          <a:noFill/>
          <a:ln/>
        </p:spPr>
        <p:txBody>
          <a:bodyPr wrap="square" lIns="0" tIns="0" rIns="0" bIns="0" rtlCol="0" anchor="t"/>
          <a:lstStyle/>
          <a:p>
            <a:pPr algn="l" indent="0" marL="0">
              <a:lnSpc>
                <a:spcPts val="2300"/>
              </a:lnSpc>
              <a:buNone/>
            </a:pPr>
            <a:r>
              <a:rPr lang="en-US" sz="1450" dirty="0">
                <a:solidFill>
                  <a:srgbClr val="161613"/>
                </a:solidFill>
                <a:latin typeface="Inter" pitchFamily="34" charset="0"/>
                <a:ea typeface="Inter" pitchFamily="34" charset="-122"/>
                <a:cs typeface="Inter" pitchFamily="34" charset="-120"/>
              </a:rPr>
              <a:t>Design integration framework combining WiFi RSS, magnetic magnitude, and IMU-derived features into unified representation</a:t>
            </a:r>
            <a:endParaRPr lang="en-US" sz="1450" dirty="0"/>
          </a:p>
        </p:txBody>
      </p:sp>
      <p:sp>
        <p:nvSpPr>
          <p:cNvPr id="15" name="Shape 13"/>
          <p:cNvSpPr/>
          <p:nvPr/>
        </p:nvSpPr>
        <p:spPr>
          <a:xfrm>
            <a:off x="6560403" y="4230172"/>
            <a:ext cx="565547" cy="22860"/>
          </a:xfrm>
          <a:prstGeom prst="roundRect">
            <a:avLst>
              <a:gd name="adj" fmla="val 123721"/>
            </a:avLst>
          </a:prstGeom>
          <a:solidFill>
            <a:srgbClr val="D3D1C9"/>
          </a:solidFill>
          <a:ln/>
        </p:spPr>
      </p:sp>
      <p:sp>
        <p:nvSpPr>
          <p:cNvPr id="16" name="Shape 14"/>
          <p:cNvSpPr/>
          <p:nvPr/>
        </p:nvSpPr>
        <p:spPr>
          <a:xfrm>
            <a:off x="7103090" y="4029551"/>
            <a:ext cx="424220" cy="424220"/>
          </a:xfrm>
          <a:prstGeom prst="roundRect">
            <a:avLst>
              <a:gd name="adj" fmla="val 6667"/>
            </a:avLst>
          </a:prstGeom>
          <a:solidFill>
            <a:srgbClr val="EDEBE3"/>
          </a:solidFill>
          <a:ln/>
        </p:spPr>
      </p:sp>
      <p:sp>
        <p:nvSpPr>
          <p:cNvPr id="17" name="Text 15"/>
          <p:cNvSpPr/>
          <p:nvPr/>
        </p:nvSpPr>
        <p:spPr>
          <a:xfrm>
            <a:off x="7173754" y="4064853"/>
            <a:ext cx="282773" cy="353497"/>
          </a:xfrm>
          <a:prstGeom prst="rect">
            <a:avLst/>
          </a:prstGeom>
          <a:noFill/>
          <a:ln/>
        </p:spPr>
        <p:txBody>
          <a:bodyPr wrap="none" lIns="0" tIns="0" rIns="0" bIns="0" rtlCol="0" anchor="t"/>
          <a:lstStyle/>
          <a:p>
            <a:pPr algn="ctr" indent="0" marL="0">
              <a:lnSpc>
                <a:spcPts val="2200"/>
              </a:lnSpc>
              <a:buNone/>
            </a:pPr>
            <a:r>
              <a:rPr lang="en-US" sz="2200" dirty="0">
                <a:solidFill>
                  <a:srgbClr val="161613"/>
                </a:solidFill>
                <a:latin typeface="DM Sans Medium" pitchFamily="34" charset="0"/>
                <a:ea typeface="DM Sans Medium" pitchFamily="34" charset="-122"/>
                <a:cs typeface="DM Sans Medium" pitchFamily="34" charset="-120"/>
              </a:rPr>
              <a:t>3</a:t>
            </a:r>
            <a:endParaRPr lang="en-US" sz="2200" dirty="0"/>
          </a:p>
        </p:txBody>
      </p:sp>
      <p:sp>
        <p:nvSpPr>
          <p:cNvPr id="18" name="Text 16"/>
          <p:cNvSpPr/>
          <p:nvPr/>
        </p:nvSpPr>
        <p:spPr>
          <a:xfrm>
            <a:off x="3216712" y="4094321"/>
            <a:ext cx="3155752" cy="294680"/>
          </a:xfrm>
          <a:prstGeom prst="rect">
            <a:avLst/>
          </a:prstGeom>
          <a:noFill/>
          <a:ln/>
        </p:spPr>
        <p:txBody>
          <a:bodyPr wrap="none" lIns="0" tIns="0" rIns="0" bIns="0" rtlCol="0" anchor="t"/>
          <a:lstStyle/>
          <a:p>
            <a:pPr algn="r" indent="0" marL="0">
              <a:lnSpc>
                <a:spcPts val="2300"/>
              </a:lnSpc>
              <a:buNone/>
            </a:pPr>
            <a:r>
              <a:rPr lang="en-US" sz="1850" dirty="0">
                <a:solidFill>
                  <a:srgbClr val="161613"/>
                </a:solidFill>
                <a:latin typeface="DM Sans Medium" pitchFamily="34" charset="0"/>
                <a:ea typeface="DM Sans Medium" pitchFamily="34" charset="-122"/>
                <a:cs typeface="DM Sans Medium" pitchFamily="34" charset="-120"/>
              </a:rPr>
              <a:t>Training Dataset Preparation</a:t>
            </a:r>
            <a:endParaRPr lang="en-US" sz="1850" dirty="0"/>
          </a:p>
        </p:txBody>
      </p:sp>
      <p:sp>
        <p:nvSpPr>
          <p:cNvPr id="19" name="Text 17"/>
          <p:cNvSpPr/>
          <p:nvPr/>
        </p:nvSpPr>
        <p:spPr>
          <a:xfrm>
            <a:off x="793790" y="4496395"/>
            <a:ext cx="5578673" cy="882610"/>
          </a:xfrm>
          <a:prstGeom prst="rect">
            <a:avLst/>
          </a:prstGeom>
          <a:noFill/>
          <a:ln/>
        </p:spPr>
        <p:txBody>
          <a:bodyPr wrap="square" lIns="0" tIns="0" rIns="0" bIns="0" rtlCol="0" anchor="t"/>
          <a:lstStyle/>
          <a:p>
            <a:pPr algn="r" indent="0" marL="0">
              <a:lnSpc>
                <a:spcPts val="2300"/>
              </a:lnSpc>
              <a:buNone/>
            </a:pPr>
            <a:r>
              <a:rPr lang="en-US" sz="1450" dirty="0">
                <a:solidFill>
                  <a:srgbClr val="161613"/>
                </a:solidFill>
                <a:latin typeface="Inter" pitchFamily="34" charset="0"/>
                <a:ea typeface="Inter" pitchFamily="34" charset="-122"/>
                <a:cs typeface="Inter" pitchFamily="34" charset="-120"/>
              </a:rPr>
              <a:t>Construct labeled training dataset with cross-validation folds, ensuring temporal independence between training and test sets</a:t>
            </a:r>
            <a:endParaRPr lang="en-US" sz="1450" dirty="0"/>
          </a:p>
        </p:txBody>
      </p:sp>
      <p:sp>
        <p:nvSpPr>
          <p:cNvPr id="20" name="Shape 18"/>
          <p:cNvSpPr/>
          <p:nvPr/>
        </p:nvSpPr>
        <p:spPr>
          <a:xfrm>
            <a:off x="7504450" y="5195888"/>
            <a:ext cx="565547" cy="22860"/>
          </a:xfrm>
          <a:prstGeom prst="roundRect">
            <a:avLst>
              <a:gd name="adj" fmla="val 123721"/>
            </a:avLst>
          </a:prstGeom>
          <a:solidFill>
            <a:srgbClr val="D3D1C9"/>
          </a:solidFill>
          <a:ln/>
        </p:spPr>
      </p:sp>
      <p:sp>
        <p:nvSpPr>
          <p:cNvPr id="21" name="Shape 19"/>
          <p:cNvSpPr/>
          <p:nvPr/>
        </p:nvSpPr>
        <p:spPr>
          <a:xfrm>
            <a:off x="7103090" y="4995267"/>
            <a:ext cx="424220" cy="424220"/>
          </a:xfrm>
          <a:prstGeom prst="roundRect">
            <a:avLst>
              <a:gd name="adj" fmla="val 6667"/>
            </a:avLst>
          </a:prstGeom>
          <a:solidFill>
            <a:srgbClr val="EDEBE3"/>
          </a:solidFill>
          <a:ln/>
        </p:spPr>
      </p:sp>
      <p:sp>
        <p:nvSpPr>
          <p:cNvPr id="22" name="Text 20"/>
          <p:cNvSpPr/>
          <p:nvPr/>
        </p:nvSpPr>
        <p:spPr>
          <a:xfrm>
            <a:off x="7173754" y="5030569"/>
            <a:ext cx="282773" cy="353497"/>
          </a:xfrm>
          <a:prstGeom prst="rect">
            <a:avLst/>
          </a:prstGeom>
          <a:noFill/>
          <a:ln/>
        </p:spPr>
        <p:txBody>
          <a:bodyPr wrap="none" lIns="0" tIns="0" rIns="0" bIns="0" rtlCol="0" anchor="t"/>
          <a:lstStyle/>
          <a:p>
            <a:pPr algn="ctr" indent="0" marL="0">
              <a:lnSpc>
                <a:spcPts val="2200"/>
              </a:lnSpc>
              <a:buNone/>
            </a:pPr>
            <a:r>
              <a:rPr lang="en-US" sz="2200" dirty="0">
                <a:solidFill>
                  <a:srgbClr val="161613"/>
                </a:solidFill>
                <a:latin typeface="DM Sans Medium" pitchFamily="34" charset="0"/>
                <a:ea typeface="DM Sans Medium" pitchFamily="34" charset="-122"/>
                <a:cs typeface="DM Sans Medium" pitchFamily="34" charset="-120"/>
              </a:rPr>
              <a:t>4</a:t>
            </a:r>
            <a:endParaRPr lang="en-US" sz="2200" dirty="0"/>
          </a:p>
        </p:txBody>
      </p:sp>
      <p:sp>
        <p:nvSpPr>
          <p:cNvPr id="23" name="Text 21"/>
          <p:cNvSpPr/>
          <p:nvPr/>
        </p:nvSpPr>
        <p:spPr>
          <a:xfrm>
            <a:off x="8257937" y="5060037"/>
            <a:ext cx="2504956" cy="294680"/>
          </a:xfrm>
          <a:prstGeom prst="rect">
            <a:avLst/>
          </a:prstGeom>
          <a:noFill/>
          <a:ln/>
        </p:spPr>
        <p:txBody>
          <a:bodyPr wrap="none" lIns="0" tIns="0" rIns="0" bIns="0" rtlCol="0" anchor="t"/>
          <a:lstStyle/>
          <a:p>
            <a:pPr algn="l" indent="0" marL="0">
              <a:lnSpc>
                <a:spcPts val="2300"/>
              </a:lnSpc>
              <a:buNone/>
            </a:pPr>
            <a:r>
              <a:rPr lang="en-US" sz="1850" dirty="0">
                <a:solidFill>
                  <a:srgbClr val="161613"/>
                </a:solidFill>
                <a:latin typeface="DM Sans Medium" pitchFamily="34" charset="0"/>
                <a:ea typeface="DM Sans Medium" pitchFamily="34" charset="-122"/>
                <a:cs typeface="DM Sans Medium" pitchFamily="34" charset="-120"/>
              </a:rPr>
              <a:t>Model Implementation</a:t>
            </a:r>
            <a:endParaRPr lang="en-US" sz="1850" dirty="0"/>
          </a:p>
        </p:txBody>
      </p:sp>
      <p:sp>
        <p:nvSpPr>
          <p:cNvPr id="24" name="Text 22"/>
          <p:cNvSpPr/>
          <p:nvPr/>
        </p:nvSpPr>
        <p:spPr>
          <a:xfrm>
            <a:off x="8257937" y="5462111"/>
            <a:ext cx="5578673" cy="882610"/>
          </a:xfrm>
          <a:prstGeom prst="rect">
            <a:avLst/>
          </a:prstGeom>
          <a:noFill/>
          <a:ln/>
        </p:spPr>
        <p:txBody>
          <a:bodyPr wrap="square" lIns="0" tIns="0" rIns="0" bIns="0" rtlCol="0" anchor="t"/>
          <a:lstStyle/>
          <a:p>
            <a:pPr algn="l" indent="0" marL="0">
              <a:lnSpc>
                <a:spcPts val="2300"/>
              </a:lnSpc>
              <a:buNone/>
            </a:pPr>
            <a:r>
              <a:rPr lang="en-US" sz="1450" dirty="0">
                <a:solidFill>
                  <a:srgbClr val="161613"/>
                </a:solidFill>
                <a:latin typeface="Inter" pitchFamily="34" charset="0"/>
                <a:ea typeface="Inter" pitchFamily="34" charset="-122"/>
                <a:cs typeface="Inter" pitchFamily="34" charset="-120"/>
              </a:rPr>
              <a:t>Implement and tune machine learning models including Random Forest, Gradient Boosting, k-Nearest Neighbors, and deep learning architectures</a:t>
            </a:r>
            <a:endParaRPr lang="en-US" sz="1450" dirty="0"/>
          </a:p>
        </p:txBody>
      </p:sp>
      <p:sp>
        <p:nvSpPr>
          <p:cNvPr id="25" name="Shape 23"/>
          <p:cNvSpPr/>
          <p:nvPr/>
        </p:nvSpPr>
        <p:spPr>
          <a:xfrm>
            <a:off x="6560403" y="6161603"/>
            <a:ext cx="565547" cy="22860"/>
          </a:xfrm>
          <a:prstGeom prst="roundRect">
            <a:avLst>
              <a:gd name="adj" fmla="val 123721"/>
            </a:avLst>
          </a:prstGeom>
          <a:solidFill>
            <a:srgbClr val="D3D1C9"/>
          </a:solidFill>
          <a:ln/>
        </p:spPr>
      </p:sp>
      <p:sp>
        <p:nvSpPr>
          <p:cNvPr id="26" name="Shape 24"/>
          <p:cNvSpPr/>
          <p:nvPr/>
        </p:nvSpPr>
        <p:spPr>
          <a:xfrm>
            <a:off x="7103090" y="5960983"/>
            <a:ext cx="424220" cy="424220"/>
          </a:xfrm>
          <a:prstGeom prst="roundRect">
            <a:avLst>
              <a:gd name="adj" fmla="val 6667"/>
            </a:avLst>
          </a:prstGeom>
          <a:solidFill>
            <a:srgbClr val="EDEBE3"/>
          </a:solidFill>
          <a:ln/>
        </p:spPr>
      </p:sp>
      <p:sp>
        <p:nvSpPr>
          <p:cNvPr id="27" name="Text 25"/>
          <p:cNvSpPr/>
          <p:nvPr/>
        </p:nvSpPr>
        <p:spPr>
          <a:xfrm>
            <a:off x="7173754" y="5996285"/>
            <a:ext cx="282773" cy="353497"/>
          </a:xfrm>
          <a:prstGeom prst="rect">
            <a:avLst/>
          </a:prstGeom>
          <a:noFill/>
          <a:ln/>
        </p:spPr>
        <p:txBody>
          <a:bodyPr wrap="none" lIns="0" tIns="0" rIns="0" bIns="0" rtlCol="0" anchor="t"/>
          <a:lstStyle/>
          <a:p>
            <a:pPr algn="ctr" indent="0" marL="0">
              <a:lnSpc>
                <a:spcPts val="2200"/>
              </a:lnSpc>
              <a:buNone/>
            </a:pPr>
            <a:r>
              <a:rPr lang="en-US" sz="2200" dirty="0">
                <a:solidFill>
                  <a:srgbClr val="161613"/>
                </a:solidFill>
                <a:latin typeface="DM Sans Medium" pitchFamily="34" charset="0"/>
                <a:ea typeface="DM Sans Medium" pitchFamily="34" charset="-122"/>
                <a:cs typeface="DM Sans Medium" pitchFamily="34" charset="-120"/>
              </a:rPr>
              <a:t>5</a:t>
            </a:r>
            <a:endParaRPr lang="en-US" sz="2200" dirty="0"/>
          </a:p>
        </p:txBody>
      </p:sp>
      <p:sp>
        <p:nvSpPr>
          <p:cNvPr id="28" name="Text 26"/>
          <p:cNvSpPr/>
          <p:nvPr/>
        </p:nvSpPr>
        <p:spPr>
          <a:xfrm>
            <a:off x="3301008" y="6025753"/>
            <a:ext cx="3071455" cy="294680"/>
          </a:xfrm>
          <a:prstGeom prst="rect">
            <a:avLst/>
          </a:prstGeom>
          <a:noFill/>
          <a:ln/>
        </p:spPr>
        <p:txBody>
          <a:bodyPr wrap="none" lIns="0" tIns="0" rIns="0" bIns="0" rtlCol="0" anchor="t"/>
          <a:lstStyle/>
          <a:p>
            <a:pPr algn="r" indent="0" marL="0">
              <a:lnSpc>
                <a:spcPts val="2300"/>
              </a:lnSpc>
              <a:buNone/>
            </a:pPr>
            <a:r>
              <a:rPr lang="en-US" sz="1850" dirty="0">
                <a:solidFill>
                  <a:srgbClr val="161613"/>
                </a:solidFill>
                <a:latin typeface="DM Sans Medium" pitchFamily="34" charset="0"/>
                <a:ea typeface="DM Sans Medium" pitchFamily="34" charset="-122"/>
                <a:cs typeface="DM Sans Medium" pitchFamily="34" charset="-120"/>
              </a:rPr>
              <a:t>Performance Benchmarking</a:t>
            </a:r>
            <a:endParaRPr lang="en-US" sz="1850" dirty="0"/>
          </a:p>
        </p:txBody>
      </p:sp>
      <p:sp>
        <p:nvSpPr>
          <p:cNvPr id="29" name="Text 27"/>
          <p:cNvSpPr/>
          <p:nvPr/>
        </p:nvSpPr>
        <p:spPr>
          <a:xfrm>
            <a:off x="793790" y="6427827"/>
            <a:ext cx="5578673" cy="882610"/>
          </a:xfrm>
          <a:prstGeom prst="rect">
            <a:avLst/>
          </a:prstGeom>
          <a:noFill/>
          <a:ln/>
        </p:spPr>
        <p:txBody>
          <a:bodyPr wrap="square" lIns="0" tIns="0" rIns="0" bIns="0" rtlCol="0" anchor="t"/>
          <a:lstStyle/>
          <a:p>
            <a:pPr algn="r" indent="0" marL="0">
              <a:lnSpc>
                <a:spcPts val="2300"/>
              </a:lnSpc>
              <a:buNone/>
            </a:pPr>
            <a:r>
              <a:rPr lang="en-US" sz="1450" dirty="0">
                <a:solidFill>
                  <a:srgbClr val="161613"/>
                </a:solidFill>
                <a:latin typeface="Inter" pitchFamily="34" charset="0"/>
                <a:ea typeface="Inter" pitchFamily="34" charset="-122"/>
                <a:cs typeface="Inter" pitchFamily="34" charset="-120"/>
              </a:rPr>
              <a:t>Compare localization accuracy against state-of-the-art methods using standard metrics and statistical significance testing</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2026-03-08T03:28:37Z</dcterms:created>
  <dcterms:modified xsi:type="dcterms:W3CDTF">2026-03-08T03:28:37Z</dcterms:modified>
</cp:coreProperties>
</file>