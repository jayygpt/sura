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0"/>
  </p:notesMasterIdLst>
  <p:sldIdLst>
    <p:sldId id="256" r:id="rId2"/>
    <p:sldId id="312" r:id="rId3"/>
    <p:sldId id="286" r:id="rId4"/>
    <p:sldId id="315" r:id="rId5"/>
    <p:sldId id="313" r:id="rId6"/>
    <p:sldId id="314" r:id="rId7"/>
    <p:sldId id="318" r:id="rId8"/>
    <p:sldId id="327" r:id="rId9"/>
    <p:sldId id="329" r:id="rId10"/>
    <p:sldId id="328" r:id="rId11"/>
    <p:sldId id="333" r:id="rId12"/>
    <p:sldId id="319" r:id="rId13"/>
    <p:sldId id="323" r:id="rId14"/>
    <p:sldId id="317" r:id="rId15"/>
    <p:sldId id="330" r:id="rId16"/>
    <p:sldId id="331" r:id="rId17"/>
    <p:sldId id="332" r:id="rId18"/>
    <p:sldId id="335" r:id="rId19"/>
  </p:sldIdLst>
  <p:sldSz cx="9144000" cy="5143500" type="screen16x9"/>
  <p:notesSz cx="6858000" cy="9144000"/>
  <p:embeddedFontLs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Figtree" panose="020B0604020202020204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Questrial" pitchFamily="2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5DB0D-A305-324C-4E07-3890CE8943ED}" v="2011" dt="2026-04-21T11:14:48.693"/>
    <p1510:client id="{818F88DF-24C5-D7D9-262F-9518971EA25C}" v="90" dt="2026-04-21T09:44:32.907"/>
    <p1510:client id="{BDA3CBD7-2ADB-4520-AB64-BFAF2B1C96B8}" v="2295" dt="2026-04-21T11:17:37.763"/>
  </p1510:revLst>
</p1510:revInfo>
</file>

<file path=ppt/tableStyles.xml><?xml version="1.0" encoding="utf-8"?>
<a:tblStyleLst xmlns:a="http://schemas.openxmlformats.org/drawingml/2006/main" def="{834BB9A9-DFDE-4E24-823D-8E09EC0FDFD6}">
  <a:tblStyle styleId="{834BB9A9-DFDE-4E24-823D-8E09EC0FDF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C9A94C-23F6-4452-A864-C3463EA0866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7df3fafbe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7df3fafbe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88063"/>
            <a:ext cx="48948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44975" y="2626313"/>
            <a:ext cx="21858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33" name="Google Shape;33;p6"/>
          <p:cNvGrpSpPr/>
          <p:nvPr/>
        </p:nvGrpSpPr>
        <p:grpSpPr>
          <a:xfrm>
            <a:off x="-304800" y="-209550"/>
            <a:ext cx="9486898" cy="5448300"/>
            <a:chOff x="-304800" y="-209550"/>
            <a:chExt cx="9486898" cy="5448300"/>
          </a:xfrm>
        </p:grpSpPr>
        <p:pic>
          <p:nvPicPr>
            <p:cNvPr id="34" name="Google Shape;34;p6"/>
            <p:cNvPicPr preferRelativeResize="0"/>
            <p:nvPr/>
          </p:nvPicPr>
          <p:blipFill rotWithShape="1">
            <a:blip r:embed="rId2">
              <a:alphaModFix/>
            </a:blip>
            <a:srcRect t="47392" r="6323" b="4489"/>
            <a:stretch/>
          </p:blipFill>
          <p:spPr>
            <a:xfrm rot="10800000" flipH="1">
              <a:off x="-76200" y="4355800"/>
              <a:ext cx="9258298" cy="88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6"/>
            <p:cNvPicPr preferRelativeResize="0"/>
            <p:nvPr/>
          </p:nvPicPr>
          <p:blipFill rotWithShape="1">
            <a:blip r:embed="rId3">
              <a:alphaModFix/>
            </a:blip>
            <a:srcRect l="19503" t="29970" r="23669" b="10283"/>
            <a:stretch/>
          </p:blipFill>
          <p:spPr>
            <a:xfrm rot="5400000">
              <a:off x="-76200" y="-438150"/>
              <a:ext cx="2228850" cy="2686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713225" y="1067400"/>
            <a:ext cx="5607000" cy="178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838800"/>
            <a:ext cx="4757100" cy="10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ubTitle" idx="1"/>
          </p:nvPr>
        </p:nvSpPr>
        <p:spPr>
          <a:xfrm>
            <a:off x="713225" y="2010604"/>
            <a:ext cx="4757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713225" y="2940300"/>
            <a:ext cx="4397700" cy="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713225" y="1198700"/>
            <a:ext cx="6691200" cy="15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13549" y="-7927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>
            <a:off x="-610316" y="-95250"/>
            <a:ext cx="3631132" cy="7151546"/>
            <a:chOff x="-610316" y="-95250"/>
            <a:chExt cx="3631132" cy="7151546"/>
          </a:xfrm>
        </p:grpSpPr>
        <p:pic>
          <p:nvPicPr>
            <p:cNvPr id="84" name="Google Shape;84;p15"/>
            <p:cNvPicPr preferRelativeResize="0"/>
            <p:nvPr/>
          </p:nvPicPr>
          <p:blipFill rotWithShape="1">
            <a:blip r:embed="rId2">
              <a:alphaModFix/>
            </a:blip>
            <a:srcRect t="48974" r="12945" b="10384"/>
            <a:stretch/>
          </p:blipFill>
          <p:spPr>
            <a:xfrm flipH="1">
              <a:off x="-114300" y="-95250"/>
              <a:ext cx="2562900" cy="122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-7672025" flipH="1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720000" y="1231800"/>
            <a:ext cx="3595200" cy="16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720000" y="2925600"/>
            <a:ext cx="3595200" cy="9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4990950" y="0"/>
            <a:ext cx="41532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6"/>
          <p:cNvGrpSpPr/>
          <p:nvPr/>
        </p:nvGrpSpPr>
        <p:grpSpPr>
          <a:xfrm>
            <a:off x="-171450" y="-121200"/>
            <a:ext cx="9649500" cy="5398050"/>
            <a:chOff x="-171450" y="-121200"/>
            <a:chExt cx="9649500" cy="5398050"/>
          </a:xfrm>
        </p:grpSpPr>
        <p:pic>
          <p:nvPicPr>
            <p:cNvPr id="91" name="Google Shape;91;p16"/>
            <p:cNvPicPr preferRelativeResize="0"/>
            <p:nvPr/>
          </p:nvPicPr>
          <p:blipFill rotWithShape="1">
            <a:blip r:embed="rId2">
              <a:alphaModFix/>
            </a:blip>
            <a:srcRect l="10129" r="35001" b="52456"/>
            <a:stretch/>
          </p:blipFill>
          <p:spPr>
            <a:xfrm flipH="1">
              <a:off x="-171450" y="3756725"/>
              <a:ext cx="9448800" cy="1520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6"/>
            <p:cNvPicPr preferRelativeResize="0"/>
            <p:nvPr/>
          </p:nvPicPr>
          <p:blipFill rotWithShape="1">
            <a:blip r:embed="rId3">
              <a:alphaModFix/>
            </a:blip>
            <a:srcRect t="54726" b="10381"/>
            <a:stretch/>
          </p:blipFill>
          <p:spPr>
            <a:xfrm>
              <a:off x="6534150" y="-121200"/>
              <a:ext cx="2943900" cy="105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720000" y="1454788"/>
            <a:ext cx="2963400" cy="10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1"/>
          </p:nvPr>
        </p:nvSpPr>
        <p:spPr>
          <a:xfrm>
            <a:off x="720000" y="2506113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7"/>
          <p:cNvGrpSpPr/>
          <p:nvPr/>
        </p:nvGrpSpPr>
        <p:grpSpPr>
          <a:xfrm>
            <a:off x="-610316" y="-152400"/>
            <a:ext cx="9925766" cy="7208696"/>
            <a:chOff x="-610316" y="-152400"/>
            <a:chExt cx="9925766" cy="7208696"/>
          </a:xfrm>
        </p:grpSpPr>
        <p:pic>
          <p:nvPicPr>
            <p:cNvPr id="97" name="Google Shape;97;p17"/>
            <p:cNvPicPr preferRelativeResize="0"/>
            <p:nvPr/>
          </p:nvPicPr>
          <p:blipFill rotWithShape="1">
            <a:blip r:embed="rId2">
              <a:alphaModFix/>
            </a:blip>
            <a:srcRect l="8518" r="36947" b="52712"/>
            <a:stretch/>
          </p:blipFill>
          <p:spPr>
            <a:xfrm rot="10800000">
              <a:off x="-76200" y="-152400"/>
              <a:ext cx="9391650" cy="151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7"/>
            <p:cNvPicPr preferRelativeResize="0"/>
            <p:nvPr/>
          </p:nvPicPr>
          <p:blipFill rotWithShape="1">
            <a:blip r:embed="rId3">
              <a:alphaModFix/>
            </a:blip>
            <a:srcRect t="12943" b="10382"/>
            <a:stretch/>
          </p:blipFill>
          <p:spPr>
            <a:xfrm rot="-7672025" flipH="1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5467375" y="1642746"/>
            <a:ext cx="2963400" cy="6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1"/>
          </p:nvPr>
        </p:nvSpPr>
        <p:spPr>
          <a:xfrm>
            <a:off x="5467525" y="2318152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-422876" y="-1217750"/>
            <a:ext cx="9989751" cy="7140575"/>
            <a:chOff x="-422876" y="-1217750"/>
            <a:chExt cx="9989751" cy="7140575"/>
          </a:xfrm>
        </p:grpSpPr>
        <p:pic>
          <p:nvPicPr>
            <p:cNvPr id="103" name="Google Shape;103;p18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flipH="1">
              <a:off x="-422875" y="-1217750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422876" y="4068125"/>
              <a:ext cx="9989751" cy="1854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720000" y="1638083"/>
            <a:ext cx="2963400" cy="6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1"/>
          </p:nvPr>
        </p:nvSpPr>
        <p:spPr>
          <a:xfrm>
            <a:off x="720000" y="2322800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0"/>
          <p:cNvGrpSpPr/>
          <p:nvPr/>
        </p:nvGrpSpPr>
        <p:grpSpPr>
          <a:xfrm>
            <a:off x="-642469" y="-875078"/>
            <a:ext cx="10726814" cy="7255366"/>
            <a:chOff x="-642469" y="-875078"/>
            <a:chExt cx="10726814" cy="7255366"/>
          </a:xfrm>
        </p:grpSpPr>
        <p:pic>
          <p:nvPicPr>
            <p:cNvPr id="115" name="Google Shape;115;p20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4627207" flipH="1">
              <a:off x="7638488" y="-42612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20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-6300001" flipH="1">
              <a:off x="-621612" y="397637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1"/>
          <p:cNvGrpSpPr/>
          <p:nvPr/>
        </p:nvGrpSpPr>
        <p:grpSpPr>
          <a:xfrm>
            <a:off x="7181849" y="-136765"/>
            <a:ext cx="3042517" cy="5680315"/>
            <a:chOff x="7181849" y="-136765"/>
            <a:chExt cx="3042517" cy="5680315"/>
          </a:xfrm>
        </p:grpSpPr>
        <p:pic>
          <p:nvPicPr>
            <p:cNvPr id="121" name="Google Shape;121;p21"/>
            <p:cNvPicPr preferRelativeResize="0"/>
            <p:nvPr/>
          </p:nvPicPr>
          <p:blipFill rotWithShape="1">
            <a:blip r:embed="rId2">
              <a:alphaModFix/>
            </a:blip>
            <a:srcRect l="68186" t="63577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21"/>
            <p:cNvPicPr preferRelativeResize="0"/>
            <p:nvPr/>
          </p:nvPicPr>
          <p:blipFill rotWithShape="1">
            <a:blip r:embed="rId3">
              <a:alphaModFix/>
            </a:blip>
            <a:srcRect l="33542" t="34747" r="43750"/>
            <a:stretch/>
          </p:blipFill>
          <p:spPr>
            <a:xfrm rot="10800000">
              <a:off x="7181849" y="4114050"/>
              <a:ext cx="2076451" cy="142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5064875" y="3103354"/>
            <a:ext cx="26505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1275936" y="3103356"/>
            <a:ext cx="26505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1275925" y="2738350"/>
            <a:ext cx="2650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5064885" y="2738350"/>
            <a:ext cx="2650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2"/>
          <p:cNvGrpSpPr/>
          <p:nvPr/>
        </p:nvGrpSpPr>
        <p:grpSpPr>
          <a:xfrm>
            <a:off x="952500" y="-324600"/>
            <a:ext cx="8590400" cy="5563350"/>
            <a:chOff x="952500" y="-324600"/>
            <a:chExt cx="8590400" cy="5563350"/>
          </a:xfrm>
        </p:grpSpPr>
        <p:pic>
          <p:nvPicPr>
            <p:cNvPr id="130" name="Google Shape;130;p22"/>
            <p:cNvPicPr preferRelativeResize="0"/>
            <p:nvPr/>
          </p:nvPicPr>
          <p:blipFill rotWithShape="1">
            <a:blip r:embed="rId2">
              <a:alphaModFix/>
            </a:blip>
            <a:srcRect t="66088" r="8958"/>
            <a:stretch/>
          </p:blipFill>
          <p:spPr>
            <a:xfrm rot="10800000" flipH="1">
              <a:off x="95250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2"/>
            <p:cNvPicPr preferRelativeResize="0"/>
            <p:nvPr/>
          </p:nvPicPr>
          <p:blipFill rotWithShape="1">
            <a:blip r:embed="rId3">
              <a:alphaModFix/>
            </a:blip>
            <a:srcRect l="60386" t="69961" r="2175"/>
            <a:stretch/>
          </p:blipFill>
          <p:spPr>
            <a:xfrm rot="10800000">
              <a:off x="6590151" y="-324600"/>
              <a:ext cx="2952749" cy="864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1"/>
          </p:nvPr>
        </p:nvSpPr>
        <p:spPr>
          <a:xfrm>
            <a:off x="4600075" y="2183900"/>
            <a:ext cx="3824100" cy="18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2"/>
          </p:nvPr>
        </p:nvSpPr>
        <p:spPr>
          <a:xfrm>
            <a:off x="720000" y="2183900"/>
            <a:ext cx="3824100" cy="18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3"/>
          </p:nvPr>
        </p:nvSpPr>
        <p:spPr>
          <a:xfrm>
            <a:off x="720000" y="1358400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3"/>
          <p:cNvGrpSpPr/>
          <p:nvPr/>
        </p:nvGrpSpPr>
        <p:grpSpPr>
          <a:xfrm>
            <a:off x="-95250" y="-27700"/>
            <a:ext cx="9334499" cy="5266450"/>
            <a:chOff x="-95250" y="-27700"/>
            <a:chExt cx="9334499" cy="5266450"/>
          </a:xfrm>
        </p:grpSpPr>
        <p:pic>
          <p:nvPicPr>
            <p:cNvPr id="138" name="Google Shape;138;p23"/>
            <p:cNvPicPr preferRelativeResize="0"/>
            <p:nvPr/>
          </p:nvPicPr>
          <p:blipFill rotWithShape="1">
            <a:blip r:embed="rId2">
              <a:alphaModFix/>
            </a:blip>
            <a:srcRect l="4169" t="873" r="17467" b="45215"/>
            <a:stretch/>
          </p:blipFill>
          <p:spPr>
            <a:xfrm>
              <a:off x="-95250" y="4057700"/>
              <a:ext cx="7165275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3"/>
            <p:cNvPicPr preferRelativeResize="0"/>
            <p:nvPr/>
          </p:nvPicPr>
          <p:blipFill rotWithShape="1">
            <a:blip r:embed="rId3">
              <a:alphaModFix/>
            </a:blip>
            <a:srcRect t="68848" r="54768"/>
            <a:stretch/>
          </p:blipFill>
          <p:spPr>
            <a:xfrm>
              <a:off x="5671950" y="-27700"/>
              <a:ext cx="35672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1"/>
          </p:nvPr>
        </p:nvSpPr>
        <p:spPr>
          <a:xfrm>
            <a:off x="713225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2"/>
          </p:nvPr>
        </p:nvSpPr>
        <p:spPr>
          <a:xfrm>
            <a:off x="3430198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3"/>
          </p:nvPr>
        </p:nvSpPr>
        <p:spPr>
          <a:xfrm>
            <a:off x="6140400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4"/>
          </p:nvPr>
        </p:nvSpPr>
        <p:spPr>
          <a:xfrm>
            <a:off x="713225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5"/>
          </p:nvPr>
        </p:nvSpPr>
        <p:spPr>
          <a:xfrm>
            <a:off x="3430364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6"/>
          </p:nvPr>
        </p:nvSpPr>
        <p:spPr>
          <a:xfrm>
            <a:off x="6140400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4"/>
          <p:cNvGrpSpPr/>
          <p:nvPr/>
        </p:nvGrpSpPr>
        <p:grpSpPr>
          <a:xfrm>
            <a:off x="-171450" y="-136765"/>
            <a:ext cx="10395816" cy="5375515"/>
            <a:chOff x="-171450" y="-136765"/>
            <a:chExt cx="10395816" cy="5375515"/>
          </a:xfrm>
        </p:grpSpPr>
        <p:pic>
          <p:nvPicPr>
            <p:cNvPr id="149" name="Google Shape;149;p24"/>
            <p:cNvPicPr preferRelativeResize="0"/>
            <p:nvPr/>
          </p:nvPicPr>
          <p:blipFill rotWithShape="1">
            <a:blip r:embed="rId2">
              <a:alphaModFix/>
            </a:blip>
            <a:srcRect t="66088" r="8958"/>
            <a:stretch/>
          </p:blipFill>
          <p:spPr>
            <a:xfrm rot="10800000">
              <a:off x="-17145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4"/>
            <p:cNvPicPr preferRelativeResize="0"/>
            <p:nvPr/>
          </p:nvPicPr>
          <p:blipFill rotWithShape="1">
            <a:blip r:embed="rId3">
              <a:alphaModFix/>
            </a:blip>
            <a:srcRect l="68186" t="63577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1"/>
          </p:nvPr>
        </p:nvSpPr>
        <p:spPr>
          <a:xfrm>
            <a:off x="1940229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2"/>
          </p:nvPr>
        </p:nvSpPr>
        <p:spPr>
          <a:xfrm>
            <a:off x="6282482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3"/>
          </p:nvPr>
        </p:nvSpPr>
        <p:spPr>
          <a:xfrm>
            <a:off x="1940229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4"/>
          </p:nvPr>
        </p:nvSpPr>
        <p:spPr>
          <a:xfrm>
            <a:off x="6282482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ubTitle" idx="5"/>
          </p:nvPr>
        </p:nvSpPr>
        <p:spPr>
          <a:xfrm>
            <a:off x="194021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6"/>
          </p:nvPr>
        </p:nvSpPr>
        <p:spPr>
          <a:xfrm>
            <a:off x="194021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7"/>
          </p:nvPr>
        </p:nvSpPr>
        <p:spPr>
          <a:xfrm>
            <a:off x="628246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8"/>
          </p:nvPr>
        </p:nvSpPr>
        <p:spPr>
          <a:xfrm>
            <a:off x="628246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5"/>
          <p:cNvGrpSpPr/>
          <p:nvPr/>
        </p:nvGrpSpPr>
        <p:grpSpPr>
          <a:xfrm>
            <a:off x="-114300" y="-95250"/>
            <a:ext cx="9390501" cy="5295900"/>
            <a:chOff x="-114300" y="-95250"/>
            <a:chExt cx="9390501" cy="5295900"/>
          </a:xfrm>
        </p:grpSpPr>
        <p:pic>
          <p:nvPicPr>
            <p:cNvPr id="162" name="Google Shape;162;p25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5"/>
            <p:cNvPicPr preferRelativeResize="0"/>
            <p:nvPr/>
          </p:nvPicPr>
          <p:blipFill rotWithShape="1">
            <a:blip r:embed="rId3">
              <a:alphaModFix/>
            </a:blip>
            <a:srcRect l="21415" t="39418" r="37819" b="10382"/>
            <a:stretch/>
          </p:blipFill>
          <p:spPr>
            <a:xfrm rot="-5400000" flipH="1">
              <a:off x="42037" y="3844163"/>
              <a:ext cx="1200150" cy="1512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"/>
          </p:nvPr>
        </p:nvSpPr>
        <p:spPr>
          <a:xfrm>
            <a:off x="789775" y="1965075"/>
            <a:ext cx="217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2"/>
          </p:nvPr>
        </p:nvSpPr>
        <p:spPr>
          <a:xfrm>
            <a:off x="3483900" y="1965075"/>
            <a:ext cx="2176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3"/>
          </p:nvPr>
        </p:nvSpPr>
        <p:spPr>
          <a:xfrm>
            <a:off x="789775" y="3518525"/>
            <a:ext cx="217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4"/>
          </p:nvPr>
        </p:nvSpPr>
        <p:spPr>
          <a:xfrm>
            <a:off x="3483900" y="3518525"/>
            <a:ext cx="2176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5"/>
          </p:nvPr>
        </p:nvSpPr>
        <p:spPr>
          <a:xfrm>
            <a:off x="6180125" y="1965075"/>
            <a:ext cx="2178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6"/>
          </p:nvPr>
        </p:nvSpPr>
        <p:spPr>
          <a:xfrm>
            <a:off x="6180125" y="3518525"/>
            <a:ext cx="2178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7"/>
          </p:nvPr>
        </p:nvSpPr>
        <p:spPr>
          <a:xfrm>
            <a:off x="789775" y="1600075"/>
            <a:ext cx="217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8"/>
          </p:nvPr>
        </p:nvSpPr>
        <p:spPr>
          <a:xfrm>
            <a:off x="3483900" y="1600075"/>
            <a:ext cx="217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9"/>
          </p:nvPr>
        </p:nvSpPr>
        <p:spPr>
          <a:xfrm>
            <a:off x="6180125" y="1600075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13"/>
          </p:nvPr>
        </p:nvSpPr>
        <p:spPr>
          <a:xfrm>
            <a:off x="789775" y="3153525"/>
            <a:ext cx="217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subTitle" idx="14"/>
          </p:nvPr>
        </p:nvSpPr>
        <p:spPr>
          <a:xfrm>
            <a:off x="3483900" y="3153525"/>
            <a:ext cx="217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5"/>
          </p:nvPr>
        </p:nvSpPr>
        <p:spPr>
          <a:xfrm>
            <a:off x="6180125" y="3153525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6"/>
          <p:cNvGrpSpPr/>
          <p:nvPr/>
        </p:nvGrpSpPr>
        <p:grpSpPr>
          <a:xfrm>
            <a:off x="-457200" y="-171450"/>
            <a:ext cx="9660074" cy="5409649"/>
            <a:chOff x="-457200" y="-171450"/>
            <a:chExt cx="9660074" cy="5409649"/>
          </a:xfrm>
        </p:grpSpPr>
        <p:pic>
          <p:nvPicPr>
            <p:cNvPr id="179" name="Google Shape;179;p26"/>
            <p:cNvPicPr preferRelativeResize="0"/>
            <p:nvPr/>
          </p:nvPicPr>
          <p:blipFill rotWithShape="1">
            <a:blip r:embed="rId2">
              <a:alphaModFix/>
            </a:blip>
            <a:srcRect t="41541" r="58222"/>
            <a:stretch/>
          </p:blipFill>
          <p:spPr>
            <a:xfrm>
              <a:off x="7022175" y="-95250"/>
              <a:ext cx="2180699" cy="1112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6"/>
            <p:cNvPicPr preferRelativeResize="0"/>
            <p:nvPr/>
          </p:nvPicPr>
          <p:blipFill rotWithShape="1">
            <a:blip r:embed="rId2">
              <a:alphaModFix/>
            </a:blip>
            <a:srcRect l="63001"/>
            <a:stretch/>
          </p:blipFill>
          <p:spPr>
            <a:xfrm>
              <a:off x="-114300" y="3334400"/>
              <a:ext cx="1931250" cy="190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6"/>
            <p:cNvPicPr preferRelativeResize="0"/>
            <p:nvPr/>
          </p:nvPicPr>
          <p:blipFill rotWithShape="1">
            <a:blip r:embed="rId3">
              <a:alphaModFix/>
            </a:blip>
            <a:srcRect t="31059" r="67917" b="31548"/>
            <a:stretch/>
          </p:blipFill>
          <p:spPr>
            <a:xfrm rot="10800000" flipH="1">
              <a:off x="-457200" y="-171450"/>
              <a:ext cx="2933698" cy="819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7"/>
          <p:cNvGrpSpPr/>
          <p:nvPr/>
        </p:nvGrpSpPr>
        <p:grpSpPr>
          <a:xfrm>
            <a:off x="-114300" y="-95250"/>
            <a:ext cx="9390501" cy="5238750"/>
            <a:chOff x="-114300" y="-95250"/>
            <a:chExt cx="9390501" cy="5238750"/>
          </a:xfrm>
        </p:grpSpPr>
        <p:pic>
          <p:nvPicPr>
            <p:cNvPr id="185" name="Google Shape;185;p27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7"/>
            <p:cNvPicPr preferRelativeResize="0"/>
            <p:nvPr/>
          </p:nvPicPr>
          <p:blipFill rotWithShape="1">
            <a:blip r:embed="rId2">
              <a:alphaModFix/>
            </a:blip>
            <a:srcRect l="31331" t="55929" r="24466" b="13140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-171450" y="-152400"/>
            <a:ext cx="9829800" cy="5467350"/>
            <a:chOff x="-171450" y="-152400"/>
            <a:chExt cx="9829800" cy="5467350"/>
          </a:xfrm>
        </p:grpSpPr>
        <p:pic>
          <p:nvPicPr>
            <p:cNvPr id="190" name="Google Shape;190;p28"/>
            <p:cNvPicPr preferRelativeResize="0"/>
            <p:nvPr/>
          </p:nvPicPr>
          <p:blipFill rotWithShape="1">
            <a:blip r:embed="rId2">
              <a:alphaModFix/>
            </a:blip>
            <a:srcRect l="7877" b="45749"/>
            <a:stretch/>
          </p:blipFill>
          <p:spPr>
            <a:xfrm>
              <a:off x="-171450" y="4393925"/>
              <a:ext cx="8423999" cy="92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8"/>
            <p:cNvPicPr preferRelativeResize="0"/>
            <p:nvPr/>
          </p:nvPicPr>
          <p:blipFill rotWithShape="1">
            <a:blip r:embed="rId2">
              <a:alphaModFix/>
            </a:blip>
            <a:srcRect l="56809" b="26014"/>
            <a:stretch/>
          </p:blipFill>
          <p:spPr>
            <a:xfrm rot="10800000">
              <a:off x="5708975" y="-152400"/>
              <a:ext cx="3949375" cy="125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29"/>
          <p:cNvGrpSpPr/>
          <p:nvPr/>
        </p:nvGrpSpPr>
        <p:grpSpPr>
          <a:xfrm rot="10800000" flipH="1">
            <a:off x="-38100" y="-19050"/>
            <a:ext cx="9390501" cy="5391150"/>
            <a:chOff x="-114300" y="-247650"/>
            <a:chExt cx="9390501" cy="5391150"/>
          </a:xfrm>
        </p:grpSpPr>
        <p:pic>
          <p:nvPicPr>
            <p:cNvPr id="196" name="Google Shape;196;p29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2476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9"/>
            <p:cNvPicPr preferRelativeResize="0"/>
            <p:nvPr/>
          </p:nvPicPr>
          <p:blipFill rotWithShape="1">
            <a:blip r:embed="rId2">
              <a:alphaModFix/>
            </a:blip>
            <a:srcRect l="31331" t="55929" r="24466" b="13140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30"/>
          <p:cNvGrpSpPr/>
          <p:nvPr/>
        </p:nvGrpSpPr>
        <p:grpSpPr>
          <a:xfrm>
            <a:off x="-171450" y="-114300"/>
            <a:ext cx="9486900" cy="5372100"/>
            <a:chOff x="-171450" y="-114300"/>
            <a:chExt cx="9486900" cy="5372100"/>
          </a:xfrm>
        </p:grpSpPr>
        <p:pic>
          <p:nvPicPr>
            <p:cNvPr id="200" name="Google Shape;200;p30"/>
            <p:cNvPicPr preferRelativeResize="0"/>
            <p:nvPr/>
          </p:nvPicPr>
          <p:blipFill rotWithShape="1">
            <a:blip r:embed="rId2">
              <a:alphaModFix/>
            </a:blip>
            <a:srcRect t="12943" r="16178" b="10382"/>
            <a:stretch/>
          </p:blipFill>
          <p:spPr>
            <a:xfrm flipH="1">
              <a:off x="-171450" y="-114300"/>
              <a:ext cx="246765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30"/>
            <p:cNvPicPr preferRelativeResize="0"/>
            <p:nvPr/>
          </p:nvPicPr>
          <p:blipFill rotWithShape="1">
            <a:blip r:embed="rId2">
              <a:alphaModFix/>
            </a:blip>
            <a:srcRect l="15655" t="33115" r="25379"/>
            <a:stretch/>
          </p:blipFill>
          <p:spPr>
            <a:xfrm rot="5400000">
              <a:off x="6701250" y="2643600"/>
              <a:ext cx="2419350" cy="280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30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1"/>
          </p:nvPr>
        </p:nvSpPr>
        <p:spPr>
          <a:xfrm>
            <a:off x="2223600" y="1228426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1368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3"/>
          </p:nvPr>
        </p:nvSpPr>
        <p:spPr>
          <a:xfrm>
            <a:off x="2223600" y="2702611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487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5"/>
          </p:nvPr>
        </p:nvSpPr>
        <p:spPr>
          <a:xfrm>
            <a:off x="2223600" y="4176797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31"/>
          <p:cNvGrpSpPr/>
          <p:nvPr/>
        </p:nvGrpSpPr>
        <p:grpSpPr>
          <a:xfrm>
            <a:off x="-237299" y="-869075"/>
            <a:ext cx="10132447" cy="6299826"/>
            <a:chOff x="-237299" y="-869075"/>
            <a:chExt cx="10132447" cy="6299826"/>
          </a:xfrm>
        </p:grpSpPr>
        <p:pic>
          <p:nvPicPr>
            <p:cNvPr id="210" name="Google Shape;210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10575735" flipH="1">
              <a:off x="-187256" y="-544053"/>
              <a:ext cx="10032361" cy="186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7263151" y="3402775"/>
              <a:ext cx="1981200" cy="2027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713254" y="1491175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subTitle" idx="1"/>
          </p:nvPr>
        </p:nvSpPr>
        <p:spPr>
          <a:xfrm>
            <a:off x="713250" y="2621375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/>
          <p:nvPr/>
        </p:nvSpPr>
        <p:spPr>
          <a:xfrm>
            <a:off x="4003050" y="2452350"/>
            <a:ext cx="35040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2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2"/>
          <p:cNvGrpSpPr/>
          <p:nvPr/>
        </p:nvGrpSpPr>
        <p:grpSpPr>
          <a:xfrm>
            <a:off x="-362025" y="0"/>
            <a:ext cx="9506024" cy="5238750"/>
            <a:chOff x="-362025" y="0"/>
            <a:chExt cx="9506024" cy="5238750"/>
          </a:xfrm>
        </p:grpSpPr>
        <p:pic>
          <p:nvPicPr>
            <p:cNvPr id="217" name="Google Shape;217;p32"/>
            <p:cNvPicPr preferRelativeResize="0"/>
            <p:nvPr/>
          </p:nvPicPr>
          <p:blipFill rotWithShape="1">
            <a:blip r:embed="rId2">
              <a:alphaModFix/>
            </a:blip>
            <a:srcRect t="34491" r="18127"/>
            <a:stretch/>
          </p:blipFill>
          <p:spPr>
            <a:xfrm>
              <a:off x="1657275" y="0"/>
              <a:ext cx="7486724" cy="143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62025" y="2362200"/>
              <a:ext cx="7886700" cy="2876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33"/>
          <p:cNvGrpSpPr/>
          <p:nvPr/>
        </p:nvGrpSpPr>
        <p:grpSpPr>
          <a:xfrm>
            <a:off x="-76199" y="-268320"/>
            <a:ext cx="9363849" cy="5526120"/>
            <a:chOff x="-76199" y="-268320"/>
            <a:chExt cx="9363849" cy="5526120"/>
          </a:xfrm>
        </p:grpSpPr>
        <p:pic>
          <p:nvPicPr>
            <p:cNvPr id="221" name="Google Shape;221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76199" y="114300"/>
              <a:ext cx="4487047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2600" y="-268320"/>
              <a:ext cx="3125050" cy="31988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6" r:id="rId4"/>
    <p:sldLayoutId id="2147483657" r:id="rId5"/>
    <p:sldLayoutId id="2147483658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ctrTitle"/>
          </p:nvPr>
        </p:nvSpPr>
        <p:spPr>
          <a:xfrm>
            <a:off x="218212" y="206256"/>
            <a:ext cx="6875239" cy="18409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SURA : Indoor Localization Using Wi-Fi and Magnetic Fields in GPS Denied Scenarios</a:t>
            </a:r>
            <a:endParaRPr sz="3600" dirty="0"/>
          </a:p>
        </p:txBody>
      </p:sp>
      <p:sp>
        <p:nvSpPr>
          <p:cNvPr id="234" name="Google Shape;234;p37"/>
          <p:cNvSpPr txBox="1">
            <a:spLocks noGrp="1"/>
          </p:cNvSpPr>
          <p:nvPr>
            <p:ph type="subTitle" idx="1"/>
          </p:nvPr>
        </p:nvSpPr>
        <p:spPr>
          <a:xfrm>
            <a:off x="5501244" y="2274019"/>
            <a:ext cx="3790695" cy="22588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800" b="1"/>
              <a:t>Team Members:</a:t>
            </a:r>
          </a:p>
          <a:p>
            <a:pPr marL="0" indent="0">
              <a:lnSpc>
                <a:spcPct val="114999"/>
              </a:lnSpc>
            </a:pPr>
            <a:r>
              <a:rPr lang="en"/>
              <a:t>Utkarsh Agrawal (2024CS10076)</a:t>
            </a:r>
          </a:p>
          <a:p>
            <a:pPr marL="0" indent="0"/>
            <a:r>
              <a:rPr lang="en"/>
              <a:t>Jayendra Birhade (2024CS10891)</a:t>
            </a:r>
          </a:p>
          <a:p>
            <a:pPr marL="0" indent="0"/>
            <a:r>
              <a:rPr lang="en" sz="1800" b="1"/>
              <a:t>Mentor:</a:t>
            </a:r>
            <a:r>
              <a:rPr lang="en"/>
              <a:t> </a:t>
            </a:r>
          </a:p>
          <a:p>
            <a:pPr marL="0" indent="0"/>
            <a:r>
              <a:rPr lang="en"/>
              <a:t>Dr. Neel Kanth Kundu ( CARE )</a:t>
            </a:r>
            <a:endParaRPr lang="en-US"/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" y="3494557"/>
            <a:ext cx="9142258" cy="1647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E4C5-8527-8EB6-E8D1-DA2180D9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Arial"/>
                <a:cs typeface="Arial"/>
              </a:rPr>
              <a:t>Problem with GPS and Current Solutions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E2AA62-2FD7-BD7F-5A1B-173ADDC6C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GPS Limitation:</a:t>
            </a:r>
            <a:r>
              <a:rPr lang="en-GB">
                <a:latin typeface="Calibri"/>
                <a:ea typeface="Calibri"/>
                <a:cs typeface="Calibri"/>
              </a:rPr>
              <a:t> GPS signals degrade heavily indoors due to Line-of-Sight blockage (walls, roofs) and thus the reliability on GPS decreases exponentially.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Need</a:t>
            </a:r>
            <a:r>
              <a:rPr lang="en-GB">
                <a:latin typeface="Calibri"/>
                <a:ea typeface="Calibri"/>
                <a:cs typeface="Calibri"/>
              </a:rPr>
              <a:t>: Accurate indoor navigation is critical for complex environments (hospitals, malls, airports, warehouses) and emergency response. </a:t>
            </a: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Flaws with Wi-Fi: </a:t>
            </a:r>
            <a:r>
              <a:rPr lang="en-GB">
                <a:latin typeface="Calibri"/>
                <a:ea typeface="Calibri"/>
                <a:cs typeface="Calibri"/>
              </a:rPr>
              <a:t>Wi-Fi positioning is currently used in some niche commercial cases, but it is highly unreliable on its own due to:</a:t>
            </a:r>
          </a:p>
          <a:p>
            <a:pPr lvl="1"/>
            <a:r>
              <a:rPr lang="en-GB" u="sng">
                <a:latin typeface="Calibri"/>
                <a:ea typeface="Calibri"/>
                <a:cs typeface="Calibri"/>
              </a:rPr>
              <a:t>Signal Instability</a:t>
            </a:r>
            <a:r>
              <a:rPr lang="en-GB">
                <a:latin typeface="Calibri"/>
                <a:ea typeface="Calibri"/>
                <a:cs typeface="Calibri"/>
              </a:rPr>
              <a:t>: Multipath fading and dynamic environments (e.g., moving crowds, opening doors).</a:t>
            </a:r>
          </a:p>
          <a:p>
            <a:pPr lvl="1"/>
            <a:r>
              <a:rPr lang="en-GB" u="sng">
                <a:latin typeface="Calibri"/>
                <a:ea typeface="Calibri"/>
                <a:cs typeface="Calibri"/>
              </a:rPr>
              <a:t>Device Heterogeneity</a:t>
            </a:r>
            <a:r>
              <a:rPr lang="en-GB">
                <a:latin typeface="Calibri"/>
                <a:ea typeface="Calibri"/>
                <a:cs typeface="Calibri"/>
              </a:rPr>
              <a:t>: Different smartphone antennas record vastly different signal strengths (RSS).</a:t>
            </a: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Pervasive Signals:</a:t>
            </a:r>
            <a:r>
              <a:rPr lang="en-GB">
                <a:latin typeface="Calibri"/>
                <a:ea typeface="Calibri"/>
                <a:cs typeface="Calibri"/>
              </a:rPr>
              <a:t> Modern smartphones are already equipped with Wi-Fi receivers, Magnetometers, and IMUs (Accelerometers/Gyroscopes).</a:t>
            </a:r>
          </a:p>
          <a:p>
            <a:pPr>
              <a:lnSpc>
                <a:spcPct val="114999"/>
              </a:lnSpc>
            </a:pPr>
            <a:r>
              <a:rPr lang="en-GB" b="1">
                <a:latin typeface="Calibri"/>
                <a:ea typeface="Calibri"/>
                <a:cs typeface="Calibri"/>
              </a:rPr>
              <a:t>The Goal:</a:t>
            </a:r>
            <a:r>
              <a:rPr lang="en-GB">
                <a:latin typeface="Calibri"/>
                <a:ea typeface="Calibri"/>
                <a:cs typeface="Calibri"/>
              </a:rPr>
              <a:t> Intelligently fuse these existing signals to create a seamless, robust "Indoor GPS" without requiring new, expensive infrastructure (like BLE beacons or RFID)</a:t>
            </a:r>
          </a:p>
          <a:p>
            <a:pPr>
              <a:lnSpc>
                <a:spcPct val="114999"/>
              </a:lnSpc>
            </a:pPr>
            <a:endParaRPr lang="en-GB"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88D84F1-661F-9C9E-A59B-687DEC1A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7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1300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800">
                <a:latin typeface="Arial"/>
                <a:cs typeface="Arial"/>
              </a:rPr>
              <a:t>Literature Review and Research Gap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CA7A2-2159-C67F-6718-46F47BBCEE02}"/>
              </a:ext>
            </a:extLst>
          </p:cNvPr>
          <p:cNvSpPr txBox="1"/>
          <p:nvPr/>
        </p:nvSpPr>
        <p:spPr>
          <a:xfrm>
            <a:off x="646953" y="1172790"/>
            <a:ext cx="7855384" cy="3290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6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Single-Signal Limitations: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    </a:t>
            </a:r>
            <a:r>
              <a:rPr lang="en-US" u="sng" dirty="0">
                <a:latin typeface="Calibri"/>
                <a:ea typeface="Calibri"/>
                <a:cs typeface="Calibri"/>
              </a:rPr>
              <a:t>Wi-Fi Only</a:t>
            </a:r>
            <a:r>
              <a:rPr lang="en-US" dirty="0">
                <a:latin typeface="Calibri"/>
                <a:ea typeface="Calibri"/>
                <a:cs typeface="Calibri"/>
              </a:rPr>
              <a:t>: Vulnerable to dynamic environments (people moving, doors closing etc.).[1]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    </a:t>
            </a:r>
            <a:r>
              <a:rPr lang="en-US" u="sng" dirty="0">
                <a:latin typeface="Calibri"/>
                <a:ea typeface="Calibri"/>
                <a:cs typeface="Calibri"/>
              </a:rPr>
              <a:t>Magnetic Only</a:t>
            </a:r>
            <a:r>
              <a:rPr lang="en-US" dirty="0">
                <a:latin typeface="Calibri"/>
                <a:ea typeface="Calibri"/>
                <a:cs typeface="Calibri"/>
              </a:rPr>
              <a:t>: Low distinctiveness in large, symmetrical open areas.[</a:t>
            </a:r>
            <a:r>
              <a:rPr lang="en-US">
                <a:latin typeface="Calibri"/>
                <a:ea typeface="Calibri"/>
                <a:cs typeface="Calibri"/>
              </a:rPr>
              <a:t>3</a:t>
            </a:r>
            <a:r>
              <a:rPr lang="en-US" dirty="0">
                <a:latin typeface="Calibri"/>
                <a:ea typeface="Calibri"/>
                <a:cs typeface="Calibri"/>
              </a:rPr>
              <a:t>]</a:t>
            </a:r>
          </a:p>
          <a:p>
            <a:pPr marL="285750" lvl="6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Data Bottleneck</a:t>
            </a:r>
            <a:r>
              <a:rPr lang="en-US" dirty="0">
                <a:latin typeface="Calibri"/>
                <a:ea typeface="Calibri"/>
                <a:cs typeface="Calibri"/>
              </a:rPr>
              <a:t>: Many fusion papers rely on private datasets, hindering reproducibility.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Impractical Datasets</a:t>
            </a:r>
            <a:r>
              <a:rPr lang="en-US" dirty="0">
                <a:latin typeface="Calibri"/>
                <a:ea typeface="Calibri"/>
                <a:cs typeface="Calibri"/>
              </a:rPr>
              <a:t>: Previous works train and test under highly controlled, unrealistic conditions such as single device, single user, fixed orientation etc</a:t>
            </a:r>
            <a:r>
              <a:rPr lang="en-US">
                <a:latin typeface="Calibri"/>
                <a:ea typeface="Calibri"/>
                <a:cs typeface="Calibri"/>
              </a:rPr>
              <a:t>.[4]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Previous Models Used:  </a:t>
            </a:r>
            <a:r>
              <a:rPr lang="en-US" dirty="0">
                <a:latin typeface="Calibri"/>
                <a:ea typeface="Calibri"/>
                <a:cs typeface="Calibri"/>
              </a:rPr>
              <a:t>The models used by previous models do not utilize the IMU sensor data and thus have a huge improvement potential. [3] [4]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/>
                <a:ea typeface="Calibri"/>
                <a:cs typeface="Calibri"/>
              </a:rPr>
              <a:t>In the real world, people keep phones in their pockets, swing them while walking, or hold them to their ear, causing current models to completely 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ACCF-D0DC-05AD-4C19-7CC41B89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FD76C-9CA5-7583-8D88-10A422174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Problem Statement: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To develop a highly accurate, hybrid indoor localization system (fusing Wi-Fi, Magnetic, and IMU data) that is inherently robust against real-world complexities: device, user, and orientation heterogeneity.</a:t>
            </a:r>
            <a:endParaRPr lang="en-US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Objectives: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u="sng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Establish Baselines</a:t>
            </a:r>
            <a:r>
              <a:rPr lang="en-GB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Reproduce existing K-Nearest </a:t>
            </a:r>
            <a:r>
              <a:rPr lang="en-GB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Neighbor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(KNN) and Extended Kalman Filter (EKF) pipelines to set a performance benchmark and to create a proof of concept.</a:t>
            </a:r>
          </a:p>
          <a:p>
            <a:pPr lvl="1"/>
            <a:r>
              <a:rPr lang="en-GB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Sensor Fusion</a:t>
            </a: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Design a novel Deep Learning architecture (CNN + LSTM) to capture spatial signal patterns and temporal user movement.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u="sng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Real-World Robustness</a:t>
            </a:r>
            <a:r>
              <a:rPr lang="en-GB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GB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Implement scaling and normalization techniques so the model maintains high accuracy regardless of the smartphone model, the user's stride, or how the phone is carried (pocket, swinging, calling).</a:t>
            </a:r>
            <a:endParaRPr lang="en-GB">
              <a:latin typeface="Calibri"/>
              <a:ea typeface="Calibri"/>
              <a:cs typeface="Calibri"/>
            </a:endParaRPr>
          </a:p>
          <a:p>
            <a:pPr lvl="1"/>
            <a:r>
              <a:rPr lang="en-GB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Optimization</a:t>
            </a: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Ensure the final model is lightweight enough for edge devices (smartphones), with future exploration into Quantum ML concepts.</a:t>
            </a:r>
          </a:p>
          <a:p>
            <a:pPr>
              <a:lnSpc>
                <a:spcPct val="114999"/>
              </a:lnSpc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450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887B-9014-CB70-CCAB-4A0AA14F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Dataset</a:t>
            </a:r>
            <a:r>
              <a:rPr lang="en-IN" sz="2800"/>
              <a:t>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1D0B8-7D9F-796F-71AD-3DED7507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Foundation: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Utilizing a comprehensive, publicly available dataset designed specifically for real-world robustness.</a:t>
            </a: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Multi-Modal Data: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Synchronized Wi-Fi (RSS), Magnetic Field (X, Y, Z), and IMU (Accelerometer, Gyroscope) readings.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Variability Captured: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Heterogeneous Devices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Samsung Galaxy S8, S9+, A8, LG G7, etc.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Diversity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Multiple participants with varying heights and walking strides.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Orientations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Navigation, Swinging in hand, In Pocket, Calling (at ear).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i="1" u="sng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Diversity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Data spans multiple different buildings, each containing 2 to 3 distinct walking routes.</a:t>
            </a:r>
          </a:p>
          <a:p>
            <a:pPr>
              <a:lnSpc>
                <a:spcPct val="114999"/>
              </a:lnSpc>
            </a:pPr>
            <a:r>
              <a:rPr lang="en-GB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Ultimate Real-World Test: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Allows us to change the phone, the user, and the route while keeping the environment constant—proving the model learns the 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the 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GB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habits</a:t>
            </a:r>
            <a:r>
              <a:rPr lang="en-GB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14999"/>
              </a:lnSpc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93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2759-CD13-CF77-C641-7A0C7A35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Project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512A5-F1B8-15EC-7BCC-C08FA8521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1: Academic Research &amp; Literature Review (Completed)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Identified gaps in single-signal and homogeneous device models found across multiple research papers.</a:t>
            </a:r>
            <a:endParaRPr lang="en-US">
              <a:solidFill>
                <a:srgbClr val="1F2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2: Dataset Exploration &amp; Analysis (Completed)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Compared Multiple Publicly available datasets. 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Preprocessed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data, handled missing values, and 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signal distributions. 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3: Proof of Concept &amp; Baselines (Completed)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Reproduced traditional models to set performance benchmarks.</a:t>
            </a: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4: Deep Learning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- Developing CNN+LSTM based advanced models in order to exploit the complexity of the Magnetic and 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(AP) data.</a:t>
            </a: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5: Computational Optimization 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Using Quantum Machine Learning to improve the performance of the ML model.</a:t>
            </a:r>
          </a:p>
          <a:p>
            <a:pPr marL="139700" indent="0">
              <a:lnSpc>
                <a:spcPct val="114999"/>
              </a:lnSpc>
              <a:buNone/>
            </a:pP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294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CA3C-FC8B-BCBC-EAE0-2F727EBC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Arial"/>
                <a:cs typeface="Arial"/>
              </a:rPr>
              <a:t>Proof of Concept – Single Signal Baselines</a:t>
            </a:r>
            <a:endParaRPr lang="en-US" sz="2800">
              <a:latin typeface="Arial"/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98B83-8D4D-21C7-75E2-7BCAA8AFA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Methodology</a:t>
            </a:r>
            <a:r>
              <a:rPr lang="en-IN" dirty="0">
                <a:latin typeface="Calibri"/>
                <a:ea typeface="Calibri"/>
                <a:cs typeface="Calibri"/>
              </a:rPr>
              <a:t>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Environment: BE Building.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Rigorous Split: Trained on A8, G7, and S8; Tested on unseen S9+.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Algorithm: K-Nearest Neighbours (K=5).</a:t>
            </a:r>
          </a:p>
          <a:p>
            <a:pPr>
              <a:lnSpc>
                <a:spcPct val="114999"/>
              </a:lnSpc>
            </a:pPr>
            <a:r>
              <a:rPr lang="en-IN" b="1" dirty="0">
                <a:latin typeface="Calibri"/>
                <a:ea typeface="Calibri"/>
                <a:cs typeface="Calibri"/>
              </a:rPr>
              <a:t>Pure Magnetic Model</a:t>
            </a:r>
            <a:r>
              <a:rPr lang="en-IN" dirty="0">
                <a:latin typeface="Calibri"/>
                <a:ea typeface="Calibri"/>
                <a:cs typeface="Calibri"/>
              </a:rPr>
              <a:t>:</a:t>
            </a:r>
          </a:p>
          <a:p>
            <a:pPr lvl="1"/>
            <a:r>
              <a:rPr lang="en-IN">
                <a:latin typeface="Calibri"/>
                <a:ea typeface="Calibri"/>
                <a:cs typeface="Calibri"/>
              </a:rPr>
              <a:t>Benchmark</a:t>
            </a:r>
            <a:r>
              <a:rPr lang="en-IN" dirty="0">
                <a:latin typeface="Calibri"/>
                <a:ea typeface="Calibri"/>
                <a:cs typeface="Calibri"/>
              </a:rPr>
              <a:t>: 34.29m | Our Error: </a:t>
            </a:r>
            <a:r>
              <a:rPr lang="en-IN" b="1" dirty="0">
                <a:latin typeface="Calibri"/>
                <a:ea typeface="Calibri"/>
                <a:cs typeface="Calibri"/>
              </a:rPr>
              <a:t>15.38m</a:t>
            </a:r>
            <a:r>
              <a:rPr lang="en-IN" b="1">
                <a:latin typeface="Calibri"/>
                <a:ea typeface="Calibri"/>
                <a:cs typeface="Calibri"/>
              </a:rPr>
              <a:t> </a:t>
            </a:r>
            <a:r>
              <a:rPr lang="en-IN">
                <a:latin typeface="Calibri"/>
                <a:ea typeface="Calibri"/>
                <a:cs typeface="Calibri"/>
              </a:rPr>
              <a:t>[2]</a:t>
            </a:r>
          </a:p>
          <a:p>
            <a:pPr>
              <a:lnSpc>
                <a:spcPct val="114999"/>
              </a:lnSpc>
            </a:pPr>
            <a:r>
              <a:rPr lang="en-IN" b="1" dirty="0">
                <a:latin typeface="Calibri"/>
                <a:ea typeface="Calibri"/>
                <a:cs typeface="Calibri"/>
              </a:rPr>
              <a:t>Pure Wi-Fi Model</a:t>
            </a:r>
            <a:r>
              <a:rPr lang="en-IN" dirty="0">
                <a:latin typeface="Calibri"/>
                <a:ea typeface="Calibri"/>
                <a:cs typeface="Calibri"/>
              </a:rPr>
              <a:t>:</a:t>
            </a:r>
          </a:p>
          <a:p>
            <a:pPr lvl="1"/>
            <a:r>
              <a:rPr lang="en-IN">
                <a:latin typeface="Calibri"/>
                <a:ea typeface="Calibri"/>
                <a:cs typeface="Calibri"/>
              </a:rPr>
              <a:t>Benchmark</a:t>
            </a:r>
            <a:r>
              <a:rPr lang="en-IN" dirty="0">
                <a:latin typeface="Calibri"/>
                <a:ea typeface="Calibri"/>
                <a:cs typeface="Calibri"/>
              </a:rPr>
              <a:t>: 12.86m | Our Error: </a:t>
            </a:r>
            <a:r>
              <a:rPr lang="en-IN" b="1" dirty="0">
                <a:latin typeface="Calibri"/>
                <a:ea typeface="Calibri"/>
                <a:cs typeface="Calibri"/>
              </a:rPr>
              <a:t>5.93m</a:t>
            </a:r>
            <a:r>
              <a:rPr lang="en-IN" b="1">
                <a:latin typeface="Calibri"/>
                <a:ea typeface="Calibri"/>
                <a:cs typeface="Calibri"/>
              </a:rPr>
              <a:t>   </a:t>
            </a:r>
            <a:r>
              <a:rPr lang="en-IN">
                <a:latin typeface="Calibri"/>
                <a:ea typeface="Calibri"/>
                <a:cs typeface="Calibri"/>
              </a:rPr>
              <a:t>[2]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Features: 127 unique BSSIDs.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Preprocessing: Cross-normalization (row-wise) &amp; zero-filling unavailable signals.</a:t>
            </a:r>
          </a:p>
          <a:p>
            <a:pPr>
              <a:lnSpc>
                <a:spcPct val="114999"/>
              </a:lnSpc>
            </a:pPr>
            <a:r>
              <a:rPr lang="en-IN" b="1" dirty="0">
                <a:latin typeface="Calibri"/>
                <a:ea typeface="Calibri"/>
                <a:cs typeface="Calibri"/>
              </a:rPr>
              <a:t>Why difference in the result?</a:t>
            </a:r>
            <a:br>
              <a:rPr lang="en-IN" b="1" dirty="0">
                <a:latin typeface="Calibri"/>
                <a:ea typeface="Calibri"/>
                <a:cs typeface="Calibri"/>
              </a:rPr>
            </a:br>
            <a:r>
              <a:rPr lang="en-IN" dirty="0">
                <a:latin typeface="Calibri"/>
                <a:ea typeface="Calibri"/>
                <a:cs typeface="Calibri"/>
              </a:rPr>
              <a:t>The Research Paper does not elaborate upon the exact data preprocessing and the test-train split of the dataset, so we took the liberty and did in a way that inclines with our problem statement.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IN" sz="1600" i="1" dirty="0">
                <a:latin typeface="Calibri"/>
                <a:ea typeface="Calibri"/>
                <a:cs typeface="Calibri"/>
              </a:rPr>
              <a:t>The results show that if treated properly both the signals have predictive power.</a:t>
            </a:r>
          </a:p>
        </p:txBody>
      </p:sp>
    </p:spTree>
    <p:extLst>
      <p:ext uri="{BB962C8B-B14F-4D97-AF65-F5344CB8AC3E}">
        <p14:creationId xmlns:p14="http://schemas.microsoft.com/office/powerpoint/2010/main" val="46657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47EE-F11E-0E98-8C19-1B6DC6F34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Arial"/>
                <a:cs typeface="Arial"/>
              </a:rPr>
              <a:t>Proof of Concept – Hybrid KNN Fusion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E934-73C3-7AB9-A583-CB47CF83E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Hybrid Feature KNN (Wi-Fi + Magnetic):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Benchmark: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4.89m | </a:t>
            </a:r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Our Error: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5.72m</a:t>
            </a:r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[2]</a:t>
            </a:r>
          </a:p>
          <a:p>
            <a:pPr lvl="1"/>
            <a:r>
              <a:rPr lang="en-IN" dirty="0">
                <a:latin typeface="Calibri"/>
                <a:ea typeface="Calibri"/>
                <a:cs typeface="Calibri"/>
              </a:rPr>
              <a:t>Environment: BE Building.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IN" dirty="0">
                <a:solidFill>
                  <a:srgbClr val="273538"/>
                </a:solidFill>
                <a:latin typeface="Calibri"/>
                <a:ea typeface="Calibri"/>
                <a:cs typeface="Calibri"/>
              </a:rPr>
              <a:t>Rigorous Split: Trained on A8, G7, and S8; Tested on unseen S9+.</a:t>
            </a:r>
            <a:endParaRPr lang="en-US" dirty="0">
              <a:solidFill>
                <a:srgbClr val="273538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IN" dirty="0">
                <a:solidFill>
                  <a:srgbClr val="273538"/>
                </a:solidFill>
                <a:latin typeface="Calibri"/>
                <a:ea typeface="Calibri"/>
                <a:cs typeface="Calibri"/>
              </a:rPr>
              <a:t>Algorithm: K-Nearest Neighbours (K=7).</a:t>
            </a:r>
            <a:endParaRPr lang="en-US" dirty="0"/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Feature Imbalance Challenge: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Wi-Fi Features: 127 variables.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Magnetic Features: 3 variables (X, Y, Z).</a:t>
            </a: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Why such a small improvement between the Wi-Fi and the Hybrid model:</a:t>
            </a:r>
            <a:br>
              <a:rPr lang="en-US" b="1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Naive KNN struggles to balance 127 Wi-Fi signals against 3 magnetic vectors, allowing Wi-Fi to dominate the feature space.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More over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the difference between the errors is due to the same reasons.</a:t>
            </a:r>
            <a:endParaRPr lang="en-IN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 marL="139700" indent="0">
              <a:lnSpc>
                <a:spcPct val="114999"/>
              </a:lnSpc>
              <a:buNone/>
            </a:pPr>
            <a:r>
              <a:rPr lang="en-IN" sz="1600" i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Despite the small improvement the hybrid model performed better proving the scope of improvement using hybrid methods</a:t>
            </a:r>
            <a:r>
              <a:rPr lang="en-IN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55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E2B320-A81B-AAFE-8C3D-6C519AF2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50" y="74467"/>
            <a:ext cx="8426262" cy="499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0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7CD6-1578-DC54-2380-47B69A25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+mj-lt"/>
              </a:rPr>
              <a:t>The Extended Kalman Filter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CC241-6649-557E-457D-816348E41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EKF Pipeline Results: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i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Benchmark: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4.31m | </a:t>
            </a:r>
            <a:r>
              <a:rPr lang="en-US" i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Our Error: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4.29m</a:t>
            </a:r>
            <a:endParaRPr lang="en-US">
              <a:latin typeface="Calibri"/>
              <a:ea typeface="Calibri"/>
              <a:cs typeface="Calibri"/>
            </a:endParaRPr>
          </a:p>
          <a:p>
            <a:pPr marL="139700" indent="0">
              <a:lnSpc>
                <a:spcPct val="114999"/>
              </a:lnSpc>
              <a:buNone/>
            </a:pP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MagWi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paper [2] 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ellaborates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clearly on how the have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build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there EMF pipeline so we tried to keep the same architecture.</a:t>
            </a:r>
          </a:p>
          <a:p>
            <a:pPr>
              <a:lnSpc>
                <a:spcPct val="114999"/>
              </a:lnSpc>
            </a:pPr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4-Step Architecture:</a:t>
            </a:r>
            <a:endParaRPr lang="en-US">
              <a:latin typeface="Calibri"/>
              <a:ea typeface="Calibri"/>
              <a:cs typeface="Calibri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 Reckoning: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Calculate baseline trajectory using IMU step data.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Global Wi-Fi Search: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Use the Wi-Fi KNN to identify a </a:t>
            </a:r>
            <a:r>
              <a:rPr lang="en-US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coarse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"bounding circle" of the user's location.</a:t>
            </a:r>
            <a:endParaRPr lang="en-US">
              <a:latin typeface="Calibri"/>
              <a:ea typeface="Calibri"/>
              <a:cs typeface="Calibri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Magnetic Search: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Use the Magnetic KNN to pinpoint the exact location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that Wi-Fi circle.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Kalman Fusion: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Mathematically fuse the IMU trajectory with the Wi-Fi/Mag location to eliminate sensor drift.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0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B0E276-F241-004C-3879-80DF7136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2" y="208431"/>
            <a:ext cx="7879416" cy="47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48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3DA945-5C61-0116-7C93-99114C6A3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43" y="141066"/>
            <a:ext cx="6560314" cy="486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32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D39A53-6B24-5D5E-50CE-AF5F135F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1" y="73328"/>
            <a:ext cx="3963336" cy="2787803"/>
          </a:xfrm>
          <a:prstGeom prst="rect">
            <a:avLst/>
          </a:prstGeom>
        </p:spPr>
      </p:pic>
      <p:pic>
        <p:nvPicPr>
          <p:cNvPr id="2" name="Picture 1" descr="A graph with a red line&#10;&#10;AI-generated content may be incorrect.">
            <a:extLst>
              <a:ext uri="{FF2B5EF4-FFF2-40B4-BE49-F238E27FC236}">
                <a16:creationId xmlns:a16="http://schemas.microsoft.com/office/drawing/2014/main" id="{E8019C33-2BDF-F86B-05AB-0909E11B3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50" y="1477774"/>
            <a:ext cx="4369174" cy="3062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7DA53B-2766-6237-98FA-592213323C6F}"/>
              </a:ext>
            </a:extLst>
          </p:cNvPr>
          <p:cNvSpPr txBox="1"/>
          <p:nvPr/>
        </p:nvSpPr>
        <p:spPr>
          <a:xfrm>
            <a:off x="800341" y="2854013"/>
            <a:ext cx="322371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Tested on the S9+ model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875E6-C040-5E43-22CA-0742EA380268}"/>
              </a:ext>
            </a:extLst>
          </p:cNvPr>
          <p:cNvSpPr txBox="1"/>
          <p:nvPr/>
        </p:nvSpPr>
        <p:spPr>
          <a:xfrm>
            <a:off x="5338888" y="4536258"/>
            <a:ext cx="2309301" cy="3161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Tested on the A8 model</a:t>
            </a:r>
          </a:p>
        </p:txBody>
      </p:sp>
    </p:spTree>
    <p:extLst>
      <p:ext uri="{BB962C8B-B14F-4D97-AF65-F5344CB8AC3E}">
        <p14:creationId xmlns:p14="http://schemas.microsoft.com/office/powerpoint/2010/main" val="2149444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F1B3-3C73-33FE-4E27-0A0F742E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j-lt"/>
              </a:rPr>
              <a:t>Proposed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69C60-8A3D-73A0-E50F-4BEDB22A3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Limitation of Traditional Models (KNN/EKF):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285750"/>
            <a:r>
              <a:rPr lang="en-IN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Imbalance: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127 Wi-Fi signals mathematically overpower 3 Magnetic vectors in simple distance metrics.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285750"/>
            <a:r>
              <a:rPr lang="en-IN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Point Predictions: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KNN treats every location as a disconnected snapshot, ignoring the continuous physics of human movement.</a:t>
            </a:r>
          </a:p>
          <a:p>
            <a:pPr marL="285750" indent="-285750">
              <a:lnSpc>
                <a:spcPct val="114999"/>
              </a:lnSpc>
            </a:pPr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Deep Learning Pipeline:</a:t>
            </a:r>
          </a:p>
          <a:p>
            <a:pPr marL="742950" indent="-285750"/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Preprocessed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normalized matrix of 130 features (Wi-Fi RSS + Magnetic X, Y, Z).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indent="-285750"/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Layer (Spatial Extraction):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Acts as a feature extractor. Treats the 130 inputs like a 1D or 2D image, learning complex, non-linear relationships and automatically balancing the importance of Wi-Fi vs. Magnetic data.</a:t>
            </a:r>
          </a:p>
          <a:p>
            <a:pPr marL="742950" indent="-285750"/>
            <a:r>
              <a:rPr lang="en-IN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Layer (Temporal Tracking):</a:t>
            </a:r>
            <a:r>
              <a:rPr lang="en-IN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Receives the spatial features from the CNN. Uses its "memory" cells to track the sequence of the user's steps over time, naturally filtering out erratic jumps and predicting smooth trajectories.</a:t>
            </a:r>
          </a:p>
          <a:p>
            <a:pPr marL="139700" indent="0">
              <a:lnSpc>
                <a:spcPct val="114999"/>
              </a:lnSpc>
              <a:buNone/>
            </a:pP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6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F54B-BF4D-3C83-3DD5-4A3CBF28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solidFill>
                  <a:srgbClr val="1F2328"/>
                </a:solidFill>
                <a:latin typeface="+mj-lt"/>
              </a:rPr>
              <a:t>Why CNN + LSTM? A Theoretical Fit</a:t>
            </a:r>
            <a:endParaRPr lang="en-US" sz="2800">
              <a:latin typeface="+mj-lt"/>
            </a:endParaRP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56CCE-F954-5891-5231-A529E526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Signals are Complementary: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Wi-Fi RSS Fingerprinting: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 spatial uniqueness (distinguishes rooms/wings).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 temporal instability (multipath fading, moving crowds, device heterogeneity).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Magnetic Field Fingerprinting: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Highly stable, infrastructure-free distortions caused by a building's steel reinforcements.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Low spatial discriminability (long, symmetrical corridors look identical).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Perfect Mathematical Fit: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handles the Wi-Fi Noise: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Convolutional filters are exceptionally robust against local noise and missing data (dropped packets), extracting the true spatial "fingerprint map" across the building.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handles the Magnetic Ambiguity: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By tracking the sequence of magnetic distortions over time, the LSTM learns </a:t>
            </a:r>
            <a:r>
              <a:rPr lang="en-US" i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en-US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specific corridor the user is walking down, breaking the symmetrical ambiguity.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38856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B5CA-0B4C-A773-17C8-849F6F9B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Arial"/>
                <a:cs typeface="Arial"/>
              </a:rPr>
              <a:t>Future Goals and Innovations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4B1CC-825B-D4E3-9330-A5A0083BA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1"/>
            <a:ext cx="7704000" cy="3565252"/>
          </a:xfrm>
        </p:spPr>
        <p:txBody>
          <a:bodyPr/>
          <a:lstStyle/>
          <a:p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Phase 4.1: Deep Fusion Network Development (Current/Next)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Fully implement, train, and tune the CNN + LSTM architectures against our established KNN/EKF baselines.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Phase 4.2: Edge-Computing Optimization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Goal: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A model is useless if it drains a smartphone battery in minutes.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The Method: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Prune and quantize the deep networks to ensure lightweight, on-device inference without cloud latency.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Phase 5: Quantum Machine Learning (QML) - </a:t>
            </a:r>
            <a:r>
              <a:rPr lang="en-US" b="1" i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Innovative Stretch Goal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Investigate integrating quantum circuits (e.g., Quantum Neural Networks or QSVMs) to radically optimize complex feature mapping and reduce classical computational costs.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Potential Improvements: 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Reduction in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Number of parameters and weights.[5]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Faster convergence so the training time reduces significantly. [6]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Reduction in time complexities.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</a:t>
            </a:r>
            <a:r>
              <a:rPr lang="en-US"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latin typeface="Calibri"/>
                <a:ea typeface="Calibri"/>
                <a:cs typeface="Calibri"/>
              </a:rPr>
              <a:t>Has inherent compatibility for non-linear data.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</a:t>
            </a:r>
            <a:r>
              <a:rPr lang="en-US">
                <a:latin typeface="Calibri"/>
                <a:ea typeface="Calibri"/>
                <a:cs typeface="Calibri"/>
              </a:rPr>
              <a:t>- </a:t>
            </a:r>
            <a:r>
              <a:rPr lang="en-US" dirty="0">
                <a:latin typeface="Calibri"/>
                <a:ea typeface="Calibri"/>
                <a:cs typeface="Calibri"/>
              </a:rPr>
              <a:t>Requires less amount of training data.[7]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latin typeface="Calibri"/>
                <a:ea typeface="Calibri"/>
                <a:cs typeface="Calibri"/>
              </a:rPr>
              <a:t>  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 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endParaRPr lang="en-US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7936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D426-229C-22A6-4F1B-C3829D27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+mj-lt"/>
              </a:rPr>
              <a:t>Budget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14619-BFDF-1321-4B83-487060860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Estimate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4999"/>
              </a:lnSpc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₹10,000 allocated for HPC usage, covering compute costs for GPU training, large-scale experiments, and model evaluation.</a:t>
            </a:r>
          </a:p>
          <a:p>
            <a:pPr>
              <a:lnSpc>
                <a:spcPct val="114999"/>
              </a:lnSpc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₹20,000 allocated for miscellaneous contingency expenses such as books, conference registration, external storage drives, and other research-related materials.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06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02CC-10A7-8C98-7467-618D12D5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latin typeface="+mn-lt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61506-69BA-DB54-74A6-5B07C7731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Saeed,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Mohamedalfateh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TM, Mosab AA Yousif, and Ibrahim Ozturk. "Mitigating Device Heterogeneity for Enhanced Indoor Positioning System Performance Using Deep Feature Learning."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Access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(2025).</a:t>
            </a:r>
          </a:p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Ashraf, Imran, et al. "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MagWi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Benchmark dataset for long term magnetic field and Wi-Fi data involving heterogeneous smartphones, multiple orientations, spatial diversity and multi-floor buildings."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Access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9 (2021): 77976-77996.</a:t>
            </a:r>
          </a:p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Klipp, Konstantin, et al. "Comparing CNN and LSTM Networks for Magnetic Localization of IoT Devices and Pedestrian Tracking."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11th International Conference on Computing and Artificial Intelligence (ICCAI)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IEEE, 2025.</a:t>
            </a:r>
          </a:p>
          <a:p>
            <a:pPr marL="139700" indent="0">
              <a:buNone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Zhang, Wei, et al. "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DeepPositioning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Intelligent fusion of pervasive magnetic field and </a:t>
            </a:r>
            <a:r>
              <a:rPr lang="en-IN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fingerprinting for smartphone indoor localization via deep learning." </a:t>
            </a:r>
            <a:r>
              <a: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2017 16th IEEE International Conference on Machine Learning and Applications (ICMLA)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IEEE, 2017.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 Mittal, Sparsh, et al. "Hybrid quantum machine learning based human speech emotion recognition." </a:t>
            </a:r>
            <a:r>
              <a:rPr lang="en-US" sz="1200" i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IEEE International Conference on Acoustics, Speech, and Signal Processing Workshops (ICASSPW)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IEEE, 2025.</a:t>
            </a:r>
          </a:p>
          <a:p>
            <a:pPr marL="139700" indent="0">
              <a:lnSpc>
                <a:spcPct val="114999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 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Qu,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Zhiguo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 al. "QFSM: a novel quantum federated learning algorithm for speech emotion recognition with minimal gated unit in 5G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IoV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." </a:t>
            </a:r>
            <a:r>
              <a:rPr lang="en-US" sz="1200" i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IEEE Transactions on Intelligent Vehicles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(2024).</a:t>
            </a:r>
          </a:p>
          <a:p>
            <a:pPr marL="139700" indent="0"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 </a:t>
            </a: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classical–quantum Convolutional Neural Network for stenosis detection in X-ray coronary angiography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>
              <a:buNone/>
            </a:pP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98422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Report for Education by Slidesgo">
  <a:themeElements>
    <a:clrScheme name="Simple Light">
      <a:dk1>
        <a:srgbClr val="273538"/>
      </a:dk1>
      <a:lt1>
        <a:srgbClr val="F8F8F8"/>
      </a:lt1>
      <a:dk2>
        <a:srgbClr val="C8F0B9"/>
      </a:dk2>
      <a:lt2>
        <a:srgbClr val="A4EDBC"/>
      </a:lt2>
      <a:accent1>
        <a:srgbClr val="75E9C1"/>
      </a:accent1>
      <a:accent2>
        <a:srgbClr val="40E2C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1994</Words>
  <Application>Microsoft Office PowerPoint</Application>
  <PresentationFormat>On-screen Show (16:9)</PresentationFormat>
  <Paragraphs>113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Nunito Light</vt:lpstr>
      <vt:lpstr>Questrial</vt:lpstr>
      <vt:lpstr>Figtree</vt:lpstr>
      <vt:lpstr>Calibri</vt:lpstr>
      <vt:lpstr>DM Sans</vt:lpstr>
      <vt:lpstr>Arial</vt:lpstr>
      <vt:lpstr>Research Report for Education by Slidesgo</vt:lpstr>
      <vt:lpstr>SURA : Indoor Localization Using Wi-Fi and Magnetic Fields in GPS Denied Scenarios</vt:lpstr>
      <vt:lpstr>Problem with GPS and Current Solutions</vt:lpstr>
      <vt:lpstr>Literature Review and Research Gap</vt:lpstr>
      <vt:lpstr>Objectives</vt:lpstr>
      <vt:lpstr>Dataset Analysis</vt:lpstr>
      <vt:lpstr>Project Timeline</vt:lpstr>
      <vt:lpstr>Proof of Concept – Single Signal Baselines</vt:lpstr>
      <vt:lpstr>Proof of Concept – Hybrid KNN Fusion</vt:lpstr>
      <vt:lpstr>PowerPoint Presentation</vt:lpstr>
      <vt:lpstr>The Extended Kalman Filter Pipeline</vt:lpstr>
      <vt:lpstr>PowerPoint Presentation</vt:lpstr>
      <vt:lpstr>PowerPoint Presentation</vt:lpstr>
      <vt:lpstr>PowerPoint Presentation</vt:lpstr>
      <vt:lpstr>Proposed Architecture</vt:lpstr>
      <vt:lpstr>Why CNN + LSTM? A Theoretical Fit </vt:lpstr>
      <vt:lpstr>Future Goals and Innovations</vt:lpstr>
      <vt:lpstr>Budget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Jayendra Birhade</cp:lastModifiedBy>
  <cp:revision>1</cp:revision>
  <dcterms:modified xsi:type="dcterms:W3CDTF">2026-04-21T11:17:37Z</dcterms:modified>
</cp:coreProperties>
</file>