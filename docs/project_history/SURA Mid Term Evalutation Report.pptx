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notesSlides/notesSlide2.xml" ContentType="application/vnd.openxmlformats-officedocument.presentationml.notesSlide+xml"/>
  <Override PartName="/ppt/ink/ink11.xml" ContentType="application/inkml+xml"/>
  <Override PartName="/ppt/ink/ink12.xml" ContentType="application/inkml+xml"/>
  <Override PartName="/ppt/ink/ink13.xml" ContentType="application/inkml+xml"/>
  <Override PartName="/ppt/ink/ink14.xml" ContentType="application/inkml+xml"/>
  <Override PartName="/ppt/notesSlides/notesSlide3.xml" ContentType="application/vnd.openxmlformats-officedocument.presentationml.notesSlide+xml"/>
  <Override PartName="/ppt/ink/ink15.xml" ContentType="application/inkml+xml"/>
  <Override PartName="/ppt/ink/ink16.xml" ContentType="application/inkml+xml"/>
  <Override PartName="/ppt/ink/ink17.xml" ContentType="application/inkml+xml"/>
  <Override PartName="/ppt/ink/ink18.xml" ContentType="application/inkml+xml"/>
  <Override PartName="/ppt/notesSlides/notesSlide4.xml" ContentType="application/vnd.openxmlformats-officedocument.presentationml.notesSlide+xml"/>
  <Override PartName="/ppt/ink/ink19.xml" ContentType="application/inkml+xml"/>
  <Override PartName="/ppt/ink/ink20.xml" ContentType="application/inkml+xml"/>
  <Override PartName="/ppt/ink/ink21.xml" ContentType="application/inkml+xml"/>
  <Override PartName="/ppt/ink/ink22.xml" ContentType="application/inkml+xml"/>
  <Override PartName="/ppt/notesSlides/notesSlide5.xml" ContentType="application/vnd.openxmlformats-officedocument.presentationml.notesSlide+xml"/>
  <Override PartName="/ppt/ink/ink23.xml" ContentType="application/inkml+xml"/>
  <Override PartName="/ppt/ink/ink24.xml" ContentType="application/inkml+xml"/>
  <Override PartName="/ppt/ink/ink25.xml" ContentType="application/inkml+xml"/>
  <Override PartName="/ppt/ink/ink26.xml" ContentType="application/inkml+xml"/>
  <Override PartName="/ppt/notesSlides/notesSlide6.xml" ContentType="application/vnd.openxmlformats-officedocument.presentationml.notesSlide+xml"/>
  <Override PartName="/ppt/ink/ink27.xml" ContentType="application/inkml+xml"/>
  <Override PartName="/ppt/ink/ink28.xml" ContentType="application/inkml+xml"/>
  <Override PartName="/ppt/ink/ink29.xml" ContentType="application/inkml+xml"/>
  <Override PartName="/ppt/ink/ink30.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9144000" cy="5143500" type="screen16x9"/>
  <p:notesSz cx="5143500" cy="9144000"/>
  <p:embeddedFontLst>
    <p:embeddedFont>
      <p:font typeface="Consolas" panose="020B0609020204030204" pitchFamily="49" charset="0"/>
      <p:regular r:id="rId9"/>
      <p:bold r:id="rId10"/>
      <p:italic r:id="rId11"/>
      <p:boldItalic r:id="rId12"/>
    </p:embeddedFont>
    <p:embeddedFont>
      <p:font typeface="Raleway" panose="020F0502020204030204" pitchFamily="2" charset="0"/>
      <p:regular r:id="rId13"/>
    </p:embeddedFont>
    <p:embeddedFont>
      <p:font typeface="Roboto" panose="020F0502020204030204" pitchFamily="2" charset="0"/>
      <p:regular r:id="rId1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8" d="100"/>
          <a:sy n="118" d="100"/>
        </p:scale>
        <p:origin x="44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font" Target="fonts/font5.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4.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font" Target="fonts/font6.fntdata"/></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13T14:05:27.562"/>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0 202,'352'-9,"20"0,-339 8,0-2,43-10,27-3,53 14,0 0,-88-6,-38 4,40-2,8 8,66-3,-139 0,1-1,-1 1,0-1,0 1,0-1,-1-1,1 1,0-1,-1 0,0 0,0 0,1 0,-2-1,1 0,0 0,3-6,-2 5,0-1,0 1,1 0,-1 0,1 1,0-1,0 1,13-6,6 3,0 0,0 2,0 1,1 1,0 1,-1 1,27 2,-45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13T14:05:28.852"/>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1,'106'5,"1"5,105 24,-111-17,230 55,-324-71,-1 1,1-1,0 0,0 0,0-1,0 0,-1 0,1-1,0 0,0 0,0 0,-1-1,1 0,-1 0,1-1,6-4,8-1,0 1,0 1,44-8,-234 22,150-5,1 0,0 2,0 0,0 1,0 1,1 0,0 1,1 1,-23 16,12-8,15-12</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13T14:05:29.604"/>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2971 1877,'-598'-36,"278"-5,-432-113,711 143,1-1,0-2,0-2,2-2,0-1,1-2,1-2,1-1,-32-29,19 7,2-3,3-1,-73-110,-83-187,72 79,-21-37,127 268,-1 2,-2 0,-35-38,40 55,2 7</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13T14:05:30.386"/>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0 1297,'1'7,"1"1,-1-1,1 0,0 0,1 0,0 0,0 0,0-1,6 8,5 12,43 106,35 69,-90-196,0-1,1 0,-1 0,1 0,0 0,0 0,1 0,-1-1,6 5,-7-7,0 0,0-1,-1 1,1 0,0-1,0 1,0-1,0 0,0 0,0 1,0-1,0-1,0 1,0 0,0 0,0-1,-1 1,1-1,0 1,0-1,0 0,-1 0,1 0,0 0,-1 0,3-2,25-18,31-29,-37 29,2 1,40-26,-58 43,-1-2,0 1,1-1,-1 0,-1 0,1-1,-1 0,0 0,0 0,-1 0,0-1,6-12,-6 9,0-1,-1 0,0 0,-1 0,0 0,-1 0,0-22,-4-6,-2 0,-2 0,-23-74,25 98,-98-461,-12-37,106 485,-19-55,25 76,0 0,0 0,-1 0,0 1,-1-1,1 1,-1 0,-8-7,-1 4</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13T14:05:31.377"/>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1,'678'30,"-613"-22,140 24,-182-27,1 2,-1 0,0 2,-1 0,0 2,28 18,-31-16</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13T14:05:31.856"/>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13T14:05:32"/>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13T14:05:32.128"/>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13T14:05:32.991"/>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0,'8'7,"0"-2,1 1,0-1,0-1,1 1,-1-2,1 1,0-1,16 3,4 2,468 125,-413-114,2-4,104 4,175-11,-87-4,-255-2,42 9,1 0,-86-22,1-1,-17-16,34 27,-21-16</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14:05:57.734"/>
    </inkml:context>
    <inkml:brush xml:id="br0">
      <inkml:brushProperty name="width" value="0.35" units="cm"/>
      <inkml:brushProperty name="height" value="0.35" units="cm"/>
      <inkml:brushProperty name="color" value="#FFFFFF"/>
    </inkml:brush>
  </inkml:definitions>
  <inkml:trace contextRef="#ctx0" brushRef="#br0">255 443 24575,'9'-6'0,"0"0"0,1 0 0,0 1 0,0 0 0,0 1 0,0 0 0,1 0 0,-1 1 0,17-2 0,8-4 0,38-11 0,46-15 0,-46 3 0,-54 23 0,0 0 0,0 1 0,1 1 0,-1 1 0,2 1 0,-1 0 0,23-1 0,-35 5 0,0 1 0,-1-1 0,0 1 0,1 1 0,-1-1 0,0 1 0,9 2 0,-16-3 0,1 0 0,-1 0 0,0 1 0,1-1 0,-1 0 0,0 0 0,1 0 0,-1 0 0,0 0 0,1 1 0,-1-1 0,0 0 0,0 0 0,1 1 0,-1-1 0,0 0 0,0 0 0,0 1 0,1-1 0,-1 0 0,0 1 0,0-1 0,0 0 0,0 1 0,1-1 0,-1 0 0,0 1 0,0-1 0,0 0 0,0 1 0,0-1 0,0 0 0,0 1 0,0-1 0,-8 14 0,-17 6 0,13-14 0,1-1 0,-1 0 0,0-1 0,0 0 0,-1-1 0,1-1 0,-23 3 0,-93-2 0,115-3 0,-40 0 0,-5 1 0,-1-3 0,1-2 0,-61-12 0,-1-25 0,87 30 0,1-1 0,-54-28 0,85 39 0,0 1 0,0 0 0,0-1 0,0 1 0,1 0 0,-1-1 0,0 0 0,0 1 0,1-1 0,-1 1 0,0-1 0,1 0 0,-1 1 0,0-1 0,1 0 0,-1 0 0,1 1 0,-1-3 0,1 3 0,0 0 0,0-1 0,0 1 0,0-1 0,1 1 0,-1-1 0,0 1 0,0 0 0,0-1 0,1 1 0,-1 0 0,0-1 0,1 1 0,-1 0 0,0-1 0,1 1 0,-1 0 0,0-1 0,1 1 0,-1 0 0,0 0 0,1 0 0,-1-1 0,1 1 0,0 0 0,36-7 0,-13 9 0,1 1 0,0 1 0,-1 1 0,0 1 0,32 12 0,46 11 0,-15-5 0,-61-15 0,42 8 0,-58-15 0,0-1 0,0 0 0,0-1 0,0 0 0,0-1 0,0 0 0,0 0 0,10-4 0,-3 0 0,-1-2 0,0 0 0,-1-1 0,1-1 0,-2 0 0,24-19 0,7-4 0,-40 29 0,0-1 0,-1-1 0,1 1 0,-1 0 0,0-1 0,0 0 0,-1 0 0,1 0 0,-1-1 0,0 1 0,3-10 0,-5 12 0,1 0 0,-1-1 0,0 1 0,-1 0 0,1 0 0,0-1 0,-1 1 0,0 0 0,0-1 0,0 1 0,0 0 0,0 0 0,-1-1 0,1 1 0,-1 0 0,0 0 0,0-1 0,0 1 0,-1 0 0,1 0 0,-1 0 0,-2-3 0,-26-23 0,30 28 0,-1 0 0,0 0 0,1 1 0,-1-1 0,0 1 0,0-1 0,0 0 0,1 1 0,-1-1 0,0 1 0,0 0 0,0-1 0,0 1 0,0 0 0,0-1 0,0 1 0,0 0 0,0 0 0,0 0 0,0 0 0,0 0 0,1 0 0,-1 0 0,0 0 0,0 0 0,0 0 0,0 1 0,0-1 0,0 0 0,0 1 0,0-1 0,0 1 0,0-1 0,1 1 0,-1-1 0,0 1 0,-1 1 0,1-1 0,1 0 0,0 1 0,-1-1 0,1 0 0,0 1 0,0-1 0,-1 0 0,1 1 0,0-1 0,0 1 0,1-1 0,-1 0 0,0 1 0,0-1 0,1 0 0,-1 1 0,1-1 0,-1 0 0,1 1 0,0-1 0,-1 0 0,1 0 0,1 2 0,21 26 0,-8-15 0,1-1 0,1 0 0,-1-2 0,2 0 0,0 0 0,0-2 0,0 0 0,26 8 0,17 2 0,85 16 0,37-6 0,-152-26 0,1-2 0,-1-2 0,61-7 0,-86 7 0,25-4 0,0-1 0,-1-1 0,45-17 0,-137 42 0,11-4 0,-3 6 0,0 3 0,-92 53 0,130-67 0,0-1 0,-1-1 0,0 0 0,0-1 0,-1-1 0,0 0 0,-22 2 0,-134 4 0,27-3 0,122-6 0,-30 4 0,52-5 0,0-1 0,0 1 0,0 0 0,0 0 0,0 0 0,0 1 0,0-1 0,0 1 0,1-1 0,-1 1 0,1 0 0,-1 0 0,-3 4 0,6-5 0,-1-1 0,1 0 0,0 1 0,-1-1 0,1 1 0,0-1 0,0 1 0,0-1 0,-1 1 0,1-1 0,0 1 0,0-1 0,0 1 0,0-1 0,0 1 0,0-1 0,0 1 0,0-1 0,0 1 0,0-1 0,0 1 0,0-1 0,0 1 0,1-1 0,-1 1 0,0-1 0,0 1 0,0-1 0,1 1 0,14 11 0,23 0 0,-28-11 0,0 0 0,0-1 0,1 0 0,-1 0 0,0-1 0,0-1 0,0 0 0,19-5 0,6-5 0,37-20 0,-14 7 0,12 0 0,2 4 0,0 2 0,0 4 0,1 3 0,1 3 0,127 1 0,397 38 0,-523-19 0,-53-7 0,1 0 0,-1-2 0,1 0 0,26-3 0,-47 1 0,0 0 0,0 0 0,-1-1 0,1 1 0,0-1 0,0 1 0,-1-1 0,1 1 0,0-1 0,-1 0 0,3-2 0,-3 3 0,-1-1 0,1 1 0,-1 0 0,1-1 0,-1 1 0,0-1 0,1 0 0,-1 1 0,0-1 0,1 1 0,-1-1 0,0 1 0,0-1 0,1 0 0,-1 1 0,0-1 0,0 0 0,0 1 0,0-1 0,0 0 0,0 1 0,0-2 0,-1 1 0,1-1 0,-1 1 0,0-1 0,0 1 0,0-1 0,0 1 0,0-1 0,0 1 0,0 0 0,0 0 0,0-1 0,-1 1 0,1 0 0,0 0 0,-1 0 0,1 1 0,-1-1 0,1 0 0,-1 0 0,0 1 0,1-1 0,-3 0 0,-7-1 0,1 0 0,0 0 0,-1 1 0,1 1 0,-1 0 0,1 0 0,-13 2 0,-72 17 0,67-12 0,-3 0 0,-434 118 0,441-119 0,1 0 0,-1-2 0,-1 0 0,-31-1 0,48-2 0,-36 7 0,21-5 0,51-20 0,31-9 0,1 3 0,67-18 0,-54 19 0,70-32 0,-120 45 0,1 0 0,-1 2 0,2 0 0,-1 2 0,0 1 0,1 0 0,0 2 0,40 2 0,-45-1 0,-1-1 0,24-4 0,-22 2 0,38-2 0,-21 5 0,1 2 0,-1 1 0,0 2 0,60 15 0,-41-10 0,-38-6 0,-17-2 0,-6-1 0,-599-2 0,327 3 0,273-1 0,-1 0 0,1 0 0,0 0 0,0 0 0,0 1 0,0-1 0,0 1 0,0 0 0,0 0 0,0 0 0,0 0 0,1 1 0,-1-1 0,0 1 0,1-1 0,-4 4 0,5-3 0,0-1 0,0 1 0,0 0 0,0-1 0,1 1 0,-1 0 0,0 0 0,1 0 0,0-1 0,-1 1 0,1 0 0,0 0 0,0 0 0,0 0 0,0 0 0,1 0 0,-1 0 0,0-1 0,1 1 0,0 0 0,-1 0 0,1 0 0,0-1 0,0 1 0,0 0 0,0-1 0,2 4 0,6 9 0,-9-14 0,0 0 0,0 0 0,0 0 0,0 0 0,0 0 0,0 0 0,0 0 0,0 0 0,0-1 0,0 1 0,0 0 0,0 0 0,0 0 0,0 0 0,0 0 0,0 0 0,0 0 0,0 0 0,1 0 0,-1 0 0,0 0 0,0 0 0,0 0 0,0 0 0,0 0 0,0 0 0,0 0 0,0 0 0,0 0 0,0 0 0,0 0 0,0 0 0,0 0 0,0 0 0,0 0 0,0 0 0,0 0 0,1 0 0,-1 0 0,0 0 0,0 0 0,0 0 0,0 0 0,0 0 0,0 0 0,0 0 0,0 0 0,0 0 0,0 0 0,0 0 0,0 0 0,0 0 0,0 0 0,0 0 0,-7-27 0,1 2 0,4 20 0,1-1 0,0 1 0,1 0 0,-1 0 0,1-1 0,0 1 0,1 0 0,-1-1 0,1 1 0,0 0 0,0 0 0,1-1 0,-1 1 0,1 0 0,0 0 0,1 1 0,-1-1 0,1 0 0,0 1 0,0 0 0,0-1 0,1 1 0,0 1 0,-1-1 0,1 0 0,1 1 0,-1 0 0,0 0 0,1 0 0,0 0 0,-1 1 0,1 0 0,0 0 0,6-2 0,27-10 0,-24 8 0,1 1 0,-1 0 0,1 1 0,0 1 0,0 0 0,23-1 0,-1 3 0,1 2 0,0 1 0,-1 2 0,0 2 0,54 15 0,60 39 0,7 2 0,-148-59 0,3 0 0,-1 0 0,0 2 0,0-1 0,-1 1 0,0 1 0,17 11 0,-27-16 0,0 0 0,0 0 0,0 0 0,0 0 0,0 0 0,-1 0 0,1 1 0,0-1 0,-1 0 0,1 1 0,-1-1 0,0 0 0,1 1 0,-1-1 0,0 1 0,0-1 0,0 0 0,1 1 0,-2-1 0,1 1 0,0-1 0,0 1 0,0-1 0,-1 0 0,1 1 0,-1-1 0,1 0 0,-1 1 0,1-1 0,-1 0 0,0 0 0,0 1 0,1-1 0,-1 0 0,-2 2 0,-4 5 0,0-1 0,-1 1 0,-15 10 0,14-10 0,-5 4 0,-1 0 0,0 0 0,0-1 0,-1-1 0,-1-1 0,0 0 0,-32 11 0,30-14 0,0-1 0,0 0 0,-1-2 0,0 0 0,-24 0 0,48-4 0,0 0 0,1 1 0,-1-1 0,0 0 0,1-1 0,-1 1 0,0-1 0,7-4 0,42-26 0,-9 4 0,14-1-1365</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13T14:06:16.396"/>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0 202,'352'-9,"20"0,-339 8,0-2,43-10,27-3,53 14,0 0,-88-6,-38 4,40-2,8 8,66-3,-139 0,1-1,-1 1,0-1,0 1,0-1,-1-1,1 1,0-1,-1 0,0 0,0 0,1 0,-2-1,1 0,0 0,3-6,-2 5,0-1,0 1,1 0,-1 0,1 1,0-1,0 1,13-6,6 3,0 0,0 2,0 1,1 1,0 1,-1 1,27 2,-45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13T14:06:16.397"/>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1,'106'5,"1"5,105 24,-111-17,230 55,-324-71,-1 1,1-1,0 0,0 0,0-1,0 0,-1 0,1-1,0 0,0 0,0 0,-1-1,1 0,-1 0,1-1,6-4,8-1,0 1,0 1,44-8,-234 22,150-5,1 0,0 2,0 0,0 1,0 1,1 0,0 1,1 1,-23 16,12-8,15-12</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13T14:06:16.398"/>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2971 1877,'-598'-36,"278"-5,-432-113,711 143,1-1,0-2,0-2,2-2,0-1,1-2,1-2,1-1,-32-29,19 7,2-3,3-1,-73-110,-83-187,72 79,-21-37,127 268,-1 2,-2 0,-35-38,40 55,2 7</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14:06:16.399"/>
    </inkml:context>
    <inkml:brush xml:id="br0">
      <inkml:brushProperty name="width" value="0.35" units="cm"/>
      <inkml:brushProperty name="height" value="0.35" units="cm"/>
      <inkml:brushProperty name="color" value="#FFFFFF"/>
    </inkml:brush>
  </inkml:definitions>
  <inkml:trace contextRef="#ctx0" brushRef="#br0">255 443 24575,'9'-6'0,"0"0"0,1 0 0,0 1 0,0 0 0,0 1 0,0 0 0,1 0 0,-1 1 0,17-2 0,8-4 0,38-11 0,46-15 0,-46 3 0,-54 23 0,0 0 0,0 1 0,1 1 0,-1 1 0,2 1 0,-1 0 0,23-1 0,-35 5 0,0 1 0,-1-1 0,0 1 0,1 1 0,-1-1 0,0 1 0,9 2 0,-16-3 0,1 0 0,-1 0 0,0 1 0,1-1 0,-1 0 0,0 0 0,1 0 0,-1 0 0,0 0 0,1 1 0,-1-1 0,0 0 0,0 0 0,1 1 0,-1-1 0,0 0 0,0 0 0,0 1 0,1-1 0,-1 0 0,0 1 0,0-1 0,0 0 0,0 1 0,1-1 0,-1 0 0,0 1 0,0-1 0,0 0 0,0 1 0,0-1 0,0 0 0,0 1 0,0-1 0,-8 14 0,-17 6 0,13-14 0,1-1 0,-1 0 0,0-1 0,0 0 0,-1-1 0,1-1 0,-23 3 0,-93-2 0,115-3 0,-40 0 0,-5 1 0,-1-3 0,1-2 0,-61-12 0,-1-25 0,87 30 0,1-1 0,-54-28 0,85 39 0,0 1 0,0 0 0,0-1 0,0 1 0,1 0 0,-1-1 0,0 0 0,0 1 0,1-1 0,-1 1 0,0-1 0,1 0 0,-1 1 0,0-1 0,1 0 0,-1 0 0,1 1 0,-1-3 0,1 3 0,0 0 0,0-1 0,0 1 0,0-1 0,1 1 0,-1-1 0,0 1 0,0 0 0,0-1 0,1 1 0,-1 0 0,0-1 0,1 1 0,-1 0 0,0-1 0,1 1 0,-1 0 0,0-1 0,1 1 0,-1 0 0,0 0 0,1 0 0,-1-1 0,1 1 0,0 0 0,36-7 0,-13 9 0,1 1 0,0 1 0,-1 1 0,0 1 0,32 12 0,46 11 0,-15-5 0,-61-15 0,42 8 0,-58-15 0,0-1 0,0 0 0,0-1 0,0 0 0,0-1 0,0 0 0,0 0 0,10-4 0,-3 0 0,-1-2 0,0 0 0,-1-1 0,1-1 0,-2 0 0,24-19 0,7-4 0,-40 29 0,0-1 0,-1-1 0,1 1 0,-1 0 0,0-1 0,0 0 0,-1 0 0,1 0 0,-1-1 0,0 1 0,3-10 0,-5 12 0,1 0 0,-1-1 0,0 1 0,-1 0 0,1 0 0,0-1 0,-1 1 0,0 0 0,0-1 0,0 1 0,0 0 0,0 0 0,-1-1 0,1 1 0,-1 0 0,0 0 0,0-1 0,0 1 0,-1 0 0,1 0 0,-1 0 0,-2-3 0,-26-23 0,30 28 0,-1 0 0,0 0 0,1 1 0,-1-1 0,0 1 0,0-1 0,0 0 0,1 1 0,-1-1 0,0 1 0,0 0 0,0-1 0,0 1 0,0 0 0,0-1 0,0 1 0,0 0 0,0 0 0,0 0 0,0 0 0,0 0 0,1 0 0,-1 0 0,0 0 0,0 0 0,0 0 0,0 1 0,0-1 0,0 0 0,0 1 0,0-1 0,0 1 0,0-1 0,1 1 0,-1-1 0,0 1 0,-1 1 0,1-1 0,1 0 0,0 1 0,-1-1 0,1 0 0,0 1 0,0-1 0,-1 0 0,1 1 0,0-1 0,0 1 0,1-1 0,-1 0 0,0 1 0,0-1 0,1 0 0,-1 1 0,1-1 0,-1 0 0,1 1 0,0-1 0,-1 0 0,1 0 0,1 2 0,21 26 0,-8-15 0,1-1 0,1 0 0,-1-2 0,2 0 0,0 0 0,0-2 0,0 0 0,26 8 0,17 2 0,85 16 0,37-6 0,-152-26 0,1-2 0,-1-2 0,61-7 0,-86 7 0,25-4 0,0-1 0,-1-1 0,45-17 0,-137 42 0,11-4 0,-3 6 0,0 3 0,-92 53 0,130-67 0,0-1 0,-1-1 0,0 0 0,0-1 0,-1-1 0,0 0 0,-22 2 0,-134 4 0,27-3 0,122-6 0,-30 4 0,52-5 0,0-1 0,0 1 0,0 0 0,0 0 0,0 0 0,0 1 0,0-1 0,0 1 0,1-1 0,-1 1 0,1 0 0,-1 0 0,-3 4 0,6-5 0,-1-1 0,1 0 0,0 1 0,-1-1 0,1 1 0,0-1 0,0 1 0,0-1 0,-1 1 0,1-1 0,0 1 0,0-1 0,0 1 0,0-1 0,0 1 0,0-1 0,0 1 0,0-1 0,0 1 0,0-1 0,0 1 0,0-1 0,0 1 0,1-1 0,-1 1 0,0-1 0,0 1 0,0-1 0,1 1 0,14 11 0,23 0 0,-28-11 0,0 0 0,0-1 0,1 0 0,-1 0 0,0-1 0,0-1 0,0 0 0,19-5 0,6-5 0,37-20 0,-14 7 0,12 0 0,2 4 0,0 2 0,0 4 0,1 3 0,1 3 0,127 1 0,397 38 0,-523-19 0,-53-7 0,1 0 0,-1-2 0,1 0 0,26-3 0,-47 1 0,0 0 0,0 0 0,-1-1 0,1 1 0,0-1 0,0 1 0,-1-1 0,1 1 0,0-1 0,-1 0 0,3-2 0,-3 3 0,-1-1 0,1 1 0,-1 0 0,1-1 0,-1 1 0,0-1 0,1 0 0,-1 1 0,0-1 0,1 1 0,-1-1 0,0 1 0,0-1 0,1 0 0,-1 1 0,0-1 0,0 0 0,0 1 0,0-1 0,0 0 0,0 1 0,0-2 0,-1 1 0,1-1 0,-1 1 0,0-1 0,0 1 0,0-1 0,0 1 0,0-1 0,0 1 0,0 0 0,0 0 0,0-1 0,-1 1 0,1 0 0,0 0 0,-1 0 0,1 1 0,-1-1 0,1 0 0,-1 0 0,0 1 0,1-1 0,-3 0 0,-7-1 0,1 0 0,0 0 0,-1 1 0,1 1 0,-1 0 0,1 0 0,-13 2 0,-72 17 0,67-12 0,-3 0 0,-434 118 0,441-119 0,1 0 0,-1-2 0,-1 0 0,-31-1 0,48-2 0,-36 7 0,21-5 0,51-20 0,31-9 0,1 3 0,67-18 0,-54 19 0,70-32 0,-120 45 0,1 0 0,-1 2 0,2 0 0,-1 2 0,0 1 0,1 0 0,0 2 0,40 2 0,-45-1 0,-1-1 0,24-4 0,-22 2 0,38-2 0,-21 5 0,1 2 0,-1 1 0,0 2 0,60 15 0,-41-10 0,-38-6 0,-17-2 0,-6-1 0,-599-2 0,327 3 0,273-1 0,-1 0 0,1 0 0,0 0 0,0 0 0,0 1 0,0-1 0,0 1 0,0 0 0,0 0 0,0 0 0,0 0 0,1 1 0,-1-1 0,0 1 0,1-1 0,-4 4 0,5-3 0,0-1 0,0 1 0,0 0 0,0-1 0,1 1 0,-1 0 0,0 0 0,1 0 0,0-1 0,-1 1 0,1 0 0,0 0 0,0 0 0,0 0 0,0 0 0,1 0 0,-1 0 0,0-1 0,1 1 0,0 0 0,-1 0 0,1 0 0,0-1 0,0 1 0,0 0 0,0-1 0,2 4 0,6 9 0,-9-14 0,0 0 0,0 0 0,0 0 0,0 0 0,0 0 0,0 0 0,0 0 0,0 0 0,0-1 0,0 1 0,0 0 0,0 0 0,0 0 0,0 0 0,0 0 0,0 0 0,0 0 0,0 0 0,1 0 0,-1 0 0,0 0 0,0 0 0,0 0 0,0 0 0,0 0 0,0 0 0,0 0 0,0 0 0,0 0 0,0 0 0,0 0 0,0 0 0,0 0 0,0 0 0,0 0 0,0 0 0,0 0 0,1 0 0,-1 0 0,0 0 0,0 0 0,0 0 0,0 0 0,0 0 0,0 0 0,0 0 0,0 0 0,0 0 0,0 0 0,0 0 0,0 0 0,0 0 0,0 0 0,0 0 0,-7-27 0,1 2 0,4 20 0,1-1 0,0 1 0,1 0 0,-1 0 0,1-1 0,0 1 0,1 0 0,-1-1 0,1 1 0,0 0 0,0 0 0,1-1 0,-1 1 0,1 0 0,0 0 0,1 1 0,-1-1 0,1 0 0,0 1 0,0 0 0,0-1 0,1 1 0,0 1 0,-1-1 0,1 0 0,1 1 0,-1 0 0,0 0 0,1 0 0,0 0 0,-1 1 0,1 0 0,0 0 0,6-2 0,27-10 0,-24 8 0,1 1 0,-1 0 0,1 1 0,0 1 0,0 0 0,23-1 0,-1 3 0,1 2 0,0 1 0,-1 2 0,0 2 0,54 15 0,60 39 0,7 2 0,-148-59 0,3 0 0,-1 0 0,0 2 0,0-1 0,-1 1 0,0 1 0,17 11 0,-27-16 0,0 0 0,0 0 0,0 0 0,0 0 0,0 0 0,-1 0 0,1 1 0,0-1 0,-1 0 0,1 1 0,-1-1 0,0 0 0,1 1 0,-1-1 0,0 1 0,0-1 0,0 0 0,1 1 0,-2-1 0,1 1 0,0-1 0,0 1 0,0-1 0,-1 0 0,1 1 0,-1-1 0,1 0 0,-1 1 0,1-1 0,-1 0 0,0 0 0,0 1 0,1-1 0,-1 0 0,-2 2 0,-4 5 0,0-1 0,-1 1 0,-15 10 0,14-10 0,-5 4 0,-1 0 0,0 0 0,0-1 0,-1-1 0,-1-1 0,0 0 0,-32 11 0,30-14 0,0-1 0,0 0 0,-1-2 0,0 0 0,-24 0 0,48-4 0,0 0 0,1 1 0,-1-1 0,0 0 0,1-1 0,-1 1 0,0-1 0,7-4 0,42-26 0,-9 4 0,14-1-1365</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13T14:06:27.848"/>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0 202,'352'-9,"20"0,-339 8,0-2,43-10,27-3,53 14,0 0,-88-6,-38 4,40-2,8 8,66-3,-139 0,1-1,-1 1,0-1,0 1,0-1,-1-1,1 1,0-1,-1 0,0 0,0 0,1 0,-2-1,1 0,0 0,3-6,-2 5,0-1,0 1,1 0,-1 0,1 1,0-1,0 1,13-6,6 3,0 0,0 2,0 1,1 1,0 1,-1 1,27 2,-45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13T14:06:27.849"/>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1,'106'5,"1"5,105 24,-111-17,230 55,-324-71,-1 1,1-1,0 0,0 0,0-1,0 0,-1 0,1-1,0 0,0 0,0 0,-1-1,1 0,-1 0,1-1,6-4,8-1,0 1,0 1,44-8,-234 22,150-5,1 0,0 2,0 0,0 1,0 1,1 0,0 1,1 1,-23 16,12-8,15-12</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13T14:06:27.850"/>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2971 1877,'-598'-36,"278"-5,-432-113,711 143,1-1,0-2,0-2,2-2,0-1,1-2,1-2,1-1,-32-29,19 7,2-3,3-1,-73-110,-83-187,72 79,-21-37,127 268,-1 2,-2 0,-35-38,40 55,2 7</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14:06:27.851"/>
    </inkml:context>
    <inkml:brush xml:id="br0">
      <inkml:brushProperty name="width" value="0.35" units="cm"/>
      <inkml:brushProperty name="height" value="0.35" units="cm"/>
      <inkml:brushProperty name="color" value="#FFFFFF"/>
    </inkml:brush>
  </inkml:definitions>
  <inkml:trace contextRef="#ctx0" brushRef="#br0">255 443 24575,'9'-6'0,"0"0"0,1 0 0,0 1 0,0 0 0,0 1 0,0 0 0,1 0 0,-1 1 0,17-2 0,8-4 0,38-11 0,46-15 0,-46 3 0,-54 23 0,0 0 0,0 1 0,1 1 0,-1 1 0,2 1 0,-1 0 0,23-1 0,-35 5 0,0 1 0,-1-1 0,0 1 0,1 1 0,-1-1 0,0 1 0,9 2 0,-16-3 0,1 0 0,-1 0 0,0 1 0,1-1 0,-1 0 0,0 0 0,1 0 0,-1 0 0,0 0 0,1 1 0,-1-1 0,0 0 0,0 0 0,1 1 0,-1-1 0,0 0 0,0 0 0,0 1 0,1-1 0,-1 0 0,0 1 0,0-1 0,0 0 0,0 1 0,1-1 0,-1 0 0,0 1 0,0-1 0,0 0 0,0 1 0,0-1 0,0 0 0,0 1 0,0-1 0,-8 14 0,-17 6 0,13-14 0,1-1 0,-1 0 0,0-1 0,0 0 0,-1-1 0,1-1 0,-23 3 0,-93-2 0,115-3 0,-40 0 0,-5 1 0,-1-3 0,1-2 0,-61-12 0,-1-25 0,87 30 0,1-1 0,-54-28 0,85 39 0,0 1 0,0 0 0,0-1 0,0 1 0,1 0 0,-1-1 0,0 0 0,0 1 0,1-1 0,-1 1 0,0-1 0,1 0 0,-1 1 0,0-1 0,1 0 0,-1 0 0,1 1 0,-1-3 0,1 3 0,0 0 0,0-1 0,0 1 0,0-1 0,1 1 0,-1-1 0,0 1 0,0 0 0,0-1 0,1 1 0,-1 0 0,0-1 0,1 1 0,-1 0 0,0-1 0,1 1 0,-1 0 0,0-1 0,1 1 0,-1 0 0,0 0 0,1 0 0,-1-1 0,1 1 0,0 0 0,36-7 0,-13 9 0,1 1 0,0 1 0,-1 1 0,0 1 0,32 12 0,46 11 0,-15-5 0,-61-15 0,42 8 0,-58-15 0,0-1 0,0 0 0,0-1 0,0 0 0,0-1 0,0 0 0,0 0 0,10-4 0,-3 0 0,-1-2 0,0 0 0,-1-1 0,1-1 0,-2 0 0,24-19 0,7-4 0,-40 29 0,0-1 0,-1-1 0,1 1 0,-1 0 0,0-1 0,0 0 0,-1 0 0,1 0 0,-1-1 0,0 1 0,3-10 0,-5 12 0,1 0 0,-1-1 0,0 1 0,-1 0 0,1 0 0,0-1 0,-1 1 0,0 0 0,0-1 0,0 1 0,0 0 0,0 0 0,-1-1 0,1 1 0,-1 0 0,0 0 0,0-1 0,0 1 0,-1 0 0,1 0 0,-1 0 0,-2-3 0,-26-23 0,30 28 0,-1 0 0,0 0 0,1 1 0,-1-1 0,0 1 0,0-1 0,0 0 0,1 1 0,-1-1 0,0 1 0,0 0 0,0-1 0,0 1 0,0 0 0,0-1 0,0 1 0,0 0 0,0 0 0,0 0 0,0 0 0,0 0 0,1 0 0,-1 0 0,0 0 0,0 0 0,0 0 0,0 1 0,0-1 0,0 0 0,0 1 0,0-1 0,0 1 0,0-1 0,1 1 0,-1-1 0,0 1 0,-1 1 0,1-1 0,1 0 0,0 1 0,-1-1 0,1 0 0,0 1 0,0-1 0,-1 0 0,1 1 0,0-1 0,0 1 0,1-1 0,-1 0 0,0 1 0,0-1 0,1 0 0,-1 1 0,1-1 0,-1 0 0,1 1 0,0-1 0,-1 0 0,1 0 0,1 2 0,21 26 0,-8-15 0,1-1 0,1 0 0,-1-2 0,2 0 0,0 0 0,0-2 0,0 0 0,26 8 0,17 2 0,85 16 0,37-6 0,-152-26 0,1-2 0,-1-2 0,61-7 0,-86 7 0,25-4 0,0-1 0,-1-1 0,45-17 0,-137 42 0,11-4 0,-3 6 0,0 3 0,-92 53 0,130-67 0,0-1 0,-1-1 0,0 0 0,0-1 0,-1-1 0,0 0 0,-22 2 0,-134 4 0,27-3 0,122-6 0,-30 4 0,52-5 0,0-1 0,0 1 0,0 0 0,0 0 0,0 0 0,0 1 0,0-1 0,0 1 0,1-1 0,-1 1 0,1 0 0,-1 0 0,-3 4 0,6-5 0,-1-1 0,1 0 0,0 1 0,-1-1 0,1 1 0,0-1 0,0 1 0,0-1 0,-1 1 0,1-1 0,0 1 0,0-1 0,0 1 0,0-1 0,0 1 0,0-1 0,0 1 0,0-1 0,0 1 0,0-1 0,0 1 0,0-1 0,0 1 0,1-1 0,-1 1 0,0-1 0,0 1 0,0-1 0,1 1 0,14 11 0,23 0 0,-28-11 0,0 0 0,0-1 0,1 0 0,-1 0 0,0-1 0,0-1 0,0 0 0,19-5 0,6-5 0,37-20 0,-14 7 0,12 0 0,2 4 0,0 2 0,0 4 0,1 3 0,1 3 0,127 1 0,397 38 0,-523-19 0,-53-7 0,1 0 0,-1-2 0,1 0 0,26-3 0,-47 1 0,0 0 0,0 0 0,-1-1 0,1 1 0,0-1 0,0 1 0,-1-1 0,1 1 0,0-1 0,-1 0 0,3-2 0,-3 3 0,-1-1 0,1 1 0,-1 0 0,1-1 0,-1 1 0,0-1 0,1 0 0,-1 1 0,0-1 0,1 1 0,-1-1 0,0 1 0,0-1 0,1 0 0,-1 1 0,0-1 0,0 0 0,0 1 0,0-1 0,0 0 0,0 1 0,0-2 0,-1 1 0,1-1 0,-1 1 0,0-1 0,0 1 0,0-1 0,0 1 0,0-1 0,0 1 0,0 0 0,0 0 0,0-1 0,-1 1 0,1 0 0,0 0 0,-1 0 0,1 1 0,-1-1 0,1 0 0,-1 0 0,0 1 0,1-1 0,-3 0 0,-7-1 0,1 0 0,0 0 0,-1 1 0,1 1 0,-1 0 0,1 0 0,-13 2 0,-72 17 0,67-12 0,-3 0 0,-434 118 0,441-119 0,1 0 0,-1-2 0,-1 0 0,-31-1 0,48-2 0,-36 7 0,21-5 0,51-20 0,31-9 0,1 3 0,67-18 0,-54 19 0,70-32 0,-120 45 0,1 0 0,-1 2 0,2 0 0,-1 2 0,0 1 0,1 0 0,0 2 0,40 2 0,-45-1 0,-1-1 0,24-4 0,-22 2 0,38-2 0,-21 5 0,1 2 0,-1 1 0,0 2 0,60 15 0,-41-10 0,-38-6 0,-17-2 0,-6-1 0,-599-2 0,327 3 0,273-1 0,-1 0 0,1 0 0,0 0 0,0 0 0,0 1 0,0-1 0,0 1 0,0 0 0,0 0 0,0 0 0,0 0 0,1 1 0,-1-1 0,0 1 0,1-1 0,-4 4 0,5-3 0,0-1 0,0 1 0,0 0 0,0-1 0,1 1 0,-1 0 0,0 0 0,1 0 0,0-1 0,-1 1 0,1 0 0,0 0 0,0 0 0,0 0 0,0 0 0,1 0 0,-1 0 0,0-1 0,1 1 0,0 0 0,-1 0 0,1 0 0,0-1 0,0 1 0,0 0 0,0-1 0,2 4 0,6 9 0,-9-14 0,0 0 0,0 0 0,0 0 0,0 0 0,0 0 0,0 0 0,0 0 0,0 0 0,0-1 0,0 1 0,0 0 0,0 0 0,0 0 0,0 0 0,0 0 0,0 0 0,0 0 0,0 0 0,1 0 0,-1 0 0,0 0 0,0 0 0,0 0 0,0 0 0,0 0 0,0 0 0,0 0 0,0 0 0,0 0 0,0 0 0,0 0 0,0 0 0,0 0 0,0 0 0,0 0 0,0 0 0,0 0 0,1 0 0,-1 0 0,0 0 0,0 0 0,0 0 0,0 0 0,0 0 0,0 0 0,0 0 0,0 0 0,0 0 0,0 0 0,0 0 0,0 0 0,0 0 0,0 0 0,0 0 0,-7-27 0,1 2 0,4 20 0,1-1 0,0 1 0,1 0 0,-1 0 0,1-1 0,0 1 0,1 0 0,-1-1 0,1 1 0,0 0 0,0 0 0,1-1 0,-1 1 0,1 0 0,0 0 0,1 1 0,-1-1 0,1 0 0,0 1 0,0 0 0,0-1 0,1 1 0,0 1 0,-1-1 0,1 0 0,1 1 0,-1 0 0,0 0 0,1 0 0,0 0 0,-1 1 0,1 0 0,0 0 0,6-2 0,27-10 0,-24 8 0,1 1 0,-1 0 0,1 1 0,0 1 0,0 0 0,23-1 0,-1 3 0,1 2 0,0 1 0,-1 2 0,0 2 0,54 15 0,60 39 0,7 2 0,-148-59 0,3 0 0,-1 0 0,0 2 0,0-1 0,-1 1 0,0 1 0,17 11 0,-27-16 0,0 0 0,0 0 0,0 0 0,0 0 0,0 0 0,-1 0 0,1 1 0,0-1 0,-1 0 0,1 1 0,-1-1 0,0 0 0,1 1 0,-1-1 0,0 1 0,0-1 0,0 0 0,1 1 0,-2-1 0,1 1 0,0-1 0,0 1 0,0-1 0,-1 0 0,1 1 0,-1-1 0,1 0 0,-1 1 0,1-1 0,-1 0 0,0 0 0,0 1 0,1-1 0,-1 0 0,-2 2 0,-4 5 0,0-1 0,-1 1 0,-15 10 0,14-10 0,-5 4 0,-1 0 0,0 0 0,0-1 0,-1-1 0,-1-1 0,0 0 0,-32 11 0,30-14 0,0-1 0,0 0 0,-1-2 0,0 0 0,-24 0 0,48-4 0,0 0 0,1 1 0,-1-1 0,0 0 0,1-1 0,-1 1 0,0-1 0,7-4 0,42-26 0,-9 4 0,14-1-1365</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13T14:06:30.933"/>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0 202,'352'-9,"20"0,-339 8,0-2,43-10,27-3,53 14,0 0,-88-6,-38 4,40-2,8 8,66-3,-139 0,1-1,-1 1,0-1,0 1,0-1,-1-1,1 1,0-1,-1 0,0 0,0 0,1 0,-2-1,1 0,0 0,3-6,-2 5,0-1,0 1,1 0,-1 0,1 1,0-1,0 1,13-6,6 3,0 0,0 2,0 1,1 1,0 1,-1 1,27 2,-45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13T14:06:30.934"/>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1,'106'5,"1"5,105 24,-111-17,230 55,-324-71,-1 1,1-1,0 0,0 0,0-1,0 0,-1 0,1-1,0 0,0 0,0 0,-1-1,1 0,-1 0,1-1,6-4,8-1,0 1,0 1,44-8,-234 22,150-5,1 0,0 2,0 0,0 1,0 1,1 0,0 1,1 1,-23 16,12-8,15-12</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13T14:06:30.935"/>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2971 1877,'-598'-36,"278"-5,-432-113,711 143,1-1,0-2,0-2,2-2,0-1,1-2,1-2,1-1,-32-29,19 7,2-3,3-1,-73-110,-83-187,72 79,-21-37,127 268,-1 2,-2 0,-35-38,40 55,2 7</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14:06:30.936"/>
    </inkml:context>
    <inkml:brush xml:id="br0">
      <inkml:brushProperty name="width" value="0.35" units="cm"/>
      <inkml:brushProperty name="height" value="0.35" units="cm"/>
      <inkml:brushProperty name="color" value="#FFFFFF"/>
    </inkml:brush>
  </inkml:definitions>
  <inkml:trace contextRef="#ctx0" brushRef="#br0">255 443 24575,'9'-6'0,"0"0"0,1 0 0,0 1 0,0 0 0,0 1 0,0 0 0,1 0 0,-1 1 0,17-2 0,8-4 0,38-11 0,46-15 0,-46 3 0,-54 23 0,0 0 0,0 1 0,1 1 0,-1 1 0,2 1 0,-1 0 0,23-1 0,-35 5 0,0 1 0,-1-1 0,0 1 0,1 1 0,-1-1 0,0 1 0,9 2 0,-16-3 0,1 0 0,-1 0 0,0 1 0,1-1 0,-1 0 0,0 0 0,1 0 0,-1 0 0,0 0 0,1 1 0,-1-1 0,0 0 0,0 0 0,1 1 0,-1-1 0,0 0 0,0 0 0,0 1 0,1-1 0,-1 0 0,0 1 0,0-1 0,0 0 0,0 1 0,1-1 0,-1 0 0,0 1 0,0-1 0,0 0 0,0 1 0,0-1 0,0 0 0,0 1 0,0-1 0,-8 14 0,-17 6 0,13-14 0,1-1 0,-1 0 0,0-1 0,0 0 0,-1-1 0,1-1 0,-23 3 0,-93-2 0,115-3 0,-40 0 0,-5 1 0,-1-3 0,1-2 0,-61-12 0,-1-25 0,87 30 0,1-1 0,-54-28 0,85 39 0,0 1 0,0 0 0,0-1 0,0 1 0,1 0 0,-1-1 0,0 0 0,0 1 0,1-1 0,-1 1 0,0-1 0,1 0 0,-1 1 0,0-1 0,1 0 0,-1 0 0,1 1 0,-1-3 0,1 3 0,0 0 0,0-1 0,0 1 0,0-1 0,1 1 0,-1-1 0,0 1 0,0 0 0,0-1 0,1 1 0,-1 0 0,0-1 0,1 1 0,-1 0 0,0-1 0,1 1 0,-1 0 0,0-1 0,1 1 0,-1 0 0,0 0 0,1 0 0,-1-1 0,1 1 0,0 0 0,36-7 0,-13 9 0,1 1 0,0 1 0,-1 1 0,0 1 0,32 12 0,46 11 0,-15-5 0,-61-15 0,42 8 0,-58-15 0,0-1 0,0 0 0,0-1 0,0 0 0,0-1 0,0 0 0,0 0 0,10-4 0,-3 0 0,-1-2 0,0 0 0,-1-1 0,1-1 0,-2 0 0,24-19 0,7-4 0,-40 29 0,0-1 0,-1-1 0,1 1 0,-1 0 0,0-1 0,0 0 0,-1 0 0,1 0 0,-1-1 0,0 1 0,3-10 0,-5 12 0,1 0 0,-1-1 0,0 1 0,-1 0 0,1 0 0,0-1 0,-1 1 0,0 0 0,0-1 0,0 1 0,0 0 0,0 0 0,-1-1 0,1 1 0,-1 0 0,0 0 0,0-1 0,0 1 0,-1 0 0,1 0 0,-1 0 0,-2-3 0,-26-23 0,30 28 0,-1 0 0,0 0 0,1 1 0,-1-1 0,0 1 0,0-1 0,0 0 0,1 1 0,-1-1 0,0 1 0,0 0 0,0-1 0,0 1 0,0 0 0,0-1 0,0 1 0,0 0 0,0 0 0,0 0 0,0 0 0,0 0 0,1 0 0,-1 0 0,0 0 0,0 0 0,0 0 0,0 1 0,0-1 0,0 0 0,0 1 0,0-1 0,0 1 0,0-1 0,1 1 0,-1-1 0,0 1 0,-1 1 0,1-1 0,1 0 0,0 1 0,-1-1 0,1 0 0,0 1 0,0-1 0,-1 0 0,1 1 0,0-1 0,0 1 0,1-1 0,-1 0 0,0 1 0,0-1 0,1 0 0,-1 1 0,1-1 0,-1 0 0,1 1 0,0-1 0,-1 0 0,1 0 0,1 2 0,21 26 0,-8-15 0,1-1 0,1 0 0,-1-2 0,2 0 0,0 0 0,0-2 0,0 0 0,26 8 0,17 2 0,85 16 0,37-6 0,-152-26 0,1-2 0,-1-2 0,61-7 0,-86 7 0,25-4 0,0-1 0,-1-1 0,45-17 0,-137 42 0,11-4 0,-3 6 0,0 3 0,-92 53 0,130-67 0,0-1 0,-1-1 0,0 0 0,0-1 0,-1-1 0,0 0 0,-22 2 0,-134 4 0,27-3 0,122-6 0,-30 4 0,52-5 0,0-1 0,0 1 0,0 0 0,0 0 0,0 0 0,0 1 0,0-1 0,0 1 0,1-1 0,-1 1 0,1 0 0,-1 0 0,-3 4 0,6-5 0,-1-1 0,1 0 0,0 1 0,-1-1 0,1 1 0,0-1 0,0 1 0,0-1 0,-1 1 0,1-1 0,0 1 0,0-1 0,0 1 0,0-1 0,0 1 0,0-1 0,0 1 0,0-1 0,0 1 0,0-1 0,0 1 0,0-1 0,0 1 0,1-1 0,-1 1 0,0-1 0,0 1 0,0-1 0,1 1 0,14 11 0,23 0 0,-28-11 0,0 0 0,0-1 0,1 0 0,-1 0 0,0-1 0,0-1 0,0 0 0,19-5 0,6-5 0,37-20 0,-14 7 0,12 0 0,2 4 0,0 2 0,0 4 0,1 3 0,1 3 0,127 1 0,397 38 0,-523-19 0,-53-7 0,1 0 0,-1-2 0,1 0 0,26-3 0,-47 1 0,0 0 0,0 0 0,-1-1 0,1 1 0,0-1 0,0 1 0,-1-1 0,1 1 0,0-1 0,-1 0 0,3-2 0,-3 3 0,-1-1 0,1 1 0,-1 0 0,1-1 0,-1 1 0,0-1 0,1 0 0,-1 1 0,0-1 0,1 1 0,-1-1 0,0 1 0,0-1 0,1 0 0,-1 1 0,0-1 0,0 0 0,0 1 0,0-1 0,0 0 0,0 1 0,0-2 0,-1 1 0,1-1 0,-1 1 0,0-1 0,0 1 0,0-1 0,0 1 0,0-1 0,0 1 0,0 0 0,0 0 0,0-1 0,-1 1 0,1 0 0,0 0 0,-1 0 0,1 1 0,-1-1 0,1 0 0,-1 0 0,0 1 0,1-1 0,-3 0 0,-7-1 0,1 0 0,0 0 0,-1 1 0,1 1 0,-1 0 0,1 0 0,-13 2 0,-72 17 0,67-12 0,-3 0 0,-434 118 0,441-119 0,1 0 0,-1-2 0,-1 0 0,-31-1 0,48-2 0,-36 7 0,21-5 0,51-20 0,31-9 0,1 3 0,67-18 0,-54 19 0,70-32 0,-120 45 0,1 0 0,-1 2 0,2 0 0,-1 2 0,0 1 0,1 0 0,0 2 0,40 2 0,-45-1 0,-1-1 0,24-4 0,-22 2 0,38-2 0,-21 5 0,1 2 0,-1 1 0,0 2 0,60 15 0,-41-10 0,-38-6 0,-17-2 0,-6-1 0,-599-2 0,327 3 0,273-1 0,-1 0 0,1 0 0,0 0 0,0 0 0,0 1 0,0-1 0,0 1 0,0 0 0,0 0 0,0 0 0,0 0 0,1 1 0,-1-1 0,0 1 0,1-1 0,-4 4 0,5-3 0,0-1 0,0 1 0,0 0 0,0-1 0,1 1 0,-1 0 0,0 0 0,1 0 0,0-1 0,-1 1 0,1 0 0,0 0 0,0 0 0,0 0 0,0 0 0,1 0 0,-1 0 0,0-1 0,1 1 0,0 0 0,-1 0 0,1 0 0,0-1 0,0 1 0,0 0 0,0-1 0,2 4 0,6 9 0,-9-14 0,0 0 0,0 0 0,0 0 0,0 0 0,0 0 0,0 0 0,0 0 0,0 0 0,0-1 0,0 1 0,0 0 0,0 0 0,0 0 0,0 0 0,0 0 0,0 0 0,0 0 0,0 0 0,1 0 0,-1 0 0,0 0 0,0 0 0,0 0 0,0 0 0,0 0 0,0 0 0,0 0 0,0 0 0,0 0 0,0 0 0,0 0 0,0 0 0,0 0 0,0 0 0,0 0 0,0 0 0,0 0 0,1 0 0,-1 0 0,0 0 0,0 0 0,0 0 0,0 0 0,0 0 0,0 0 0,0 0 0,0 0 0,0 0 0,0 0 0,0 0 0,0 0 0,0 0 0,0 0 0,0 0 0,-7-27 0,1 2 0,4 20 0,1-1 0,0 1 0,1 0 0,-1 0 0,1-1 0,0 1 0,1 0 0,-1-1 0,1 1 0,0 0 0,0 0 0,1-1 0,-1 1 0,1 0 0,0 0 0,1 1 0,-1-1 0,1 0 0,0 1 0,0 0 0,0-1 0,1 1 0,0 1 0,-1-1 0,1 0 0,1 1 0,-1 0 0,0 0 0,1 0 0,0 0 0,-1 1 0,1 0 0,0 0 0,6-2 0,27-10 0,-24 8 0,1 1 0,-1 0 0,1 1 0,0 1 0,0 0 0,23-1 0,-1 3 0,1 2 0,0 1 0,-1 2 0,0 2 0,54 15 0,60 39 0,7 2 0,-148-59 0,3 0 0,-1 0 0,0 2 0,0-1 0,-1 1 0,0 1 0,17 11 0,-27-16 0,0 0 0,0 0 0,0 0 0,0 0 0,0 0 0,-1 0 0,1 1 0,0-1 0,-1 0 0,1 1 0,-1-1 0,0 0 0,1 1 0,-1-1 0,0 1 0,0-1 0,0 0 0,1 1 0,-2-1 0,1 1 0,0-1 0,0 1 0,0-1 0,-1 0 0,1 1 0,-1-1 0,1 0 0,-1 1 0,1-1 0,-1 0 0,0 0 0,0 1 0,1-1 0,-1 0 0,-2 2 0,-4 5 0,0-1 0,-1 1 0,-15 10 0,14-10 0,-5 4 0,-1 0 0,0 0 0,0-1 0,-1-1 0,-1-1 0,0 0 0,-32 11 0,30-14 0,0-1 0,0 0 0,-1-2 0,0 0 0,-24 0 0,48-4 0,0 0 0,1 1 0,-1-1 0,0 0 0,1-1 0,-1 1 0,0-1 0,7-4 0,42-26 0,-9 4 0,14-1-1365</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13T14:06:33.243"/>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0 202,'352'-9,"20"0,-339 8,0-2,43-10,27-3,53 14,0 0,-88-6,-38 4,40-2,8 8,66-3,-139 0,1-1,-1 1,0-1,0 1,0-1,-1-1,1 1,0-1,-1 0,0 0,0 0,1 0,-2-1,1 0,0 0,3-6,-2 5,0-1,0 1,1 0,-1 0,1 1,0-1,0 1,13-6,6 3,0 0,0 2,0 1,1 1,0 1,-1 1,27 2,-45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13T14:06:33.244"/>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1,'106'5,"1"5,105 24,-111-17,230 55,-324-71,-1 1,1-1,0 0,0 0,0-1,0 0,-1 0,1-1,0 0,0 0,0 0,-1-1,1 0,-1 0,1-1,6-4,8-1,0 1,0 1,44-8,-234 22,150-5,1 0,0 2,0 0,0 1,0 1,1 0,0 1,1 1,-23 16,12-8,15-12</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13T14:06:33.245"/>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2971 1877,'-598'-36,"278"-5,-432-113,711 143,1-1,0-2,0-2,2-2,0-1,1-2,1-2,1-1,-32-29,19 7,2-3,3-1,-73-110,-83-187,72 79,-21-37,127 268,-1 2,-2 0,-35-38,40 55,2 7</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14:06:33.246"/>
    </inkml:context>
    <inkml:brush xml:id="br0">
      <inkml:brushProperty name="width" value="0.35" units="cm"/>
      <inkml:brushProperty name="height" value="0.35" units="cm"/>
      <inkml:brushProperty name="color" value="#FFFFFF"/>
    </inkml:brush>
  </inkml:definitions>
  <inkml:trace contextRef="#ctx0" brushRef="#br0">255 443 24575,'9'-6'0,"0"0"0,1 0 0,0 1 0,0 0 0,0 1 0,0 0 0,1 0 0,-1 1 0,17-2 0,8-4 0,38-11 0,46-15 0,-46 3 0,-54 23 0,0 0 0,0 1 0,1 1 0,-1 1 0,2 1 0,-1 0 0,23-1 0,-35 5 0,0 1 0,-1-1 0,0 1 0,1 1 0,-1-1 0,0 1 0,9 2 0,-16-3 0,1 0 0,-1 0 0,0 1 0,1-1 0,-1 0 0,0 0 0,1 0 0,-1 0 0,0 0 0,1 1 0,-1-1 0,0 0 0,0 0 0,1 1 0,-1-1 0,0 0 0,0 0 0,0 1 0,1-1 0,-1 0 0,0 1 0,0-1 0,0 0 0,0 1 0,1-1 0,-1 0 0,0 1 0,0-1 0,0 0 0,0 1 0,0-1 0,0 0 0,0 1 0,0-1 0,-8 14 0,-17 6 0,13-14 0,1-1 0,-1 0 0,0-1 0,0 0 0,-1-1 0,1-1 0,-23 3 0,-93-2 0,115-3 0,-40 0 0,-5 1 0,-1-3 0,1-2 0,-61-12 0,-1-25 0,87 30 0,1-1 0,-54-28 0,85 39 0,0 1 0,0 0 0,0-1 0,0 1 0,1 0 0,-1-1 0,0 0 0,0 1 0,1-1 0,-1 1 0,0-1 0,1 0 0,-1 1 0,0-1 0,1 0 0,-1 0 0,1 1 0,-1-3 0,1 3 0,0 0 0,0-1 0,0 1 0,0-1 0,1 1 0,-1-1 0,0 1 0,0 0 0,0-1 0,1 1 0,-1 0 0,0-1 0,1 1 0,-1 0 0,0-1 0,1 1 0,-1 0 0,0-1 0,1 1 0,-1 0 0,0 0 0,1 0 0,-1-1 0,1 1 0,0 0 0,36-7 0,-13 9 0,1 1 0,0 1 0,-1 1 0,0 1 0,32 12 0,46 11 0,-15-5 0,-61-15 0,42 8 0,-58-15 0,0-1 0,0 0 0,0-1 0,0 0 0,0-1 0,0 0 0,0 0 0,10-4 0,-3 0 0,-1-2 0,0 0 0,-1-1 0,1-1 0,-2 0 0,24-19 0,7-4 0,-40 29 0,0-1 0,-1-1 0,1 1 0,-1 0 0,0-1 0,0 0 0,-1 0 0,1 0 0,-1-1 0,0 1 0,3-10 0,-5 12 0,1 0 0,-1-1 0,0 1 0,-1 0 0,1 0 0,0-1 0,-1 1 0,0 0 0,0-1 0,0 1 0,0 0 0,0 0 0,-1-1 0,1 1 0,-1 0 0,0 0 0,0-1 0,0 1 0,-1 0 0,1 0 0,-1 0 0,-2-3 0,-26-23 0,30 28 0,-1 0 0,0 0 0,1 1 0,-1-1 0,0 1 0,0-1 0,0 0 0,1 1 0,-1-1 0,0 1 0,0 0 0,0-1 0,0 1 0,0 0 0,0-1 0,0 1 0,0 0 0,0 0 0,0 0 0,0 0 0,0 0 0,1 0 0,-1 0 0,0 0 0,0 0 0,0 0 0,0 1 0,0-1 0,0 0 0,0 1 0,0-1 0,0 1 0,0-1 0,1 1 0,-1-1 0,0 1 0,-1 1 0,1-1 0,1 0 0,0 1 0,-1-1 0,1 0 0,0 1 0,0-1 0,-1 0 0,1 1 0,0-1 0,0 1 0,1-1 0,-1 0 0,0 1 0,0-1 0,1 0 0,-1 1 0,1-1 0,-1 0 0,1 1 0,0-1 0,-1 0 0,1 0 0,1 2 0,21 26 0,-8-15 0,1-1 0,1 0 0,-1-2 0,2 0 0,0 0 0,0-2 0,0 0 0,26 8 0,17 2 0,85 16 0,37-6 0,-152-26 0,1-2 0,-1-2 0,61-7 0,-86 7 0,25-4 0,0-1 0,-1-1 0,45-17 0,-137 42 0,11-4 0,-3 6 0,0 3 0,-92 53 0,130-67 0,0-1 0,-1-1 0,0 0 0,0-1 0,-1-1 0,0 0 0,-22 2 0,-134 4 0,27-3 0,122-6 0,-30 4 0,52-5 0,0-1 0,0 1 0,0 0 0,0 0 0,0 0 0,0 1 0,0-1 0,0 1 0,1-1 0,-1 1 0,1 0 0,-1 0 0,-3 4 0,6-5 0,-1-1 0,1 0 0,0 1 0,-1-1 0,1 1 0,0-1 0,0 1 0,0-1 0,-1 1 0,1-1 0,0 1 0,0-1 0,0 1 0,0-1 0,0 1 0,0-1 0,0 1 0,0-1 0,0 1 0,0-1 0,0 1 0,0-1 0,0 1 0,1-1 0,-1 1 0,0-1 0,0 1 0,0-1 0,1 1 0,14 11 0,23 0 0,-28-11 0,0 0 0,0-1 0,1 0 0,-1 0 0,0-1 0,0-1 0,0 0 0,19-5 0,6-5 0,37-20 0,-14 7 0,12 0 0,2 4 0,0 2 0,0 4 0,1 3 0,1 3 0,127 1 0,397 38 0,-523-19 0,-53-7 0,1 0 0,-1-2 0,1 0 0,26-3 0,-47 1 0,0 0 0,0 0 0,-1-1 0,1 1 0,0-1 0,0 1 0,-1-1 0,1 1 0,0-1 0,-1 0 0,3-2 0,-3 3 0,-1-1 0,1 1 0,-1 0 0,1-1 0,-1 1 0,0-1 0,1 0 0,-1 1 0,0-1 0,1 1 0,-1-1 0,0 1 0,0-1 0,1 0 0,-1 1 0,0-1 0,0 0 0,0 1 0,0-1 0,0 0 0,0 1 0,0-2 0,-1 1 0,1-1 0,-1 1 0,0-1 0,0 1 0,0-1 0,0 1 0,0-1 0,0 1 0,0 0 0,0 0 0,0-1 0,-1 1 0,1 0 0,0 0 0,-1 0 0,1 1 0,-1-1 0,1 0 0,-1 0 0,0 1 0,1-1 0,-3 0 0,-7-1 0,1 0 0,0 0 0,-1 1 0,1 1 0,-1 0 0,1 0 0,-13 2 0,-72 17 0,67-12 0,-3 0 0,-434 118 0,441-119 0,1 0 0,-1-2 0,-1 0 0,-31-1 0,48-2 0,-36 7 0,21-5 0,51-20 0,31-9 0,1 3 0,67-18 0,-54 19 0,70-32 0,-120 45 0,1 0 0,-1 2 0,2 0 0,-1 2 0,0 1 0,1 0 0,0 2 0,40 2 0,-45-1 0,-1-1 0,24-4 0,-22 2 0,38-2 0,-21 5 0,1 2 0,-1 1 0,0 2 0,60 15 0,-41-10 0,-38-6 0,-17-2 0,-6-1 0,-599-2 0,327 3 0,273-1 0,-1 0 0,1 0 0,0 0 0,0 0 0,0 1 0,0-1 0,0 1 0,0 0 0,0 0 0,0 0 0,0 0 0,1 1 0,-1-1 0,0 1 0,1-1 0,-4 4 0,5-3 0,0-1 0,0 1 0,0 0 0,0-1 0,1 1 0,-1 0 0,0 0 0,1 0 0,0-1 0,-1 1 0,1 0 0,0 0 0,0 0 0,0 0 0,0 0 0,1 0 0,-1 0 0,0-1 0,1 1 0,0 0 0,-1 0 0,1 0 0,0-1 0,0 1 0,0 0 0,0-1 0,2 4 0,6 9 0,-9-14 0,0 0 0,0 0 0,0 0 0,0 0 0,0 0 0,0 0 0,0 0 0,0 0 0,0-1 0,0 1 0,0 0 0,0 0 0,0 0 0,0 0 0,0 0 0,0 0 0,0 0 0,0 0 0,1 0 0,-1 0 0,0 0 0,0 0 0,0 0 0,0 0 0,0 0 0,0 0 0,0 0 0,0 0 0,0 0 0,0 0 0,0 0 0,0 0 0,0 0 0,0 0 0,0 0 0,0 0 0,0 0 0,1 0 0,-1 0 0,0 0 0,0 0 0,0 0 0,0 0 0,0 0 0,0 0 0,0 0 0,0 0 0,0 0 0,0 0 0,0 0 0,0 0 0,0 0 0,0 0 0,0 0 0,-7-27 0,1 2 0,4 20 0,1-1 0,0 1 0,1 0 0,-1 0 0,1-1 0,0 1 0,1 0 0,-1-1 0,1 1 0,0 0 0,0 0 0,1-1 0,-1 1 0,1 0 0,0 0 0,1 1 0,-1-1 0,1 0 0,0 1 0,0 0 0,0-1 0,1 1 0,0 1 0,-1-1 0,1 0 0,1 1 0,-1 0 0,0 0 0,1 0 0,0 0 0,-1 1 0,1 0 0,0 0 0,6-2 0,27-10 0,-24 8 0,1 1 0,-1 0 0,1 1 0,0 1 0,0 0 0,23-1 0,-1 3 0,1 2 0,0 1 0,-1 2 0,0 2 0,54 15 0,60 39 0,7 2 0,-148-59 0,3 0 0,-1 0 0,0 2 0,0-1 0,-1 1 0,0 1 0,17 11 0,-27-16 0,0 0 0,0 0 0,0 0 0,0 0 0,0 0 0,-1 0 0,1 1 0,0-1 0,-1 0 0,1 1 0,-1-1 0,0 0 0,1 1 0,-1-1 0,0 1 0,0-1 0,0 0 0,1 1 0,-2-1 0,1 1 0,0-1 0,0 1 0,0-1 0,-1 0 0,1 1 0,-1-1 0,1 0 0,-1 1 0,1-1 0,-1 0 0,0 0 0,0 1 0,1-1 0,-1 0 0,-2 2 0,-4 5 0,0-1 0,-1 1 0,-15 10 0,14-10 0,-5 4 0,-1 0 0,0 0 0,0-1 0,-1-1 0,-1-1 0,0 0 0,-32 11 0,30-14 0,0-1 0,0 0 0,-1-2 0,0 0 0,-24 0 0,48-4 0,0 0 0,1 1 0,-1-1 0,0 0 0,1-1 0,-1 1 0,0-1 0,7-4 0,42-26 0,-9 4 0,14-1-1365</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13T14:06:35.377"/>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0 202,'352'-9,"20"0,-339 8,0-2,43-10,27-3,53 14,0 0,-88-6,-38 4,40-2,8 8,66-3,-139 0,1-1,-1 1,0-1,0 1,0-1,-1-1,1 1,0-1,-1 0,0 0,0 0,1 0,-2-1,1 0,0 0,3-6,-2 5,0-1,0 1,1 0,-1 0,1 1,0-1,0 1,13-6,6 3,0 0,0 2,0 1,1 1,0 1,-1 1,27 2,-45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13T14:06:35.378"/>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1,'106'5,"1"5,105 24,-111-17,230 55,-324-71,-1 1,1-1,0 0,0 0,0-1,0 0,-1 0,1-1,0 0,0 0,0 0,-1-1,1 0,-1 0,1-1,6-4,8-1,0 1,0 1,44-8,-234 22,150-5,1 0,0 2,0 0,0 1,0 1,1 0,0 1,1 1,-23 16,12-8,15-12</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13T14:06:35.379"/>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2971 1877,'-598'-36,"278"-5,-432-113,711 143,1-1,0-2,0-2,2-2,0-1,1-2,1-2,1-1,-32-29,19 7,2-3,3-1,-73-110,-83-187,72 79,-21-37,127 268,-1 2,-2 0,-35-38,40 55,2 7</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3T14:06:35.380"/>
    </inkml:context>
    <inkml:brush xml:id="br0">
      <inkml:brushProperty name="width" value="0.35" units="cm"/>
      <inkml:brushProperty name="height" value="0.35" units="cm"/>
      <inkml:brushProperty name="color" value="#FFFFFF"/>
    </inkml:brush>
  </inkml:definitions>
  <inkml:trace contextRef="#ctx0" brushRef="#br0">255 443 24575,'9'-6'0,"0"0"0,1 0 0,0 1 0,0 0 0,0 1 0,0 0 0,1 0 0,-1 1 0,17-2 0,8-4 0,38-11 0,46-15 0,-46 3 0,-54 23 0,0 0 0,0 1 0,1 1 0,-1 1 0,2 1 0,-1 0 0,23-1 0,-35 5 0,0 1 0,-1-1 0,0 1 0,1 1 0,-1-1 0,0 1 0,9 2 0,-16-3 0,1 0 0,-1 0 0,0 1 0,1-1 0,-1 0 0,0 0 0,1 0 0,-1 0 0,0 0 0,1 1 0,-1-1 0,0 0 0,0 0 0,1 1 0,-1-1 0,0 0 0,0 0 0,0 1 0,1-1 0,-1 0 0,0 1 0,0-1 0,0 0 0,0 1 0,1-1 0,-1 0 0,0 1 0,0-1 0,0 0 0,0 1 0,0-1 0,0 0 0,0 1 0,0-1 0,-8 14 0,-17 6 0,13-14 0,1-1 0,-1 0 0,0-1 0,0 0 0,-1-1 0,1-1 0,-23 3 0,-93-2 0,115-3 0,-40 0 0,-5 1 0,-1-3 0,1-2 0,-61-12 0,-1-25 0,87 30 0,1-1 0,-54-28 0,85 39 0,0 1 0,0 0 0,0-1 0,0 1 0,1 0 0,-1-1 0,0 0 0,0 1 0,1-1 0,-1 1 0,0-1 0,1 0 0,-1 1 0,0-1 0,1 0 0,-1 0 0,1 1 0,-1-3 0,1 3 0,0 0 0,0-1 0,0 1 0,0-1 0,1 1 0,-1-1 0,0 1 0,0 0 0,0-1 0,1 1 0,-1 0 0,0-1 0,1 1 0,-1 0 0,0-1 0,1 1 0,-1 0 0,0-1 0,1 1 0,-1 0 0,0 0 0,1 0 0,-1-1 0,1 1 0,0 0 0,36-7 0,-13 9 0,1 1 0,0 1 0,-1 1 0,0 1 0,32 12 0,46 11 0,-15-5 0,-61-15 0,42 8 0,-58-15 0,0-1 0,0 0 0,0-1 0,0 0 0,0-1 0,0 0 0,0 0 0,10-4 0,-3 0 0,-1-2 0,0 0 0,-1-1 0,1-1 0,-2 0 0,24-19 0,7-4 0,-40 29 0,0-1 0,-1-1 0,1 1 0,-1 0 0,0-1 0,0 0 0,-1 0 0,1 0 0,-1-1 0,0 1 0,3-10 0,-5 12 0,1 0 0,-1-1 0,0 1 0,-1 0 0,1 0 0,0-1 0,-1 1 0,0 0 0,0-1 0,0 1 0,0 0 0,0 0 0,-1-1 0,1 1 0,-1 0 0,0 0 0,0-1 0,0 1 0,-1 0 0,1 0 0,-1 0 0,-2-3 0,-26-23 0,30 28 0,-1 0 0,0 0 0,1 1 0,-1-1 0,0 1 0,0-1 0,0 0 0,1 1 0,-1-1 0,0 1 0,0 0 0,0-1 0,0 1 0,0 0 0,0-1 0,0 1 0,0 0 0,0 0 0,0 0 0,0 0 0,0 0 0,1 0 0,-1 0 0,0 0 0,0 0 0,0 0 0,0 1 0,0-1 0,0 0 0,0 1 0,0-1 0,0 1 0,0-1 0,1 1 0,-1-1 0,0 1 0,-1 1 0,1-1 0,1 0 0,0 1 0,-1-1 0,1 0 0,0 1 0,0-1 0,-1 0 0,1 1 0,0-1 0,0 1 0,1-1 0,-1 0 0,0 1 0,0-1 0,1 0 0,-1 1 0,1-1 0,-1 0 0,1 1 0,0-1 0,-1 0 0,1 0 0,1 2 0,21 26 0,-8-15 0,1-1 0,1 0 0,-1-2 0,2 0 0,0 0 0,0-2 0,0 0 0,26 8 0,17 2 0,85 16 0,37-6 0,-152-26 0,1-2 0,-1-2 0,61-7 0,-86 7 0,25-4 0,0-1 0,-1-1 0,45-17 0,-137 42 0,11-4 0,-3 6 0,0 3 0,-92 53 0,130-67 0,0-1 0,-1-1 0,0 0 0,0-1 0,-1-1 0,0 0 0,-22 2 0,-134 4 0,27-3 0,122-6 0,-30 4 0,52-5 0,0-1 0,0 1 0,0 0 0,0 0 0,0 0 0,0 1 0,0-1 0,0 1 0,1-1 0,-1 1 0,1 0 0,-1 0 0,-3 4 0,6-5 0,-1-1 0,1 0 0,0 1 0,-1-1 0,1 1 0,0-1 0,0 1 0,0-1 0,-1 1 0,1-1 0,0 1 0,0-1 0,0 1 0,0-1 0,0 1 0,0-1 0,0 1 0,0-1 0,0 1 0,0-1 0,0 1 0,0-1 0,0 1 0,1-1 0,-1 1 0,0-1 0,0 1 0,0-1 0,1 1 0,14 11 0,23 0 0,-28-11 0,0 0 0,0-1 0,1 0 0,-1 0 0,0-1 0,0-1 0,0 0 0,19-5 0,6-5 0,37-20 0,-14 7 0,12 0 0,2 4 0,0 2 0,0 4 0,1 3 0,1 3 0,127 1 0,397 38 0,-523-19 0,-53-7 0,1 0 0,-1-2 0,1 0 0,26-3 0,-47 1 0,0 0 0,0 0 0,-1-1 0,1 1 0,0-1 0,0 1 0,-1-1 0,1 1 0,0-1 0,-1 0 0,3-2 0,-3 3 0,-1-1 0,1 1 0,-1 0 0,1-1 0,-1 1 0,0-1 0,1 0 0,-1 1 0,0-1 0,1 1 0,-1-1 0,0 1 0,0-1 0,1 0 0,-1 1 0,0-1 0,0 0 0,0 1 0,0-1 0,0 0 0,0 1 0,0-2 0,-1 1 0,1-1 0,-1 1 0,0-1 0,0 1 0,0-1 0,0 1 0,0-1 0,0 1 0,0 0 0,0 0 0,0-1 0,-1 1 0,1 0 0,0 0 0,-1 0 0,1 1 0,-1-1 0,1 0 0,-1 0 0,0 1 0,1-1 0,-3 0 0,-7-1 0,1 0 0,0 0 0,-1 1 0,1 1 0,-1 0 0,1 0 0,-13 2 0,-72 17 0,67-12 0,-3 0 0,-434 118 0,441-119 0,1 0 0,-1-2 0,-1 0 0,-31-1 0,48-2 0,-36 7 0,21-5 0,51-20 0,31-9 0,1 3 0,67-18 0,-54 19 0,70-32 0,-120 45 0,1 0 0,-1 2 0,2 0 0,-1 2 0,0 1 0,1 0 0,0 2 0,40 2 0,-45-1 0,-1-1 0,24-4 0,-22 2 0,38-2 0,-21 5 0,1 2 0,-1 1 0,0 2 0,60 15 0,-41-10 0,-38-6 0,-17-2 0,-6-1 0,-599-2 0,327 3 0,273-1 0,-1 0 0,1 0 0,0 0 0,0 0 0,0 1 0,0-1 0,0 1 0,0 0 0,0 0 0,0 0 0,0 0 0,1 1 0,-1-1 0,0 1 0,1-1 0,-4 4 0,5-3 0,0-1 0,0 1 0,0 0 0,0-1 0,1 1 0,-1 0 0,0 0 0,1 0 0,0-1 0,-1 1 0,1 0 0,0 0 0,0 0 0,0 0 0,0 0 0,1 0 0,-1 0 0,0-1 0,1 1 0,0 0 0,-1 0 0,1 0 0,0-1 0,0 1 0,0 0 0,0-1 0,2 4 0,6 9 0,-9-14 0,0 0 0,0 0 0,0 0 0,0 0 0,0 0 0,0 0 0,0 0 0,0 0 0,0-1 0,0 1 0,0 0 0,0 0 0,0 0 0,0 0 0,0 0 0,0 0 0,0 0 0,0 0 0,1 0 0,-1 0 0,0 0 0,0 0 0,0 0 0,0 0 0,0 0 0,0 0 0,0 0 0,0 0 0,0 0 0,0 0 0,0 0 0,0 0 0,0 0 0,0 0 0,0 0 0,0 0 0,0 0 0,1 0 0,-1 0 0,0 0 0,0 0 0,0 0 0,0 0 0,0 0 0,0 0 0,0 0 0,0 0 0,0 0 0,0 0 0,0 0 0,0 0 0,0 0 0,0 0 0,0 0 0,-7-27 0,1 2 0,4 20 0,1-1 0,0 1 0,1 0 0,-1 0 0,1-1 0,0 1 0,1 0 0,-1-1 0,1 1 0,0 0 0,0 0 0,1-1 0,-1 1 0,1 0 0,0 0 0,1 1 0,-1-1 0,1 0 0,0 1 0,0 0 0,0-1 0,1 1 0,0 1 0,-1-1 0,1 0 0,1 1 0,-1 0 0,0 0 0,1 0 0,0 0 0,-1 1 0,1 0 0,0 0 0,6-2 0,27-10 0,-24 8 0,1 1 0,-1 0 0,1 1 0,0 1 0,0 0 0,23-1 0,-1 3 0,1 2 0,0 1 0,-1 2 0,0 2 0,54 15 0,60 39 0,7 2 0,-148-59 0,3 0 0,-1 0 0,0 2 0,0-1 0,-1 1 0,0 1 0,17 11 0,-27-16 0,0 0 0,0 0 0,0 0 0,0 0 0,0 0 0,-1 0 0,1 1 0,0-1 0,-1 0 0,1 1 0,-1-1 0,0 0 0,1 1 0,-1-1 0,0 1 0,0-1 0,0 0 0,1 1 0,-2-1 0,1 1 0,0-1 0,0 1 0,0-1 0,-1 0 0,1 1 0,-1-1 0,1 0 0,-1 1 0,1-1 0,-1 0 0,0 0 0,0 1 0,1-1 0,-1 0 0,-2 2 0,-4 5 0,0-1 0,-1 1 0,-15 10 0,14-10 0,-5 4 0,-1 0 0,0 0 0,0-1 0,-1-1 0,-1-1 0,0 0 0,-32 11 0,30-14 0,0-1 0,0 0 0,-1-2 0,0 0 0,-24 0 0,48-4 0,0 0 0,1 1 0,-1-1 0,0 0 0,1-1 0,-1 1 0,0-1 0,7-4 0,42-26 0,-9 4 0,14-1-1365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851900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txBody>
          <a:bodyPr/>
          <a:lstStyle/>
          <a:p>
            <a:endParaRPr lang="en-IN"/>
          </a:p>
        </p:txBody>
      </p:sp>
      <p:sp>
        <p:nvSpPr>
          <p:cNvPr id="3" name="Shape 1"/>
          <p:cNvSpPr/>
          <p:nvPr/>
        </p:nvSpPr>
        <p:spPr>
          <a:xfrm>
            <a:off x="0" y="0"/>
            <a:ext cx="9144000" cy="5143500"/>
          </a:xfrm>
          <a:prstGeom prst="rect">
            <a:avLst/>
          </a:prstGeom>
          <a:solidFill>
            <a:srgbClr val="FFFFFF">
              <a:alpha val="95000"/>
            </a:srgbClr>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customXml" Target="../ink/ink3.xml"/><Relationship Id="rId13" Type="http://schemas.openxmlformats.org/officeDocument/2006/relationships/image" Target="../media/image7.png"/><Relationship Id="rId18" Type="http://schemas.openxmlformats.org/officeDocument/2006/relationships/customXml" Target="../ink/ink9.xml"/><Relationship Id="rId3" Type="http://schemas.openxmlformats.org/officeDocument/2006/relationships/image" Target="../media/image2.png"/><Relationship Id="rId21" Type="http://schemas.openxmlformats.org/officeDocument/2006/relationships/image" Target="../media/image10.png"/><Relationship Id="rId7" Type="http://schemas.openxmlformats.org/officeDocument/2006/relationships/image" Target="../media/image4.png"/><Relationship Id="rId12" Type="http://schemas.openxmlformats.org/officeDocument/2006/relationships/customXml" Target="../ink/ink5.xml"/><Relationship Id="rId17" Type="http://schemas.openxmlformats.org/officeDocument/2006/relationships/customXml" Target="../ink/ink8.xml"/><Relationship Id="rId2" Type="http://schemas.openxmlformats.org/officeDocument/2006/relationships/notesSlide" Target="../notesSlides/notesSlide1.xml"/><Relationship Id="rId16" Type="http://schemas.openxmlformats.org/officeDocument/2006/relationships/customXml" Target="../ink/ink7.xml"/><Relationship Id="rId20" Type="http://schemas.openxmlformats.org/officeDocument/2006/relationships/customXml" Target="../ink/ink10.xml"/><Relationship Id="rId1" Type="http://schemas.openxmlformats.org/officeDocument/2006/relationships/slideLayout" Target="../slideLayouts/slideLayout2.xml"/><Relationship Id="rId6" Type="http://schemas.openxmlformats.org/officeDocument/2006/relationships/customXml" Target="../ink/ink2.xml"/><Relationship Id="rId11" Type="http://schemas.openxmlformats.org/officeDocument/2006/relationships/image" Target="../media/image6.png"/><Relationship Id="rId5" Type="http://schemas.openxmlformats.org/officeDocument/2006/relationships/image" Target="../media/image3.png"/><Relationship Id="rId15" Type="http://schemas.openxmlformats.org/officeDocument/2006/relationships/image" Target="../media/image8.png"/><Relationship Id="rId10" Type="http://schemas.openxmlformats.org/officeDocument/2006/relationships/customXml" Target="../ink/ink4.xml"/><Relationship Id="rId19" Type="http://schemas.openxmlformats.org/officeDocument/2006/relationships/image" Target="../media/image9.png"/><Relationship Id="rId4" Type="http://schemas.openxmlformats.org/officeDocument/2006/relationships/customXml" Target="../ink/ink1.xml"/><Relationship Id="rId9" Type="http://schemas.openxmlformats.org/officeDocument/2006/relationships/image" Target="../media/image5.png"/><Relationship Id="rId14" Type="http://schemas.openxmlformats.org/officeDocument/2006/relationships/customXml" Target="../ink/ink6.xml"/></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customXml" Target="../ink/ink11.xml"/><Relationship Id="rId7" Type="http://schemas.openxmlformats.org/officeDocument/2006/relationships/customXml" Target="../ink/ink13.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customXml" Target="../ink/ink12.xml"/><Relationship Id="rId10" Type="http://schemas.openxmlformats.org/officeDocument/2006/relationships/image" Target="../media/image10.png"/><Relationship Id="rId4" Type="http://schemas.openxmlformats.org/officeDocument/2006/relationships/image" Target="../media/image3.png"/><Relationship Id="rId9" Type="http://schemas.openxmlformats.org/officeDocument/2006/relationships/customXml" Target="../ink/ink14.xml"/></Relationships>
</file>

<file path=ppt/slides/_rels/slide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customXml" Target="../ink/ink15.xml"/><Relationship Id="rId7" Type="http://schemas.openxmlformats.org/officeDocument/2006/relationships/customXml" Target="../ink/ink17.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customXml" Target="../ink/ink16.xml"/><Relationship Id="rId10" Type="http://schemas.openxmlformats.org/officeDocument/2006/relationships/image" Target="../media/image10.png"/><Relationship Id="rId4" Type="http://schemas.openxmlformats.org/officeDocument/2006/relationships/image" Target="../media/image3.png"/><Relationship Id="rId9" Type="http://schemas.openxmlformats.org/officeDocument/2006/relationships/customXml" Target="../ink/ink18.xml"/></Relationships>
</file>

<file path=ppt/slides/_rels/slide4.xml.rels><?xml version="1.0" encoding="UTF-8" standalone="yes"?>
<Relationships xmlns="http://schemas.openxmlformats.org/package/2006/relationships"><Relationship Id="rId8" Type="http://schemas.openxmlformats.org/officeDocument/2006/relationships/customXml" Target="../ink/ink21.xml"/><Relationship Id="rId3" Type="http://schemas.openxmlformats.org/officeDocument/2006/relationships/image" Target="../media/image11.png"/><Relationship Id="rId7"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customXml" Target="../ink/ink20.xml"/><Relationship Id="rId11" Type="http://schemas.openxmlformats.org/officeDocument/2006/relationships/image" Target="../media/image10.png"/><Relationship Id="rId5" Type="http://schemas.openxmlformats.org/officeDocument/2006/relationships/image" Target="../media/image3.png"/><Relationship Id="rId10" Type="http://schemas.openxmlformats.org/officeDocument/2006/relationships/customXml" Target="../ink/ink22.xml"/><Relationship Id="rId4" Type="http://schemas.openxmlformats.org/officeDocument/2006/relationships/customXml" Target="../ink/ink19.xml"/><Relationship Id="rId9" Type="http://schemas.openxmlformats.org/officeDocument/2006/relationships/image" Target="../media/image5.png"/></Relationships>
</file>

<file path=ppt/slides/_rels/slide5.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customXml" Target="../ink/ink23.xml"/><Relationship Id="rId7" Type="http://schemas.openxmlformats.org/officeDocument/2006/relationships/customXml" Target="../ink/ink25.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customXml" Target="../ink/ink24.xml"/><Relationship Id="rId10" Type="http://schemas.openxmlformats.org/officeDocument/2006/relationships/image" Target="../media/image10.png"/><Relationship Id="rId4" Type="http://schemas.openxmlformats.org/officeDocument/2006/relationships/image" Target="../media/image3.png"/><Relationship Id="rId9" Type="http://schemas.openxmlformats.org/officeDocument/2006/relationships/customXml" Target="../ink/ink26.xml"/></Relationships>
</file>

<file path=ppt/slides/_rels/slide6.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customXml" Target="../ink/ink27.xml"/><Relationship Id="rId7" Type="http://schemas.openxmlformats.org/officeDocument/2006/relationships/customXml" Target="../ink/ink29.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customXml" Target="../ink/ink28.xml"/><Relationship Id="rId10" Type="http://schemas.openxmlformats.org/officeDocument/2006/relationships/image" Target="../media/image10.png"/><Relationship Id="rId4" Type="http://schemas.openxmlformats.org/officeDocument/2006/relationships/image" Target="../media/image3.png"/><Relationship Id="rId9" Type="http://schemas.openxmlformats.org/officeDocument/2006/relationships/customXml" Target="../ink/ink3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sp>
        <p:nvSpPr>
          <p:cNvPr id="3" name="Text 0"/>
          <p:cNvSpPr/>
          <p:nvPr/>
        </p:nvSpPr>
        <p:spPr>
          <a:xfrm>
            <a:off x="3925119" y="405110"/>
            <a:ext cx="4722763" cy="789087"/>
          </a:xfrm>
          <a:prstGeom prst="rect">
            <a:avLst/>
          </a:prstGeom>
          <a:noFill/>
          <a:ln/>
        </p:spPr>
        <p:txBody>
          <a:bodyPr wrap="square" lIns="0" tIns="0" rIns="0" bIns="0" rtlCol="0" anchor="t">
            <a:normAutofit/>
          </a:bodyPr>
          <a:lstStyle/>
          <a:p>
            <a:pPr marL="0" indent="0" algn="l">
              <a:lnSpc>
                <a:spcPct val="104000"/>
              </a:lnSpc>
              <a:buNone/>
            </a:pPr>
            <a:r>
              <a:rPr lang="en-US" sz="2450" dirty="0">
                <a:solidFill>
                  <a:srgbClr val="1B1B27"/>
                </a:solidFill>
                <a:latin typeface="Raleway" pitchFamily="34" charset="0"/>
                <a:ea typeface="Raleway" pitchFamily="34" charset="-122"/>
                <a:cs typeface="Raleway" pitchFamily="34" charset="-120"/>
              </a:rPr>
              <a:t>SURA Indoor Positioning — Modeling Report</a:t>
            </a:r>
            <a:endParaRPr lang="en-US" sz="2450" dirty="0"/>
          </a:p>
        </p:txBody>
      </p:sp>
      <p:sp>
        <p:nvSpPr>
          <p:cNvPr id="4" name="Text 1"/>
          <p:cNvSpPr/>
          <p:nvPr/>
        </p:nvSpPr>
        <p:spPr>
          <a:xfrm>
            <a:off x="3925119" y="1362819"/>
            <a:ext cx="4722763" cy="572839"/>
          </a:xfrm>
          <a:prstGeom prst="rect">
            <a:avLst/>
          </a:prstGeom>
          <a:noFill/>
          <a:ln/>
        </p:spPr>
        <p:txBody>
          <a:bodyPr wrap="square" lIns="0" tIns="0" rIns="0" bIns="0" rtlCol="0" anchor="t">
            <a:normAutofit/>
          </a:bodyPr>
          <a:lstStyle/>
          <a:p>
            <a:pPr marL="0" indent="0" algn="l">
              <a:lnSpc>
                <a:spcPct val="126000"/>
              </a:lnSpc>
              <a:buNone/>
            </a:pPr>
            <a:r>
              <a:rPr lang="en-US" sz="950" dirty="0">
                <a:solidFill>
                  <a:srgbClr val="3C3939"/>
                </a:solidFill>
                <a:latin typeface="Roboto" pitchFamily="34" charset="0"/>
                <a:ea typeface="Roboto" pitchFamily="34" charset="-122"/>
                <a:cs typeface="Roboto" pitchFamily="34" charset="-120"/>
              </a:rPr>
              <a:t>The core challenge is to learn the environment fingerprint—not the specific walked trajectory—while meeting the deployment constraint of strictly causal, real-time, on-device inference with no look-ahead.</a:t>
            </a:r>
            <a:endParaRPr lang="en-US" sz="950" dirty="0"/>
          </a:p>
        </p:txBody>
      </p:sp>
      <p:sp>
        <p:nvSpPr>
          <p:cNvPr id="5" name="Shape 2"/>
          <p:cNvSpPr/>
          <p:nvPr/>
        </p:nvSpPr>
        <p:spPr>
          <a:xfrm>
            <a:off x="3925119" y="2062163"/>
            <a:ext cx="4722763" cy="2676227"/>
          </a:xfrm>
          <a:prstGeom prst="roundRect">
            <a:avLst>
              <a:gd name="adj" fmla="val 1982"/>
            </a:avLst>
          </a:prstGeom>
          <a:solidFill>
            <a:srgbClr val="E1E1EA"/>
          </a:solidFill>
          <a:ln w="4763">
            <a:solidFill>
              <a:srgbClr val="C7C7D0"/>
            </a:solidFill>
            <a:prstDash val="solid"/>
          </a:ln>
        </p:spPr>
        <p:txBody>
          <a:bodyPr/>
          <a:lstStyle/>
          <a:p>
            <a:endParaRPr lang="en-IN"/>
          </a:p>
        </p:txBody>
      </p:sp>
      <p:sp>
        <p:nvSpPr>
          <p:cNvPr id="6" name="Shape 3"/>
          <p:cNvSpPr/>
          <p:nvPr/>
        </p:nvSpPr>
        <p:spPr>
          <a:xfrm>
            <a:off x="3929881" y="2066925"/>
            <a:ext cx="4713238" cy="1016198"/>
          </a:xfrm>
          <a:prstGeom prst="rect">
            <a:avLst/>
          </a:prstGeom>
          <a:solidFill>
            <a:srgbClr val="E1E1EA"/>
          </a:solidFill>
          <a:ln/>
        </p:spPr>
        <p:txBody>
          <a:bodyPr/>
          <a:lstStyle/>
          <a:p>
            <a:endParaRPr lang="en-IN"/>
          </a:p>
        </p:txBody>
      </p:sp>
      <p:sp>
        <p:nvSpPr>
          <p:cNvPr id="7" name="Text 4"/>
          <p:cNvSpPr/>
          <p:nvPr/>
        </p:nvSpPr>
        <p:spPr>
          <a:xfrm>
            <a:off x="4056087" y="2193131"/>
            <a:ext cx="4460825" cy="763786"/>
          </a:xfrm>
          <a:prstGeom prst="rect">
            <a:avLst/>
          </a:prstGeom>
          <a:noFill/>
          <a:ln/>
        </p:spPr>
        <p:txBody>
          <a:bodyPr wrap="square" lIns="0" tIns="0" rIns="0" bIns="0" rtlCol="0" anchor="t">
            <a:normAutofit/>
          </a:bodyPr>
          <a:lstStyle/>
          <a:p>
            <a:pPr marL="0" indent="0" algn="ctr">
              <a:lnSpc>
                <a:spcPct val="126000"/>
              </a:lnSpc>
              <a:buNone/>
            </a:pPr>
            <a:r>
              <a:rPr lang="en-US" sz="950" dirty="0">
                <a:solidFill>
                  <a:srgbClr val="3C3939"/>
                </a:solidFill>
                <a:latin typeface="Roboto" pitchFamily="34" charset="0"/>
                <a:ea typeface="Roboto" pitchFamily="34" charset="-122"/>
                <a:cs typeface="Roboto" pitchFamily="34" charset="-120"/>
              </a:rPr>
              <a:t>The model must learn a static, spatially unique, temporally stable fingerprint, rather than memorizing walked trajectories. This requires separating spatial features from temporal motion features so the network captures location identity instead of path-specific dynamics.</a:t>
            </a:r>
            <a:endParaRPr lang="en-US" sz="950" dirty="0"/>
          </a:p>
        </p:txBody>
      </p:sp>
      <p:sp>
        <p:nvSpPr>
          <p:cNvPr id="8" name="Shape 5"/>
          <p:cNvSpPr/>
          <p:nvPr/>
        </p:nvSpPr>
        <p:spPr>
          <a:xfrm>
            <a:off x="3929881" y="3083123"/>
            <a:ext cx="4713238" cy="634305"/>
          </a:xfrm>
          <a:prstGeom prst="rect">
            <a:avLst/>
          </a:prstGeom>
          <a:solidFill>
            <a:srgbClr val="E1E1EA"/>
          </a:solidFill>
          <a:ln/>
        </p:spPr>
        <p:txBody>
          <a:bodyPr/>
          <a:lstStyle/>
          <a:p>
            <a:endParaRPr lang="en-IN"/>
          </a:p>
        </p:txBody>
      </p:sp>
      <p:sp>
        <p:nvSpPr>
          <p:cNvPr id="9" name="Shape 6"/>
          <p:cNvSpPr/>
          <p:nvPr/>
        </p:nvSpPr>
        <p:spPr>
          <a:xfrm>
            <a:off x="3929881" y="3083123"/>
            <a:ext cx="4713238" cy="14288"/>
          </a:xfrm>
          <a:prstGeom prst="roundRect">
            <a:avLst>
              <a:gd name="adj" fmla="val 371150"/>
            </a:avLst>
          </a:prstGeom>
          <a:solidFill>
            <a:srgbClr val="C7C7D0"/>
          </a:solidFill>
          <a:ln/>
        </p:spPr>
        <p:txBody>
          <a:bodyPr/>
          <a:lstStyle/>
          <a:p>
            <a:endParaRPr lang="en-IN"/>
          </a:p>
        </p:txBody>
      </p:sp>
      <p:sp>
        <p:nvSpPr>
          <p:cNvPr id="10" name="Text 7"/>
          <p:cNvSpPr/>
          <p:nvPr/>
        </p:nvSpPr>
        <p:spPr>
          <a:xfrm>
            <a:off x="4056087" y="3209330"/>
            <a:ext cx="4460825" cy="381893"/>
          </a:xfrm>
          <a:prstGeom prst="rect">
            <a:avLst/>
          </a:prstGeom>
          <a:noFill/>
          <a:ln/>
        </p:spPr>
        <p:txBody>
          <a:bodyPr wrap="square" lIns="0" tIns="0" rIns="0" bIns="0" rtlCol="0" anchor="t">
            <a:normAutofit/>
          </a:bodyPr>
          <a:lstStyle/>
          <a:p>
            <a:pPr marL="0" indent="0" algn="ctr">
              <a:lnSpc>
                <a:spcPct val="126000"/>
              </a:lnSpc>
              <a:buNone/>
            </a:pPr>
            <a:r>
              <a:rPr lang="en-US" sz="950" dirty="0">
                <a:solidFill>
                  <a:srgbClr val="3C3939"/>
                </a:solidFill>
                <a:latin typeface="Roboto" pitchFamily="34" charset="0"/>
                <a:ea typeface="Roboto" pitchFamily="34" charset="-122"/>
                <a:cs typeface="Roboto" pitchFamily="34" charset="-120"/>
              </a:rPr>
              <a:t>All components must be strictly causal with no look-ahead and no bidirectional processing. This rules out bidirectional RNNs.</a:t>
            </a:r>
            <a:endParaRPr lang="en-US" sz="950" dirty="0"/>
          </a:p>
        </p:txBody>
      </p:sp>
      <p:sp>
        <p:nvSpPr>
          <p:cNvPr id="11" name="Shape 8"/>
          <p:cNvSpPr/>
          <p:nvPr/>
        </p:nvSpPr>
        <p:spPr>
          <a:xfrm>
            <a:off x="3929881" y="3717429"/>
            <a:ext cx="4713238" cy="1016198"/>
          </a:xfrm>
          <a:prstGeom prst="rect">
            <a:avLst/>
          </a:prstGeom>
          <a:solidFill>
            <a:srgbClr val="E1E1EA"/>
          </a:solidFill>
          <a:ln/>
        </p:spPr>
        <p:txBody>
          <a:bodyPr/>
          <a:lstStyle/>
          <a:p>
            <a:endParaRPr lang="en-IN"/>
          </a:p>
        </p:txBody>
      </p:sp>
      <p:sp>
        <p:nvSpPr>
          <p:cNvPr id="12" name="Shape 9"/>
          <p:cNvSpPr/>
          <p:nvPr/>
        </p:nvSpPr>
        <p:spPr>
          <a:xfrm>
            <a:off x="3929881" y="3717429"/>
            <a:ext cx="4713238" cy="14288"/>
          </a:xfrm>
          <a:prstGeom prst="roundRect">
            <a:avLst>
              <a:gd name="adj" fmla="val 371150"/>
            </a:avLst>
          </a:prstGeom>
          <a:solidFill>
            <a:srgbClr val="C7C7D0"/>
          </a:solidFill>
          <a:ln/>
        </p:spPr>
        <p:txBody>
          <a:bodyPr/>
          <a:lstStyle/>
          <a:p>
            <a:endParaRPr lang="en-IN"/>
          </a:p>
        </p:txBody>
      </p:sp>
      <p:sp>
        <p:nvSpPr>
          <p:cNvPr id="13" name="Text 10"/>
          <p:cNvSpPr/>
          <p:nvPr/>
        </p:nvSpPr>
        <p:spPr>
          <a:xfrm>
            <a:off x="4056087" y="3843635"/>
            <a:ext cx="4460825" cy="763786"/>
          </a:xfrm>
          <a:prstGeom prst="rect">
            <a:avLst/>
          </a:prstGeom>
          <a:noFill/>
          <a:ln/>
        </p:spPr>
        <p:txBody>
          <a:bodyPr wrap="square" lIns="0" tIns="0" rIns="0" bIns="0" rtlCol="0" anchor="t">
            <a:normAutofit/>
          </a:bodyPr>
          <a:lstStyle/>
          <a:p>
            <a:pPr marL="0" indent="0" algn="ctr">
              <a:lnSpc>
                <a:spcPct val="126000"/>
              </a:lnSpc>
              <a:buNone/>
            </a:pPr>
            <a:r>
              <a:rPr lang="en-US" sz="950" dirty="0">
                <a:solidFill>
                  <a:srgbClr val="3C3939"/>
                </a:solidFill>
                <a:latin typeface="Roboto" pitchFamily="34" charset="0"/>
                <a:ea typeface="Roboto" pitchFamily="34" charset="-122"/>
                <a:cs typeface="Roboto" pitchFamily="34" charset="-120"/>
              </a:rPr>
              <a:t>The model must generalize to unseen devices and unseen sessions. Evaluation should prefer per-node ground truth from the static fingerprint database over interpolated continuous-walk labels, so performance reflects true node-level localization accuracy.</a:t>
            </a:r>
            <a:endParaRPr lang="en-US" sz="950" dirty="0"/>
          </a:p>
        </p:txBody>
      </p:sp>
      <mc:AlternateContent xmlns:mc="http://schemas.openxmlformats.org/markup-compatibility/2006">
        <mc:Choice xmlns:p14="http://schemas.microsoft.com/office/powerpoint/2010/main" Requires="p14">
          <p:contentPart p14:bwMode="auto" r:id="rId4">
            <p14:nvContentPartPr>
              <p14:cNvPr id="14" name="Ink 13">
                <a:extLst>
                  <a:ext uri="{FF2B5EF4-FFF2-40B4-BE49-F238E27FC236}">
                    <a16:creationId xmlns:a16="http://schemas.microsoft.com/office/drawing/2014/main" id="{D3256BEF-D01C-5467-7C68-C49E6E5C862D}"/>
                  </a:ext>
                </a:extLst>
              </p14:cNvPr>
              <p14:cNvContentPartPr/>
              <p14:nvPr/>
            </p14:nvContentPartPr>
            <p14:xfrm>
              <a:off x="7736650" y="4875398"/>
              <a:ext cx="738360" cy="73080"/>
            </p14:xfrm>
          </p:contentPart>
        </mc:Choice>
        <mc:Fallback>
          <p:pic>
            <p:nvPicPr>
              <p:cNvPr id="14" name="Ink 13">
                <a:extLst>
                  <a:ext uri="{FF2B5EF4-FFF2-40B4-BE49-F238E27FC236}">
                    <a16:creationId xmlns:a16="http://schemas.microsoft.com/office/drawing/2014/main" id="{D3256BEF-D01C-5467-7C68-C49E6E5C862D}"/>
                  </a:ext>
                </a:extLst>
              </p:cNvPr>
              <p:cNvPicPr/>
              <p:nvPr/>
            </p:nvPicPr>
            <p:blipFill>
              <a:blip r:embed="rId5"/>
              <a:stretch>
                <a:fillRect/>
              </a:stretch>
            </p:blipFill>
            <p:spPr>
              <a:xfrm>
                <a:off x="7682650" y="4767758"/>
                <a:ext cx="846000" cy="28872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15" name="Ink 14">
                <a:extLst>
                  <a:ext uri="{FF2B5EF4-FFF2-40B4-BE49-F238E27FC236}">
                    <a16:creationId xmlns:a16="http://schemas.microsoft.com/office/drawing/2014/main" id="{34667741-DD59-0E45-9520-554F7636D050}"/>
                  </a:ext>
                </a:extLst>
              </p14:cNvPr>
              <p14:cNvContentPartPr/>
              <p14:nvPr/>
            </p14:nvContentPartPr>
            <p14:xfrm>
              <a:off x="8475730" y="4895929"/>
              <a:ext cx="398520" cy="71280"/>
            </p14:xfrm>
          </p:contentPart>
        </mc:Choice>
        <mc:Fallback>
          <p:pic>
            <p:nvPicPr>
              <p:cNvPr id="15" name="Ink 14">
                <a:extLst>
                  <a:ext uri="{FF2B5EF4-FFF2-40B4-BE49-F238E27FC236}">
                    <a16:creationId xmlns:a16="http://schemas.microsoft.com/office/drawing/2014/main" id="{34667741-DD59-0E45-9520-554F7636D050}"/>
                  </a:ext>
                </a:extLst>
              </p:cNvPr>
              <p:cNvPicPr/>
              <p:nvPr/>
            </p:nvPicPr>
            <p:blipFill>
              <a:blip r:embed="rId7"/>
              <a:stretch>
                <a:fillRect/>
              </a:stretch>
            </p:blipFill>
            <p:spPr>
              <a:xfrm>
                <a:off x="8422090" y="4788289"/>
                <a:ext cx="506160" cy="28692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6" name="Ink 15">
                <a:extLst>
                  <a:ext uri="{FF2B5EF4-FFF2-40B4-BE49-F238E27FC236}">
                    <a16:creationId xmlns:a16="http://schemas.microsoft.com/office/drawing/2014/main" id="{FA19DDF8-B9F4-4C4C-7A64-831EC77EC516}"/>
                  </a:ext>
                </a:extLst>
              </p14:cNvPr>
              <p14:cNvContentPartPr/>
              <p14:nvPr/>
            </p14:nvContentPartPr>
            <p14:xfrm>
              <a:off x="7652770" y="4291849"/>
              <a:ext cx="1069920" cy="675720"/>
            </p14:xfrm>
          </p:contentPart>
        </mc:Choice>
        <mc:Fallback>
          <p:pic>
            <p:nvPicPr>
              <p:cNvPr id="16" name="Ink 15">
                <a:extLst>
                  <a:ext uri="{FF2B5EF4-FFF2-40B4-BE49-F238E27FC236}">
                    <a16:creationId xmlns:a16="http://schemas.microsoft.com/office/drawing/2014/main" id="{FA19DDF8-B9F4-4C4C-7A64-831EC77EC516}"/>
                  </a:ext>
                </a:extLst>
              </p:cNvPr>
              <p:cNvPicPr/>
              <p:nvPr/>
            </p:nvPicPr>
            <p:blipFill>
              <a:blip r:embed="rId9"/>
              <a:stretch>
                <a:fillRect/>
              </a:stretch>
            </p:blipFill>
            <p:spPr>
              <a:xfrm>
                <a:off x="7598770" y="4184209"/>
                <a:ext cx="1177560" cy="89136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7" name="Ink 16">
                <a:extLst>
                  <a:ext uri="{FF2B5EF4-FFF2-40B4-BE49-F238E27FC236}">
                    <a16:creationId xmlns:a16="http://schemas.microsoft.com/office/drawing/2014/main" id="{68B39D36-024B-B094-0B09-5C29E518AFFD}"/>
                  </a:ext>
                </a:extLst>
              </p14:cNvPr>
              <p14:cNvContentPartPr/>
              <p14:nvPr/>
            </p14:nvContentPartPr>
            <p14:xfrm>
              <a:off x="7645930" y="3826369"/>
              <a:ext cx="207720" cy="641880"/>
            </p14:xfrm>
          </p:contentPart>
        </mc:Choice>
        <mc:Fallback>
          <p:pic>
            <p:nvPicPr>
              <p:cNvPr id="17" name="Ink 16">
                <a:extLst>
                  <a:ext uri="{FF2B5EF4-FFF2-40B4-BE49-F238E27FC236}">
                    <a16:creationId xmlns:a16="http://schemas.microsoft.com/office/drawing/2014/main" id="{68B39D36-024B-B094-0B09-5C29E518AFFD}"/>
                  </a:ext>
                </a:extLst>
              </p:cNvPr>
              <p:cNvPicPr/>
              <p:nvPr/>
            </p:nvPicPr>
            <p:blipFill>
              <a:blip r:embed="rId11"/>
              <a:stretch>
                <a:fillRect/>
              </a:stretch>
            </p:blipFill>
            <p:spPr>
              <a:xfrm>
                <a:off x="7591930" y="3718729"/>
                <a:ext cx="315360" cy="85752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8" name="Ink 17">
                <a:extLst>
                  <a:ext uri="{FF2B5EF4-FFF2-40B4-BE49-F238E27FC236}">
                    <a16:creationId xmlns:a16="http://schemas.microsoft.com/office/drawing/2014/main" id="{DC2F98EF-C9F7-8366-FB1F-5B3FB5975F72}"/>
                  </a:ext>
                </a:extLst>
              </p14:cNvPr>
              <p14:cNvContentPartPr/>
              <p14:nvPr/>
            </p14:nvContentPartPr>
            <p14:xfrm>
              <a:off x="7717210" y="3832489"/>
              <a:ext cx="416160" cy="57960"/>
            </p14:xfrm>
          </p:contentPart>
        </mc:Choice>
        <mc:Fallback>
          <p:pic>
            <p:nvPicPr>
              <p:cNvPr id="18" name="Ink 17">
                <a:extLst>
                  <a:ext uri="{FF2B5EF4-FFF2-40B4-BE49-F238E27FC236}">
                    <a16:creationId xmlns:a16="http://schemas.microsoft.com/office/drawing/2014/main" id="{DC2F98EF-C9F7-8366-FB1F-5B3FB5975F72}"/>
                  </a:ext>
                </a:extLst>
              </p:cNvPr>
              <p:cNvPicPr/>
              <p:nvPr/>
            </p:nvPicPr>
            <p:blipFill>
              <a:blip r:embed="rId13"/>
              <a:stretch>
                <a:fillRect/>
              </a:stretch>
            </p:blipFill>
            <p:spPr>
              <a:xfrm>
                <a:off x="7663570" y="3724849"/>
                <a:ext cx="523800" cy="27360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9" name="Ink 18">
                <a:extLst>
                  <a:ext uri="{FF2B5EF4-FFF2-40B4-BE49-F238E27FC236}">
                    <a16:creationId xmlns:a16="http://schemas.microsoft.com/office/drawing/2014/main" id="{5D001D28-8ACD-1B3C-701D-B31609B3885F}"/>
                  </a:ext>
                </a:extLst>
              </p14:cNvPr>
              <p14:cNvContentPartPr/>
              <p14:nvPr/>
            </p14:nvContentPartPr>
            <p14:xfrm>
              <a:off x="8138410" y="3897289"/>
              <a:ext cx="360" cy="360"/>
            </p14:xfrm>
          </p:contentPart>
        </mc:Choice>
        <mc:Fallback>
          <p:pic>
            <p:nvPicPr>
              <p:cNvPr id="19" name="Ink 18">
                <a:extLst>
                  <a:ext uri="{FF2B5EF4-FFF2-40B4-BE49-F238E27FC236}">
                    <a16:creationId xmlns:a16="http://schemas.microsoft.com/office/drawing/2014/main" id="{5D001D28-8ACD-1B3C-701D-B31609B3885F}"/>
                  </a:ext>
                </a:extLst>
              </p:cNvPr>
              <p:cNvPicPr/>
              <p:nvPr/>
            </p:nvPicPr>
            <p:blipFill>
              <a:blip r:embed="rId15"/>
              <a:stretch>
                <a:fillRect/>
              </a:stretch>
            </p:blipFill>
            <p:spPr>
              <a:xfrm>
                <a:off x="8084770" y="3789289"/>
                <a:ext cx="10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20" name="Ink 19">
                <a:extLst>
                  <a:ext uri="{FF2B5EF4-FFF2-40B4-BE49-F238E27FC236}">
                    <a16:creationId xmlns:a16="http://schemas.microsoft.com/office/drawing/2014/main" id="{2B7A38BB-1580-112D-4B33-0FCACB37A3E0}"/>
                  </a:ext>
                </a:extLst>
              </p14:cNvPr>
              <p14:cNvContentPartPr/>
              <p14:nvPr/>
            </p14:nvContentPartPr>
            <p14:xfrm>
              <a:off x="8138410" y="3897289"/>
              <a:ext cx="360" cy="360"/>
            </p14:xfrm>
          </p:contentPart>
        </mc:Choice>
        <mc:Fallback>
          <p:pic>
            <p:nvPicPr>
              <p:cNvPr id="20" name="Ink 19">
                <a:extLst>
                  <a:ext uri="{FF2B5EF4-FFF2-40B4-BE49-F238E27FC236}">
                    <a16:creationId xmlns:a16="http://schemas.microsoft.com/office/drawing/2014/main" id="{2B7A38BB-1580-112D-4B33-0FCACB37A3E0}"/>
                  </a:ext>
                </a:extLst>
              </p:cNvPr>
              <p:cNvPicPr/>
              <p:nvPr/>
            </p:nvPicPr>
            <p:blipFill>
              <a:blip r:embed="rId15"/>
              <a:stretch>
                <a:fillRect/>
              </a:stretch>
            </p:blipFill>
            <p:spPr>
              <a:xfrm>
                <a:off x="8084770" y="3789289"/>
                <a:ext cx="10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21" name="Ink 20">
                <a:extLst>
                  <a:ext uri="{FF2B5EF4-FFF2-40B4-BE49-F238E27FC236}">
                    <a16:creationId xmlns:a16="http://schemas.microsoft.com/office/drawing/2014/main" id="{3F0FB167-3042-6832-3539-2D04A4158282}"/>
                  </a:ext>
                </a:extLst>
              </p14:cNvPr>
              <p14:cNvContentPartPr/>
              <p14:nvPr/>
            </p14:nvContentPartPr>
            <p14:xfrm>
              <a:off x="8138410" y="3897289"/>
              <a:ext cx="360" cy="360"/>
            </p14:xfrm>
          </p:contentPart>
        </mc:Choice>
        <mc:Fallback>
          <p:pic>
            <p:nvPicPr>
              <p:cNvPr id="21" name="Ink 20">
                <a:extLst>
                  <a:ext uri="{FF2B5EF4-FFF2-40B4-BE49-F238E27FC236}">
                    <a16:creationId xmlns:a16="http://schemas.microsoft.com/office/drawing/2014/main" id="{3F0FB167-3042-6832-3539-2D04A4158282}"/>
                  </a:ext>
                </a:extLst>
              </p:cNvPr>
              <p:cNvPicPr/>
              <p:nvPr/>
            </p:nvPicPr>
            <p:blipFill>
              <a:blip r:embed="rId15"/>
              <a:stretch>
                <a:fillRect/>
              </a:stretch>
            </p:blipFill>
            <p:spPr>
              <a:xfrm>
                <a:off x="8084770" y="3789289"/>
                <a:ext cx="10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22" name="Ink 21">
                <a:extLst>
                  <a:ext uri="{FF2B5EF4-FFF2-40B4-BE49-F238E27FC236}">
                    <a16:creationId xmlns:a16="http://schemas.microsoft.com/office/drawing/2014/main" id="{CC7A0D5C-9D03-CFC3-09B4-482D246105C5}"/>
                  </a:ext>
                </a:extLst>
              </p14:cNvPr>
              <p14:cNvContentPartPr/>
              <p14:nvPr/>
            </p14:nvContentPartPr>
            <p14:xfrm>
              <a:off x="8138410" y="3897289"/>
              <a:ext cx="648720" cy="100440"/>
            </p14:xfrm>
          </p:contentPart>
        </mc:Choice>
        <mc:Fallback>
          <p:pic>
            <p:nvPicPr>
              <p:cNvPr id="22" name="Ink 21">
                <a:extLst>
                  <a:ext uri="{FF2B5EF4-FFF2-40B4-BE49-F238E27FC236}">
                    <a16:creationId xmlns:a16="http://schemas.microsoft.com/office/drawing/2014/main" id="{CC7A0D5C-9D03-CFC3-09B4-482D246105C5}"/>
                  </a:ext>
                </a:extLst>
              </p:cNvPr>
              <p:cNvPicPr/>
              <p:nvPr/>
            </p:nvPicPr>
            <p:blipFill>
              <a:blip r:embed="rId19"/>
              <a:stretch>
                <a:fillRect/>
              </a:stretch>
            </p:blipFill>
            <p:spPr>
              <a:xfrm>
                <a:off x="8084770" y="3789289"/>
                <a:ext cx="756360" cy="31608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23" name="Ink 22">
                <a:extLst>
                  <a:ext uri="{FF2B5EF4-FFF2-40B4-BE49-F238E27FC236}">
                    <a16:creationId xmlns:a16="http://schemas.microsoft.com/office/drawing/2014/main" id="{F1F2272C-3627-0C77-4D5B-D5F2560CBCA0}"/>
                  </a:ext>
                </a:extLst>
              </p14:cNvPr>
              <p14:cNvContentPartPr/>
              <p14:nvPr/>
            </p14:nvContentPartPr>
            <p14:xfrm>
              <a:off x="8021050" y="4853449"/>
              <a:ext cx="1022760" cy="199080"/>
            </p14:xfrm>
          </p:contentPart>
        </mc:Choice>
        <mc:Fallback>
          <p:pic>
            <p:nvPicPr>
              <p:cNvPr id="23" name="Ink 22">
                <a:extLst>
                  <a:ext uri="{FF2B5EF4-FFF2-40B4-BE49-F238E27FC236}">
                    <a16:creationId xmlns:a16="http://schemas.microsoft.com/office/drawing/2014/main" id="{F1F2272C-3627-0C77-4D5B-D5F2560CBCA0}"/>
                  </a:ext>
                </a:extLst>
              </p:cNvPr>
              <p:cNvPicPr/>
              <p:nvPr/>
            </p:nvPicPr>
            <p:blipFill>
              <a:blip r:embed="rId21"/>
              <a:stretch>
                <a:fillRect/>
              </a:stretch>
            </p:blipFill>
            <p:spPr>
              <a:xfrm>
                <a:off x="7958410" y="4790809"/>
                <a:ext cx="1148400" cy="324720"/>
              </a:xfrm>
              <a:prstGeom prst="rect">
                <a:avLst/>
              </a:prstGeom>
            </p:spPr>
          </p:pic>
        </mc:Fallback>
      </mc:AlternateContent>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96119" y="454372"/>
            <a:ext cx="4977780" cy="373782"/>
          </a:xfrm>
          <a:prstGeom prst="rect">
            <a:avLst/>
          </a:prstGeom>
          <a:noFill/>
          <a:ln/>
        </p:spPr>
        <p:txBody>
          <a:bodyPr wrap="none" lIns="0" tIns="0" rIns="0" bIns="0" rtlCol="0" anchor="t"/>
          <a:lstStyle/>
          <a:p>
            <a:pPr marL="0" indent="0" algn="l">
              <a:lnSpc>
                <a:spcPct val="104000"/>
              </a:lnSpc>
              <a:buNone/>
            </a:pPr>
            <a:r>
              <a:rPr lang="en-US" sz="2350" dirty="0">
                <a:solidFill>
                  <a:srgbClr val="1B1B27"/>
                </a:solidFill>
                <a:latin typeface="Raleway" pitchFamily="34" charset="0"/>
                <a:ea typeface="Raleway" pitchFamily="34" charset="-122"/>
                <a:cs typeface="Raleway" pitchFamily="34" charset="-120"/>
              </a:rPr>
              <a:t>Prior models' architecture review</a:t>
            </a:r>
            <a:endParaRPr lang="en-US" sz="2350" dirty="0"/>
          </a:p>
        </p:txBody>
      </p:sp>
      <p:sp>
        <p:nvSpPr>
          <p:cNvPr id="3" name="Shape 1"/>
          <p:cNvSpPr/>
          <p:nvPr/>
        </p:nvSpPr>
        <p:spPr>
          <a:xfrm>
            <a:off x="496119" y="1029965"/>
            <a:ext cx="8151763" cy="3659163"/>
          </a:xfrm>
          <a:prstGeom prst="roundRect">
            <a:avLst>
              <a:gd name="adj" fmla="val 1373"/>
            </a:avLst>
          </a:prstGeom>
          <a:solidFill>
            <a:srgbClr val="E1E1EA"/>
          </a:solidFill>
          <a:ln w="4763">
            <a:solidFill>
              <a:srgbClr val="C7C7D0"/>
            </a:solidFill>
            <a:prstDash val="solid"/>
          </a:ln>
        </p:spPr>
        <p:txBody>
          <a:bodyPr/>
          <a:lstStyle/>
          <a:p>
            <a:endParaRPr lang="en-IN"/>
          </a:p>
        </p:txBody>
      </p:sp>
      <p:sp>
        <p:nvSpPr>
          <p:cNvPr id="4" name="Shape 2"/>
          <p:cNvSpPr/>
          <p:nvPr/>
        </p:nvSpPr>
        <p:spPr>
          <a:xfrm>
            <a:off x="500881" y="1034728"/>
            <a:ext cx="8142238" cy="1261988"/>
          </a:xfrm>
          <a:prstGeom prst="rect">
            <a:avLst/>
          </a:prstGeom>
          <a:solidFill>
            <a:srgbClr val="E1E1EA"/>
          </a:solidFill>
          <a:ln/>
        </p:spPr>
        <p:txBody>
          <a:bodyPr/>
          <a:lstStyle/>
          <a:p>
            <a:endParaRPr lang="en-IN"/>
          </a:p>
        </p:txBody>
      </p:sp>
      <p:sp>
        <p:nvSpPr>
          <p:cNvPr id="5" name="Text 3"/>
          <p:cNvSpPr/>
          <p:nvPr/>
        </p:nvSpPr>
        <p:spPr>
          <a:xfrm>
            <a:off x="620464" y="1154311"/>
            <a:ext cx="2741191" cy="186854"/>
          </a:xfrm>
          <a:prstGeom prst="rect">
            <a:avLst/>
          </a:prstGeom>
          <a:noFill/>
          <a:ln/>
        </p:spPr>
        <p:txBody>
          <a:bodyPr wrap="none" lIns="0" tIns="0" rIns="0" bIns="0" rtlCol="0" anchor="t"/>
          <a:lstStyle/>
          <a:p>
            <a:pPr marL="0" indent="0" algn="l">
              <a:lnSpc>
                <a:spcPct val="104000"/>
              </a:lnSpc>
              <a:buNone/>
            </a:pPr>
            <a:r>
              <a:rPr lang="en-US" sz="1150" dirty="0">
                <a:solidFill>
                  <a:srgbClr val="3C3939"/>
                </a:solidFill>
                <a:latin typeface="Raleway" pitchFamily="34" charset="0"/>
                <a:ea typeface="Raleway" pitchFamily="34" charset="-122"/>
                <a:cs typeface="Raleway" pitchFamily="34" charset="-120"/>
              </a:rPr>
              <a:t>Model 1 — Multi-branch CNN + Bi-LSTM</a:t>
            </a:r>
            <a:endParaRPr lang="en-US" sz="1150" dirty="0"/>
          </a:p>
        </p:txBody>
      </p:sp>
      <p:sp>
        <p:nvSpPr>
          <p:cNvPr id="6" name="Text 4"/>
          <p:cNvSpPr/>
          <p:nvPr/>
        </p:nvSpPr>
        <p:spPr>
          <a:xfrm>
            <a:off x="620464" y="1401663"/>
            <a:ext cx="7903071" cy="775469"/>
          </a:xfrm>
          <a:prstGeom prst="rect">
            <a:avLst/>
          </a:prstGeom>
          <a:noFill/>
          <a:ln/>
        </p:spPr>
        <p:txBody>
          <a:bodyPr wrap="square" lIns="0" tIns="0" rIns="0" bIns="0" rtlCol="0" anchor="t">
            <a:normAutofit/>
          </a:bodyPr>
          <a:lstStyle/>
          <a:p>
            <a:pPr marL="0" indent="0" algn="l">
              <a:lnSpc>
                <a:spcPct val="123000"/>
              </a:lnSpc>
              <a:buNone/>
            </a:pPr>
            <a:r>
              <a:rPr lang="en-US" sz="750" dirty="0">
                <a:solidFill>
                  <a:srgbClr val="3C3939"/>
                </a:solidFill>
                <a:latin typeface="Roboto" pitchFamily="34" charset="0"/>
                <a:ea typeface="Roboto" pitchFamily="34" charset="-122"/>
                <a:cs typeface="Roboto" pitchFamily="34" charset="-120"/>
              </a:rPr>
              <a:t>Implemented in </a:t>
            </a:r>
            <a:r>
              <a:rPr lang="en-US" sz="750" dirty="0">
                <a:solidFill>
                  <a:srgbClr val="3C3939"/>
                </a:solidFill>
                <a:highlight>
                  <a:srgbClr val="F2F2F2"/>
                </a:highlight>
                <a:latin typeface="Consolas" pitchFamily="34" charset="0"/>
                <a:ea typeface="Consolas" pitchFamily="34" charset="-122"/>
                <a:cs typeface="Consolas" pitchFamily="34" charset="-120"/>
              </a:rPr>
              <a:t>train_cnn_lstm.py</a:t>
            </a:r>
            <a:r>
              <a:rPr lang="en-US" sz="750" dirty="0">
                <a:solidFill>
                  <a:srgbClr val="3C3939"/>
                </a:solidFill>
                <a:latin typeface="Roboto" pitchFamily="34" charset="0"/>
                <a:ea typeface="Roboto" pitchFamily="34" charset="-122"/>
                <a:cs typeface="Roboto" pitchFamily="34" charset="-120"/>
              </a:rPr>
              <a:t>. This model used two feature branches: a WiFi branch with </a:t>
            </a:r>
            <a:r>
              <a:rPr lang="en-US" sz="750" dirty="0">
                <a:solidFill>
                  <a:srgbClr val="3C3939"/>
                </a:solidFill>
                <a:highlight>
                  <a:srgbClr val="F2F2F2"/>
                </a:highlight>
                <a:latin typeface="Consolas" pitchFamily="34" charset="0"/>
                <a:ea typeface="Consolas" pitchFamily="34" charset="-122"/>
                <a:cs typeface="Consolas" pitchFamily="34" charset="-120"/>
              </a:rPr>
              <a:t>Conv1d(64)</a:t>
            </a:r>
            <a:r>
              <a:rPr lang="en-US" sz="750" dirty="0">
                <a:solidFill>
                  <a:srgbClr val="3C3939"/>
                </a:solidFill>
                <a:latin typeface="Roboto" pitchFamily="34" charset="0"/>
                <a:ea typeface="Roboto" pitchFamily="34" charset="-122"/>
                <a:cs typeface="Roboto" pitchFamily="34" charset="-120"/>
              </a:rPr>
              <a:t> filters and an IMU branch with </a:t>
            </a:r>
            <a:r>
              <a:rPr lang="en-US" sz="750" dirty="0">
                <a:solidFill>
                  <a:srgbClr val="3C3939"/>
                </a:solidFill>
                <a:highlight>
                  <a:srgbClr val="F2F2F2"/>
                </a:highlight>
                <a:latin typeface="Consolas" pitchFamily="34" charset="0"/>
                <a:ea typeface="Consolas" pitchFamily="34" charset="-122"/>
                <a:cs typeface="Consolas" pitchFamily="34" charset="-120"/>
              </a:rPr>
              <a:t>Conv1d(32)</a:t>
            </a:r>
            <a:r>
              <a:rPr lang="en-US" sz="750" dirty="0">
                <a:solidFill>
                  <a:srgbClr val="3C3939"/>
                </a:solidFill>
                <a:latin typeface="Roboto" pitchFamily="34" charset="0"/>
                <a:ea typeface="Roboto" pitchFamily="34" charset="-122"/>
                <a:cs typeface="Roboto" pitchFamily="34" charset="-120"/>
              </a:rPr>
              <a:t> filters. Their outputs were concatenated and passed into a </a:t>
            </a:r>
            <a:r>
              <a:rPr lang="en-US" sz="750" dirty="0">
                <a:solidFill>
                  <a:srgbClr val="3C3939"/>
                </a:solidFill>
                <a:highlight>
                  <a:srgbClr val="F2F2F2"/>
                </a:highlight>
                <a:latin typeface="Consolas" pitchFamily="34" charset="0"/>
                <a:ea typeface="Consolas" pitchFamily="34" charset="-122"/>
                <a:cs typeface="Consolas" pitchFamily="34" charset="-120"/>
              </a:rPr>
              <a:t>Bi-LSTM(128 hidden, bidirectional=True)</a:t>
            </a:r>
            <a:r>
              <a:rPr lang="en-US" sz="750" dirty="0">
                <a:solidFill>
                  <a:srgbClr val="3C3939"/>
                </a:solidFill>
                <a:latin typeface="Roboto" pitchFamily="34" charset="0"/>
                <a:ea typeface="Roboto" pitchFamily="34" charset="-122"/>
                <a:cs typeface="Roboto" pitchFamily="34" charset="-120"/>
              </a:rPr>
              <a:t>, followed by fully connected layers that predicted a single absolute </a:t>
            </a:r>
            <a:r>
              <a:rPr lang="en-US" sz="750" i="1" dirty="0">
                <a:solidFill>
                  <a:srgbClr val="3C3939"/>
                </a:solidFill>
                <a:latin typeface="Roboto" pitchFamily="34" charset="0"/>
                <a:ea typeface="Roboto" pitchFamily="34" charset="-122"/>
                <a:cs typeface="Roboto" pitchFamily="34" charset="-120"/>
              </a:rPr>
              <a:t>(X, Y)</a:t>
            </a:r>
            <a:r>
              <a:rPr lang="en-US" sz="750" dirty="0">
                <a:solidFill>
                  <a:srgbClr val="3C3939"/>
                </a:solidFill>
                <a:latin typeface="Roboto" pitchFamily="34" charset="0"/>
                <a:ea typeface="Roboto" pitchFamily="34" charset="-122"/>
                <a:cs typeface="Roboto" pitchFamily="34" charset="-120"/>
              </a:rPr>
              <a:t> position for each 10-frame window. Trained with MSE loss on absolute coordinates. It had the best raw errors, but the bidirectional LSTM explicitly looked ahead inside the 10-frame window, making the model </a:t>
            </a:r>
            <a:r>
              <a:rPr lang="en-US" sz="750" b="1" dirty="0">
                <a:solidFill>
                  <a:srgbClr val="3C3939"/>
                </a:solidFill>
                <a:latin typeface="Roboto" pitchFamily="34" charset="0"/>
                <a:ea typeface="Roboto" pitchFamily="34" charset="-122"/>
                <a:cs typeface="Roboto" pitchFamily="34" charset="-120"/>
              </a:rPr>
              <a:t>non-causal and unsuitable for strict real-time deployment</a:t>
            </a:r>
            <a:r>
              <a:rPr lang="en-US" sz="750" dirty="0">
                <a:solidFill>
                  <a:srgbClr val="3C3939"/>
                </a:solidFill>
                <a:latin typeface="Roboto" pitchFamily="34" charset="0"/>
                <a:ea typeface="Roboto" pitchFamily="34" charset="-122"/>
                <a:cs typeface="Roboto" pitchFamily="34" charset="-120"/>
              </a:rPr>
              <a:t>.</a:t>
            </a:r>
            <a:endParaRPr lang="en-US" sz="750" dirty="0"/>
          </a:p>
          <a:p>
            <a:pPr marL="0" indent="0" algn="l">
              <a:lnSpc>
                <a:spcPct val="123000"/>
              </a:lnSpc>
              <a:buNone/>
            </a:pPr>
            <a:r>
              <a:rPr lang="en-US" sz="750" dirty="0">
                <a:solidFill>
                  <a:srgbClr val="3C3939"/>
                </a:solidFill>
                <a:latin typeface="Roboto" pitchFamily="34" charset="0"/>
                <a:ea typeface="Roboto" pitchFamily="34" charset="-122"/>
                <a:cs typeface="Roboto" pitchFamily="34" charset="-120"/>
              </a:rPr>
              <a:t>Reported performance on S9+ was </a:t>
            </a:r>
            <a:r>
              <a:rPr lang="en-US" sz="750" b="1" dirty="0">
                <a:solidFill>
                  <a:srgbClr val="3C3939"/>
                </a:solidFill>
                <a:latin typeface="Roboto" pitchFamily="34" charset="0"/>
                <a:ea typeface="Roboto" pitchFamily="34" charset="-122"/>
                <a:cs typeface="Roboto" pitchFamily="34" charset="-120"/>
              </a:rPr>
              <a:t>5.04 m MAE</a:t>
            </a:r>
            <a:r>
              <a:rPr lang="en-US" sz="750" dirty="0">
                <a:solidFill>
                  <a:srgbClr val="3C3939"/>
                </a:solidFill>
                <a:latin typeface="Roboto" pitchFamily="34" charset="0"/>
                <a:ea typeface="Roboto" pitchFamily="34" charset="-122"/>
                <a:cs typeface="Roboto" pitchFamily="34" charset="-120"/>
              </a:rPr>
              <a:t> with a maximum error of </a:t>
            </a:r>
            <a:r>
              <a:rPr lang="en-US" sz="750" b="1" dirty="0">
                <a:solidFill>
                  <a:srgbClr val="3C3939"/>
                </a:solidFill>
                <a:latin typeface="Roboto" pitchFamily="34" charset="0"/>
                <a:ea typeface="Roboto" pitchFamily="34" charset="-122"/>
                <a:cs typeface="Roboto" pitchFamily="34" charset="-120"/>
              </a:rPr>
              <a:t>17.4 m</a:t>
            </a:r>
            <a:r>
              <a:rPr lang="en-US" sz="750" dirty="0">
                <a:solidFill>
                  <a:srgbClr val="3C3939"/>
                </a:solidFill>
                <a:latin typeface="Roboto" pitchFamily="34" charset="0"/>
                <a:ea typeface="Roboto" pitchFamily="34" charset="-122"/>
                <a:cs typeface="Roboto" pitchFamily="34" charset="-120"/>
              </a:rPr>
              <a:t>.</a:t>
            </a:r>
            <a:endParaRPr lang="en-US" sz="750" dirty="0"/>
          </a:p>
        </p:txBody>
      </p:sp>
      <p:sp>
        <p:nvSpPr>
          <p:cNvPr id="7" name="Shape 5"/>
          <p:cNvSpPr/>
          <p:nvPr/>
        </p:nvSpPr>
        <p:spPr>
          <a:xfrm>
            <a:off x="500881" y="2296716"/>
            <a:ext cx="8142238" cy="1120899"/>
          </a:xfrm>
          <a:prstGeom prst="rect">
            <a:avLst/>
          </a:prstGeom>
          <a:solidFill>
            <a:srgbClr val="E1E1EA"/>
          </a:solidFill>
          <a:ln/>
        </p:spPr>
        <p:txBody>
          <a:bodyPr/>
          <a:lstStyle/>
          <a:p>
            <a:endParaRPr lang="en-IN"/>
          </a:p>
        </p:txBody>
      </p:sp>
      <p:sp>
        <p:nvSpPr>
          <p:cNvPr id="8" name="Shape 6"/>
          <p:cNvSpPr/>
          <p:nvPr/>
        </p:nvSpPr>
        <p:spPr>
          <a:xfrm>
            <a:off x="500881" y="2296716"/>
            <a:ext cx="8142238" cy="14288"/>
          </a:xfrm>
          <a:prstGeom prst="roundRect">
            <a:avLst>
              <a:gd name="adj" fmla="val 351616"/>
            </a:avLst>
          </a:prstGeom>
          <a:solidFill>
            <a:srgbClr val="C7C7D0"/>
          </a:solidFill>
          <a:ln/>
        </p:spPr>
        <p:txBody>
          <a:bodyPr/>
          <a:lstStyle/>
          <a:p>
            <a:endParaRPr lang="en-IN"/>
          </a:p>
        </p:txBody>
      </p:sp>
      <p:sp>
        <p:nvSpPr>
          <p:cNvPr id="9" name="Text 7"/>
          <p:cNvSpPr/>
          <p:nvPr/>
        </p:nvSpPr>
        <p:spPr>
          <a:xfrm>
            <a:off x="620464" y="2416299"/>
            <a:ext cx="3466951" cy="186854"/>
          </a:xfrm>
          <a:prstGeom prst="rect">
            <a:avLst/>
          </a:prstGeom>
          <a:noFill/>
          <a:ln/>
        </p:spPr>
        <p:txBody>
          <a:bodyPr wrap="none" lIns="0" tIns="0" rIns="0" bIns="0" rtlCol="0" anchor="t"/>
          <a:lstStyle/>
          <a:p>
            <a:pPr marL="0" indent="0" algn="l">
              <a:lnSpc>
                <a:spcPct val="104000"/>
              </a:lnSpc>
              <a:buNone/>
            </a:pPr>
            <a:r>
              <a:rPr lang="en-US" sz="1150" dirty="0">
                <a:solidFill>
                  <a:srgbClr val="3C3939"/>
                </a:solidFill>
                <a:latin typeface="Raleway" pitchFamily="34" charset="0"/>
                <a:ea typeface="Raleway" pitchFamily="34" charset="-122"/>
                <a:cs typeface="Raleway" pitchFamily="34" charset="-120"/>
              </a:rPr>
              <a:t>Model 2 — Causal Hybrid (CausalConv + uni-LSTM)</a:t>
            </a:r>
            <a:endParaRPr lang="en-US" sz="1150" dirty="0"/>
          </a:p>
        </p:txBody>
      </p:sp>
      <p:sp>
        <p:nvSpPr>
          <p:cNvPr id="10" name="Text 8"/>
          <p:cNvSpPr/>
          <p:nvPr/>
        </p:nvSpPr>
        <p:spPr>
          <a:xfrm>
            <a:off x="620464" y="2663651"/>
            <a:ext cx="7903071" cy="634380"/>
          </a:xfrm>
          <a:prstGeom prst="rect">
            <a:avLst/>
          </a:prstGeom>
          <a:noFill/>
          <a:ln/>
        </p:spPr>
        <p:txBody>
          <a:bodyPr wrap="square" lIns="0" tIns="0" rIns="0" bIns="0" rtlCol="0" anchor="t">
            <a:normAutofit/>
          </a:bodyPr>
          <a:lstStyle/>
          <a:p>
            <a:pPr marL="0" indent="0" algn="l">
              <a:lnSpc>
                <a:spcPct val="123000"/>
              </a:lnSpc>
              <a:buNone/>
            </a:pPr>
            <a:r>
              <a:rPr lang="en-US" sz="750" dirty="0">
                <a:solidFill>
                  <a:srgbClr val="3C3939"/>
                </a:solidFill>
                <a:latin typeface="Roboto" pitchFamily="34" charset="0"/>
                <a:ea typeface="Roboto" pitchFamily="34" charset="-122"/>
                <a:cs typeface="Roboto" pitchFamily="34" charset="-120"/>
              </a:rPr>
              <a:t>Implemented in </a:t>
            </a:r>
            <a:r>
              <a:rPr lang="en-US" sz="750" dirty="0">
                <a:solidFill>
                  <a:srgbClr val="3C3939"/>
                </a:solidFill>
                <a:highlight>
                  <a:srgbClr val="F2F2F2"/>
                </a:highlight>
                <a:latin typeface="Consolas" pitchFamily="34" charset="0"/>
                <a:ea typeface="Consolas" pitchFamily="34" charset="-122"/>
                <a:cs typeface="Consolas" pitchFamily="34" charset="-120"/>
              </a:rPr>
              <a:t>train_causal_hybrid.py</a:t>
            </a:r>
            <a:r>
              <a:rPr lang="en-US" sz="750" dirty="0">
                <a:solidFill>
                  <a:srgbClr val="3C3939"/>
                </a:solidFill>
                <a:latin typeface="Roboto" pitchFamily="34" charset="0"/>
                <a:ea typeface="Roboto" pitchFamily="34" charset="-122"/>
                <a:cs typeface="Roboto" pitchFamily="34" charset="-120"/>
              </a:rPr>
              <a:t>. The key change was replacing standard convolutions with </a:t>
            </a:r>
            <a:r>
              <a:rPr lang="en-US" sz="750" dirty="0">
                <a:solidFill>
                  <a:srgbClr val="3C3939"/>
                </a:solidFill>
                <a:highlight>
                  <a:srgbClr val="F2F2F2"/>
                </a:highlight>
                <a:latin typeface="Consolas" pitchFamily="34" charset="0"/>
                <a:ea typeface="Consolas" pitchFamily="34" charset="-122"/>
                <a:cs typeface="Consolas" pitchFamily="34" charset="-120"/>
              </a:rPr>
              <a:t>CausalConv1d</a:t>
            </a:r>
            <a:r>
              <a:rPr lang="en-US" sz="750" dirty="0">
                <a:solidFill>
                  <a:srgbClr val="3C3939"/>
                </a:solidFill>
                <a:latin typeface="Roboto" pitchFamily="34" charset="0"/>
                <a:ea typeface="Roboto" pitchFamily="34" charset="-122"/>
                <a:cs typeface="Roboto" pitchFamily="34" charset="-120"/>
              </a:rPr>
              <a:t>, which pads only on the left side so the </a:t>
            </a:r>
            <a:r>
              <a:rPr lang="en-US" sz="750" b="1" dirty="0">
                <a:solidFill>
                  <a:srgbClr val="3C3939"/>
                </a:solidFill>
                <a:latin typeface="Roboto" pitchFamily="34" charset="0"/>
                <a:ea typeface="Roboto" pitchFamily="34" charset="-122"/>
                <a:cs typeface="Roboto" pitchFamily="34" charset="-120"/>
              </a:rPr>
              <a:t>network never sees future frames</a:t>
            </a:r>
            <a:r>
              <a:rPr lang="en-US" sz="750" dirty="0">
                <a:solidFill>
                  <a:srgbClr val="3C3939"/>
                </a:solidFill>
                <a:latin typeface="Roboto" pitchFamily="34" charset="0"/>
                <a:ea typeface="Roboto" pitchFamily="34" charset="-122"/>
                <a:cs typeface="Roboto" pitchFamily="34" charset="-120"/>
              </a:rPr>
              <a:t>, and </a:t>
            </a:r>
            <a:r>
              <a:rPr lang="en-US" sz="750" u="sng" dirty="0">
                <a:solidFill>
                  <a:srgbClr val="3C3939"/>
                </a:solidFill>
                <a:latin typeface="Roboto" pitchFamily="34" charset="0"/>
                <a:ea typeface="Roboto" pitchFamily="34" charset="-122"/>
                <a:cs typeface="Roboto" pitchFamily="34" charset="-120"/>
              </a:rPr>
              <a:t>replacing the Bi-LSTM with a unidirectional LSTM</a:t>
            </a:r>
            <a:r>
              <a:rPr lang="en-US" sz="750" dirty="0">
                <a:solidFill>
                  <a:srgbClr val="3C3939"/>
                </a:solidFill>
                <a:latin typeface="Roboto" pitchFamily="34" charset="0"/>
                <a:ea typeface="Roboto" pitchFamily="34" charset="-122"/>
                <a:cs typeface="Roboto" pitchFamily="34" charset="-120"/>
              </a:rPr>
              <a:t> (</a:t>
            </a:r>
            <a:r>
              <a:rPr lang="en-US" sz="750" dirty="0">
                <a:solidFill>
                  <a:srgbClr val="3C3939"/>
                </a:solidFill>
                <a:highlight>
                  <a:srgbClr val="F2F2F2"/>
                </a:highlight>
                <a:latin typeface="Consolas" pitchFamily="34" charset="0"/>
                <a:ea typeface="Consolas" pitchFamily="34" charset="-122"/>
                <a:cs typeface="Consolas" pitchFamily="34" charset="-120"/>
              </a:rPr>
              <a:t>bidirectional=False</a:t>
            </a:r>
            <a:r>
              <a:rPr lang="en-US" sz="750" dirty="0">
                <a:solidFill>
                  <a:srgbClr val="3C3939"/>
                </a:solidFill>
                <a:latin typeface="Roboto" pitchFamily="34" charset="0"/>
                <a:ea typeface="Roboto" pitchFamily="34" charset="-122"/>
                <a:cs typeface="Roboto" pitchFamily="34" charset="-120"/>
              </a:rPr>
              <a:t>). Instead of predicting absolute position directly, this model predicts frame-to-frame motion deltas </a:t>
            </a:r>
            <a:r>
              <a:rPr lang="en-US" sz="750" i="1" dirty="0">
                <a:solidFill>
                  <a:srgbClr val="3C3939"/>
                </a:solidFill>
                <a:latin typeface="Roboto" pitchFamily="34" charset="0"/>
                <a:ea typeface="Roboto" pitchFamily="34" charset="-122"/>
                <a:cs typeface="Roboto" pitchFamily="34" charset="-120"/>
              </a:rPr>
              <a:t>(dx, dy)</a:t>
            </a:r>
            <a:r>
              <a:rPr lang="en-US" sz="750" dirty="0">
                <a:solidFill>
                  <a:srgbClr val="3C3939"/>
                </a:solidFill>
                <a:latin typeface="Roboto" pitchFamily="34" charset="0"/>
                <a:ea typeface="Roboto" pitchFamily="34" charset="-122"/>
                <a:cs typeface="Roboto" pitchFamily="34" charset="-120"/>
              </a:rPr>
              <a:t>, which are then cumulatively summed at test time starting from the known start position. This turns localization into a motion-estimation problem, avoiding look-ahead cheating. </a:t>
            </a:r>
            <a:endParaRPr lang="en-US" sz="750" dirty="0"/>
          </a:p>
          <a:p>
            <a:pPr marL="0" indent="0" algn="l">
              <a:lnSpc>
                <a:spcPct val="123000"/>
              </a:lnSpc>
              <a:buNone/>
            </a:pPr>
            <a:r>
              <a:rPr lang="en-US" sz="750" dirty="0">
                <a:solidFill>
                  <a:srgbClr val="3C3939"/>
                </a:solidFill>
                <a:latin typeface="Roboto" pitchFamily="34" charset="0"/>
                <a:ea typeface="Roboto" pitchFamily="34" charset="-122"/>
                <a:cs typeface="Roboto" pitchFamily="34" charset="-120"/>
              </a:rPr>
              <a:t>It achieved </a:t>
            </a:r>
            <a:r>
              <a:rPr lang="en-US" sz="750" b="1" dirty="0">
                <a:solidFill>
                  <a:srgbClr val="3C3939"/>
                </a:solidFill>
                <a:latin typeface="Roboto" pitchFamily="34" charset="0"/>
                <a:ea typeface="Roboto" pitchFamily="34" charset="-122"/>
                <a:cs typeface="Roboto" pitchFamily="34" charset="-120"/>
              </a:rPr>
              <a:t>3.64 m MAE</a:t>
            </a:r>
            <a:r>
              <a:rPr lang="en-US" sz="750" dirty="0">
                <a:solidFill>
                  <a:srgbClr val="3C3939"/>
                </a:solidFill>
                <a:latin typeface="Roboto" pitchFamily="34" charset="0"/>
                <a:ea typeface="Roboto" pitchFamily="34" charset="-122"/>
                <a:cs typeface="Roboto" pitchFamily="34" charset="-120"/>
              </a:rPr>
              <a:t> on test.</a:t>
            </a:r>
            <a:endParaRPr lang="en-US" sz="750" dirty="0"/>
          </a:p>
        </p:txBody>
      </p:sp>
      <p:sp>
        <p:nvSpPr>
          <p:cNvPr id="11" name="Shape 9"/>
          <p:cNvSpPr/>
          <p:nvPr/>
        </p:nvSpPr>
        <p:spPr>
          <a:xfrm>
            <a:off x="500881" y="3417615"/>
            <a:ext cx="8142238" cy="1266751"/>
          </a:xfrm>
          <a:prstGeom prst="rect">
            <a:avLst/>
          </a:prstGeom>
          <a:solidFill>
            <a:srgbClr val="E1E1EA"/>
          </a:solidFill>
          <a:ln/>
        </p:spPr>
        <p:txBody>
          <a:bodyPr/>
          <a:lstStyle/>
          <a:p>
            <a:endParaRPr lang="en-IN"/>
          </a:p>
        </p:txBody>
      </p:sp>
      <p:sp>
        <p:nvSpPr>
          <p:cNvPr id="12" name="Shape 10"/>
          <p:cNvSpPr/>
          <p:nvPr/>
        </p:nvSpPr>
        <p:spPr>
          <a:xfrm>
            <a:off x="500881" y="3417615"/>
            <a:ext cx="8142238" cy="14288"/>
          </a:xfrm>
          <a:prstGeom prst="roundRect">
            <a:avLst>
              <a:gd name="adj" fmla="val 351616"/>
            </a:avLst>
          </a:prstGeom>
          <a:solidFill>
            <a:srgbClr val="C7C7D0"/>
          </a:solidFill>
          <a:ln/>
        </p:spPr>
        <p:txBody>
          <a:bodyPr/>
          <a:lstStyle/>
          <a:p>
            <a:endParaRPr lang="en-IN"/>
          </a:p>
        </p:txBody>
      </p:sp>
      <p:sp>
        <p:nvSpPr>
          <p:cNvPr id="13" name="Text 11"/>
          <p:cNvSpPr/>
          <p:nvPr/>
        </p:nvSpPr>
        <p:spPr>
          <a:xfrm>
            <a:off x="620464" y="3537198"/>
            <a:ext cx="2684264" cy="186854"/>
          </a:xfrm>
          <a:prstGeom prst="rect">
            <a:avLst/>
          </a:prstGeom>
          <a:noFill/>
          <a:ln/>
        </p:spPr>
        <p:txBody>
          <a:bodyPr wrap="none" lIns="0" tIns="0" rIns="0" bIns="0" rtlCol="0" anchor="t"/>
          <a:lstStyle/>
          <a:p>
            <a:pPr marL="0" indent="0" algn="l">
              <a:lnSpc>
                <a:spcPct val="104000"/>
              </a:lnSpc>
              <a:buNone/>
            </a:pPr>
            <a:r>
              <a:rPr lang="en-US" sz="1150" dirty="0">
                <a:solidFill>
                  <a:srgbClr val="3C3939"/>
                </a:solidFill>
                <a:latin typeface="Raleway" pitchFamily="34" charset="0"/>
                <a:ea typeface="Raleway" pitchFamily="34" charset="-122"/>
                <a:cs typeface="Raleway" pitchFamily="34" charset="-120"/>
              </a:rPr>
              <a:t>Model 4 — Neural EKF (learned α-gate)</a:t>
            </a:r>
            <a:endParaRPr lang="en-US" sz="1150" dirty="0"/>
          </a:p>
        </p:txBody>
      </p:sp>
      <p:sp>
        <p:nvSpPr>
          <p:cNvPr id="14" name="Text 12"/>
          <p:cNvSpPr/>
          <p:nvPr/>
        </p:nvSpPr>
        <p:spPr>
          <a:xfrm>
            <a:off x="620464" y="3784550"/>
            <a:ext cx="7903071" cy="780231"/>
          </a:xfrm>
          <a:prstGeom prst="rect">
            <a:avLst/>
          </a:prstGeom>
          <a:noFill/>
          <a:ln/>
        </p:spPr>
        <p:txBody>
          <a:bodyPr wrap="square" lIns="0" tIns="0" rIns="0" bIns="0" rtlCol="0" anchor="t">
            <a:normAutofit lnSpcReduction="10000"/>
          </a:bodyPr>
          <a:lstStyle/>
          <a:p>
            <a:pPr marL="0" indent="0" algn="l">
              <a:lnSpc>
                <a:spcPct val="123000"/>
              </a:lnSpc>
              <a:buNone/>
            </a:pPr>
            <a:r>
              <a:rPr lang="en-US" sz="750" dirty="0">
                <a:solidFill>
                  <a:srgbClr val="3C3939"/>
                </a:solidFill>
                <a:latin typeface="Roboto" pitchFamily="34" charset="0"/>
                <a:ea typeface="Roboto" pitchFamily="34" charset="-122"/>
                <a:cs typeface="Roboto" pitchFamily="34" charset="-120"/>
              </a:rPr>
              <a:t>Implemented in </a:t>
            </a:r>
            <a:r>
              <a:rPr lang="en-US" sz="750" dirty="0">
                <a:solidFill>
                  <a:srgbClr val="3C3939"/>
                </a:solidFill>
                <a:highlight>
                  <a:srgbClr val="F2F2F2"/>
                </a:highlight>
                <a:latin typeface="Consolas" pitchFamily="34" charset="0"/>
                <a:ea typeface="Consolas" pitchFamily="34" charset="-122"/>
                <a:cs typeface="Consolas" pitchFamily="34" charset="-120"/>
              </a:rPr>
              <a:t>train_ekf_fusion.py</a:t>
            </a:r>
            <a:r>
              <a:rPr lang="en-US" sz="750" dirty="0">
                <a:solidFill>
                  <a:srgbClr val="3C3939"/>
                </a:solidFill>
                <a:latin typeface="Roboto" pitchFamily="34" charset="0"/>
                <a:ea typeface="Roboto" pitchFamily="34" charset="-122"/>
                <a:cs typeface="Roboto" pitchFamily="34" charset="-120"/>
              </a:rPr>
              <a:t>. This model used a three-stage fusion design. First, a spatial anchor branch combined WiFi and magnetic-field MLPs to produce a per-frame spatial estimate </a:t>
            </a:r>
            <a:r>
              <a:rPr lang="en-US" sz="750" i="1" dirty="0">
                <a:solidFill>
                  <a:srgbClr val="3C3939"/>
                </a:solidFill>
                <a:latin typeface="Roboto" pitchFamily="34" charset="0"/>
                <a:ea typeface="Roboto" pitchFamily="34" charset="-122"/>
                <a:cs typeface="Roboto" pitchFamily="34" charset="-120"/>
              </a:rPr>
              <a:t>P_{spatial}</a:t>
            </a:r>
            <a:r>
              <a:rPr lang="en-US" sz="750" dirty="0">
                <a:solidFill>
                  <a:srgbClr val="3C3939"/>
                </a:solidFill>
                <a:latin typeface="Roboto" pitchFamily="34" charset="0"/>
                <a:ea typeface="Roboto" pitchFamily="34" charset="-122"/>
                <a:cs typeface="Roboto" pitchFamily="34" charset="-120"/>
              </a:rPr>
              <a:t>. Second, a motion tracker built from </a:t>
            </a:r>
            <a:r>
              <a:rPr lang="en-US" sz="750" dirty="0">
                <a:solidFill>
                  <a:srgbClr val="3C3939"/>
                </a:solidFill>
                <a:highlight>
                  <a:srgbClr val="F2F2F2"/>
                </a:highlight>
                <a:latin typeface="Consolas" pitchFamily="34" charset="0"/>
                <a:ea typeface="Consolas" pitchFamily="34" charset="-122"/>
                <a:cs typeface="Consolas" pitchFamily="34" charset="-120"/>
              </a:rPr>
              <a:t>CausalConv</a:t>
            </a:r>
            <a:r>
              <a:rPr lang="en-US" sz="750" dirty="0">
                <a:solidFill>
                  <a:srgbClr val="3C3939"/>
                </a:solidFill>
                <a:latin typeface="Roboto" pitchFamily="34" charset="0"/>
                <a:ea typeface="Roboto" pitchFamily="34" charset="-122"/>
                <a:cs typeface="Roboto" pitchFamily="34" charset="-120"/>
              </a:rPr>
              <a:t> plus a unidirectional LSTM predicted motion deltas. Third, a learned Kalman-gain-like </a:t>
            </a:r>
            <a:r>
              <a:rPr lang="en-US" sz="750" i="1" dirty="0">
                <a:solidFill>
                  <a:srgbClr val="3C3939"/>
                </a:solidFill>
                <a:latin typeface="Roboto" pitchFamily="34" charset="0"/>
                <a:ea typeface="Roboto" pitchFamily="34" charset="-122"/>
                <a:cs typeface="Roboto" pitchFamily="34" charset="-120"/>
              </a:rPr>
              <a:t>\alpha</a:t>
            </a:r>
            <a:r>
              <a:rPr lang="en-US" sz="750" dirty="0">
                <a:solidFill>
                  <a:srgbClr val="3C3939"/>
                </a:solidFill>
                <a:latin typeface="Roboto" pitchFamily="34" charset="0"/>
                <a:ea typeface="Roboto" pitchFamily="34" charset="-122"/>
                <a:cs typeface="Roboto" pitchFamily="34" charset="-120"/>
              </a:rPr>
              <a:t> gate blended the two signals dynamically through a sigmoid. The training objective was a composite loss with weights </a:t>
            </a:r>
            <a:r>
              <a:rPr lang="en-US" sz="750" dirty="0">
                <a:solidFill>
                  <a:srgbClr val="3C3939"/>
                </a:solidFill>
                <a:highlight>
                  <a:srgbClr val="F2F2F2"/>
                </a:highlight>
                <a:latin typeface="Consolas" pitchFamily="34" charset="0"/>
                <a:ea typeface="Consolas" pitchFamily="34" charset="-122"/>
                <a:cs typeface="Consolas" pitchFamily="34" charset="-120"/>
              </a:rPr>
              <a:t>1.0</a:t>
            </a:r>
            <a:r>
              <a:rPr lang="en-US" sz="750" dirty="0">
                <a:solidFill>
                  <a:srgbClr val="3C3939"/>
                </a:solidFill>
                <a:latin typeface="Roboto" pitchFamily="34" charset="0"/>
                <a:ea typeface="Roboto" pitchFamily="34" charset="-122"/>
                <a:cs typeface="Roboto" pitchFamily="34" charset="-120"/>
              </a:rPr>
              <a:t> on the final output, </a:t>
            </a:r>
            <a:r>
              <a:rPr lang="en-US" sz="750" dirty="0">
                <a:solidFill>
                  <a:srgbClr val="3C3939"/>
                </a:solidFill>
                <a:highlight>
                  <a:srgbClr val="F2F2F2"/>
                </a:highlight>
                <a:latin typeface="Consolas" pitchFamily="34" charset="0"/>
                <a:ea typeface="Consolas" pitchFamily="34" charset="-122"/>
                <a:cs typeface="Consolas" pitchFamily="34" charset="-120"/>
              </a:rPr>
              <a:t>0.2</a:t>
            </a:r>
            <a:r>
              <a:rPr lang="en-US" sz="750" dirty="0">
                <a:solidFill>
                  <a:srgbClr val="3C3939"/>
                </a:solidFill>
                <a:latin typeface="Roboto" pitchFamily="34" charset="0"/>
                <a:ea typeface="Roboto" pitchFamily="34" charset="-122"/>
                <a:cs typeface="Roboto" pitchFamily="34" charset="-120"/>
              </a:rPr>
              <a:t> on the spatial branch, and </a:t>
            </a:r>
            <a:r>
              <a:rPr lang="en-US" sz="750" dirty="0">
                <a:solidFill>
                  <a:srgbClr val="3C3939"/>
                </a:solidFill>
                <a:highlight>
                  <a:srgbClr val="F2F2F2"/>
                </a:highlight>
                <a:latin typeface="Consolas" pitchFamily="34" charset="0"/>
                <a:ea typeface="Consolas" pitchFamily="34" charset="-122"/>
                <a:cs typeface="Consolas" pitchFamily="34" charset="-120"/>
              </a:rPr>
              <a:t>2.0</a:t>
            </a:r>
            <a:r>
              <a:rPr lang="en-US" sz="750" dirty="0">
                <a:solidFill>
                  <a:srgbClr val="3C3939"/>
                </a:solidFill>
                <a:latin typeface="Roboto" pitchFamily="34" charset="0"/>
                <a:ea typeface="Roboto" pitchFamily="34" charset="-122"/>
                <a:cs typeface="Roboto" pitchFamily="34" charset="-120"/>
              </a:rPr>
              <a:t> on the motion branch, encouraging both stable absolute anchors and accurate motion tracking. At inference time, the fusion was auto-regressive: </a:t>
            </a:r>
            <a:r>
              <a:rPr lang="en-US" sz="750" i="1" dirty="0">
                <a:solidFill>
                  <a:srgbClr val="3C3939"/>
                </a:solidFill>
                <a:latin typeface="Roboto" pitchFamily="34" charset="0"/>
                <a:ea typeface="Roboto" pitchFamily="34" charset="-122"/>
                <a:cs typeface="Roboto" pitchFamily="34" charset="-120"/>
              </a:rPr>
              <a:t>P_{final}[t] = \alpha[t] \cdot P_{spatial}[t] + (1 - \alpha[t]) \cdot (P_{final}[t-1] + \delta[t])</a:t>
            </a:r>
            <a:r>
              <a:rPr lang="en-US" sz="750" dirty="0">
                <a:solidFill>
                  <a:srgbClr val="3C3939"/>
                </a:solidFill>
                <a:latin typeface="Roboto" pitchFamily="34" charset="0"/>
                <a:ea typeface="Roboto" pitchFamily="34" charset="-122"/>
                <a:cs typeface="Roboto" pitchFamily="34" charset="-120"/>
              </a:rPr>
              <a:t>. </a:t>
            </a:r>
            <a:endParaRPr lang="en-US" sz="750" dirty="0"/>
          </a:p>
          <a:p>
            <a:pPr marL="0" indent="0" algn="l">
              <a:lnSpc>
                <a:spcPct val="123000"/>
              </a:lnSpc>
              <a:buNone/>
            </a:pPr>
            <a:r>
              <a:rPr lang="en-US" sz="750" dirty="0">
                <a:solidFill>
                  <a:srgbClr val="3C3939"/>
                </a:solidFill>
                <a:latin typeface="Roboto" pitchFamily="34" charset="0"/>
                <a:ea typeface="Roboto" pitchFamily="34" charset="-122"/>
                <a:cs typeface="Roboto" pitchFamily="34" charset="-120"/>
              </a:rPr>
              <a:t>This model reported </a:t>
            </a:r>
            <a:r>
              <a:rPr lang="en-US" sz="750" b="1" dirty="0">
                <a:solidFill>
                  <a:srgbClr val="3C3939"/>
                </a:solidFill>
                <a:latin typeface="Roboto" pitchFamily="34" charset="0"/>
                <a:ea typeface="Roboto" pitchFamily="34" charset="-122"/>
                <a:cs typeface="Roboto" pitchFamily="34" charset="-120"/>
              </a:rPr>
              <a:t>4.29 m MAE</a:t>
            </a:r>
            <a:r>
              <a:rPr lang="en-US" sz="750" dirty="0">
                <a:solidFill>
                  <a:srgbClr val="3C3939"/>
                </a:solidFill>
                <a:latin typeface="Roboto" pitchFamily="34" charset="0"/>
                <a:ea typeface="Roboto" pitchFamily="34" charset="-122"/>
                <a:cs typeface="Roboto" pitchFamily="34" charset="-120"/>
              </a:rPr>
              <a:t>, and the average </a:t>
            </a:r>
            <a:r>
              <a:rPr lang="en-US" sz="750" i="1" dirty="0">
                <a:solidFill>
                  <a:srgbClr val="3C3939"/>
                </a:solidFill>
                <a:latin typeface="Roboto" pitchFamily="34" charset="0"/>
                <a:ea typeface="Roboto" pitchFamily="34" charset="-122"/>
                <a:cs typeface="Roboto" pitchFamily="34" charset="-120"/>
              </a:rPr>
              <a:t>\alpha</a:t>
            </a:r>
            <a:r>
              <a:rPr lang="en-US" sz="750" dirty="0">
                <a:solidFill>
                  <a:srgbClr val="3C3939"/>
                </a:solidFill>
                <a:latin typeface="Roboto" pitchFamily="34" charset="0"/>
                <a:ea typeface="Roboto" pitchFamily="34" charset="-122"/>
                <a:cs typeface="Roboto" pitchFamily="34" charset="-120"/>
              </a:rPr>
              <a:t> of about </a:t>
            </a:r>
            <a:r>
              <a:rPr lang="en-US" sz="750" b="1" dirty="0">
                <a:solidFill>
                  <a:srgbClr val="3C3939"/>
                </a:solidFill>
                <a:latin typeface="Roboto" pitchFamily="34" charset="0"/>
                <a:ea typeface="Roboto" pitchFamily="34" charset="-122"/>
                <a:cs typeface="Roboto" pitchFamily="34" charset="-120"/>
              </a:rPr>
              <a:t>0.6</a:t>
            </a:r>
            <a:r>
              <a:rPr lang="en-US" sz="750" dirty="0">
                <a:solidFill>
                  <a:srgbClr val="3C3939"/>
                </a:solidFill>
                <a:latin typeface="Roboto" pitchFamily="34" charset="0"/>
                <a:ea typeface="Roboto" pitchFamily="34" charset="-122"/>
                <a:cs typeface="Roboto" pitchFamily="34" charset="-120"/>
              </a:rPr>
              <a:t> suggests it slightly preferred the spatial anchor over motion estimate.</a:t>
            </a:r>
            <a:endParaRPr lang="en-US" sz="750" dirty="0"/>
          </a:p>
        </p:txBody>
      </p:sp>
      <mc:AlternateContent xmlns:mc="http://schemas.openxmlformats.org/markup-compatibility/2006">
        <mc:Choice xmlns:p14="http://schemas.microsoft.com/office/powerpoint/2010/main" Requires="p14">
          <p:contentPart p14:bwMode="auto" r:id="rId3">
            <p14:nvContentPartPr>
              <p14:cNvPr id="15" name="Ink 14">
                <a:extLst>
                  <a:ext uri="{FF2B5EF4-FFF2-40B4-BE49-F238E27FC236}">
                    <a16:creationId xmlns:a16="http://schemas.microsoft.com/office/drawing/2014/main" id="{78B63D85-BCA0-254A-DFEF-C5FEF3FEBCFD}"/>
                  </a:ext>
                </a:extLst>
              </p14:cNvPr>
              <p14:cNvContentPartPr/>
              <p14:nvPr/>
            </p14:nvContentPartPr>
            <p14:xfrm>
              <a:off x="7736650" y="4875398"/>
              <a:ext cx="738360" cy="73080"/>
            </p14:xfrm>
          </p:contentPart>
        </mc:Choice>
        <mc:Fallback>
          <p:pic>
            <p:nvPicPr>
              <p:cNvPr id="15" name="Ink 14">
                <a:extLst>
                  <a:ext uri="{FF2B5EF4-FFF2-40B4-BE49-F238E27FC236}">
                    <a16:creationId xmlns:a16="http://schemas.microsoft.com/office/drawing/2014/main" id="{78B63D85-BCA0-254A-DFEF-C5FEF3FEBCFD}"/>
                  </a:ext>
                </a:extLst>
              </p:cNvPr>
              <p:cNvPicPr/>
              <p:nvPr/>
            </p:nvPicPr>
            <p:blipFill>
              <a:blip r:embed="rId4"/>
              <a:stretch>
                <a:fillRect/>
              </a:stretch>
            </p:blipFill>
            <p:spPr>
              <a:xfrm>
                <a:off x="7682650" y="4767758"/>
                <a:ext cx="846000" cy="28872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16" name="Ink 15">
                <a:extLst>
                  <a:ext uri="{FF2B5EF4-FFF2-40B4-BE49-F238E27FC236}">
                    <a16:creationId xmlns:a16="http://schemas.microsoft.com/office/drawing/2014/main" id="{2817C1DD-D62D-05B1-3F70-C84E7AF39B06}"/>
                  </a:ext>
                </a:extLst>
              </p14:cNvPr>
              <p14:cNvContentPartPr/>
              <p14:nvPr/>
            </p14:nvContentPartPr>
            <p14:xfrm>
              <a:off x="8475730" y="4895929"/>
              <a:ext cx="398520" cy="71280"/>
            </p14:xfrm>
          </p:contentPart>
        </mc:Choice>
        <mc:Fallback>
          <p:pic>
            <p:nvPicPr>
              <p:cNvPr id="16" name="Ink 15">
                <a:extLst>
                  <a:ext uri="{FF2B5EF4-FFF2-40B4-BE49-F238E27FC236}">
                    <a16:creationId xmlns:a16="http://schemas.microsoft.com/office/drawing/2014/main" id="{2817C1DD-D62D-05B1-3F70-C84E7AF39B06}"/>
                  </a:ext>
                </a:extLst>
              </p:cNvPr>
              <p:cNvPicPr/>
              <p:nvPr/>
            </p:nvPicPr>
            <p:blipFill>
              <a:blip r:embed="rId6"/>
              <a:stretch>
                <a:fillRect/>
              </a:stretch>
            </p:blipFill>
            <p:spPr>
              <a:xfrm>
                <a:off x="8422090" y="4788289"/>
                <a:ext cx="506160" cy="28692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17" name="Ink 16">
                <a:extLst>
                  <a:ext uri="{FF2B5EF4-FFF2-40B4-BE49-F238E27FC236}">
                    <a16:creationId xmlns:a16="http://schemas.microsoft.com/office/drawing/2014/main" id="{01B037B0-0F9E-DB7E-9C89-1737C542D312}"/>
                  </a:ext>
                </a:extLst>
              </p14:cNvPr>
              <p14:cNvContentPartPr/>
              <p14:nvPr/>
            </p14:nvContentPartPr>
            <p14:xfrm>
              <a:off x="7652770" y="4291849"/>
              <a:ext cx="1069920" cy="675720"/>
            </p14:xfrm>
          </p:contentPart>
        </mc:Choice>
        <mc:Fallback>
          <p:pic>
            <p:nvPicPr>
              <p:cNvPr id="17" name="Ink 16">
                <a:extLst>
                  <a:ext uri="{FF2B5EF4-FFF2-40B4-BE49-F238E27FC236}">
                    <a16:creationId xmlns:a16="http://schemas.microsoft.com/office/drawing/2014/main" id="{01B037B0-0F9E-DB7E-9C89-1737C542D312}"/>
                  </a:ext>
                </a:extLst>
              </p:cNvPr>
              <p:cNvPicPr/>
              <p:nvPr/>
            </p:nvPicPr>
            <p:blipFill>
              <a:blip r:embed="rId8"/>
              <a:stretch>
                <a:fillRect/>
              </a:stretch>
            </p:blipFill>
            <p:spPr>
              <a:xfrm>
                <a:off x="7598770" y="4184209"/>
                <a:ext cx="1177560" cy="89136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18" name="Ink 17">
                <a:extLst>
                  <a:ext uri="{FF2B5EF4-FFF2-40B4-BE49-F238E27FC236}">
                    <a16:creationId xmlns:a16="http://schemas.microsoft.com/office/drawing/2014/main" id="{F96ED4E4-E232-7C5E-1108-4163C07F9531}"/>
                  </a:ext>
                </a:extLst>
              </p14:cNvPr>
              <p14:cNvContentPartPr/>
              <p14:nvPr/>
            </p14:nvContentPartPr>
            <p14:xfrm>
              <a:off x="8021050" y="4853449"/>
              <a:ext cx="1022760" cy="199080"/>
            </p14:xfrm>
          </p:contentPart>
        </mc:Choice>
        <mc:Fallback>
          <p:pic>
            <p:nvPicPr>
              <p:cNvPr id="18" name="Ink 17">
                <a:extLst>
                  <a:ext uri="{FF2B5EF4-FFF2-40B4-BE49-F238E27FC236}">
                    <a16:creationId xmlns:a16="http://schemas.microsoft.com/office/drawing/2014/main" id="{F96ED4E4-E232-7C5E-1108-4163C07F9531}"/>
                  </a:ext>
                </a:extLst>
              </p:cNvPr>
              <p:cNvPicPr/>
              <p:nvPr/>
            </p:nvPicPr>
            <p:blipFill>
              <a:blip r:embed="rId10"/>
              <a:stretch>
                <a:fillRect/>
              </a:stretch>
            </p:blipFill>
            <p:spPr>
              <a:xfrm>
                <a:off x="7958410" y="4790809"/>
                <a:ext cx="1148400" cy="324720"/>
              </a:xfrm>
              <a:prstGeom prst="rect">
                <a:avLst/>
              </a:prstGeom>
            </p:spPr>
          </p:pic>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903759" y="452140"/>
            <a:ext cx="3958530" cy="265807"/>
          </a:xfrm>
          <a:prstGeom prst="rect">
            <a:avLst/>
          </a:prstGeom>
          <a:noFill/>
          <a:ln/>
        </p:spPr>
        <p:txBody>
          <a:bodyPr wrap="none" lIns="0" tIns="0" rIns="0" bIns="0" rtlCol="0" anchor="t"/>
          <a:lstStyle/>
          <a:p>
            <a:pPr marL="0" indent="0" algn="l">
              <a:lnSpc>
                <a:spcPct val="104000"/>
              </a:lnSpc>
              <a:buNone/>
            </a:pPr>
            <a:r>
              <a:rPr lang="en-US" sz="1650" dirty="0">
                <a:solidFill>
                  <a:srgbClr val="1B1B27"/>
                </a:solidFill>
                <a:latin typeface="Raleway" pitchFamily="34" charset="0"/>
                <a:ea typeface="Raleway" pitchFamily="34" charset="-122"/>
                <a:cs typeface="Raleway" pitchFamily="34" charset="-120"/>
              </a:rPr>
              <a:t>Why earlier results were misleading</a:t>
            </a:r>
            <a:endParaRPr lang="en-US" sz="1650" dirty="0"/>
          </a:p>
        </p:txBody>
      </p:sp>
      <p:sp>
        <p:nvSpPr>
          <p:cNvPr id="3" name="Shape 1"/>
          <p:cNvSpPr/>
          <p:nvPr/>
        </p:nvSpPr>
        <p:spPr>
          <a:xfrm>
            <a:off x="903759" y="933896"/>
            <a:ext cx="53132" cy="53132"/>
          </a:xfrm>
          <a:prstGeom prst="roundRect">
            <a:avLst>
              <a:gd name="adj" fmla="val 537811"/>
            </a:avLst>
          </a:prstGeom>
          <a:solidFill>
            <a:srgbClr val="1B1B27"/>
          </a:solidFill>
          <a:ln/>
        </p:spPr>
        <p:txBody>
          <a:bodyPr/>
          <a:lstStyle/>
          <a:p>
            <a:endParaRPr lang="en-IN"/>
          </a:p>
        </p:txBody>
      </p:sp>
      <p:sp>
        <p:nvSpPr>
          <p:cNvPr id="4" name="Text 2"/>
          <p:cNvSpPr/>
          <p:nvPr/>
        </p:nvSpPr>
        <p:spPr>
          <a:xfrm>
            <a:off x="1036588" y="877416"/>
            <a:ext cx="1786458" cy="166092"/>
          </a:xfrm>
          <a:prstGeom prst="rect">
            <a:avLst/>
          </a:prstGeom>
          <a:noFill/>
          <a:ln/>
        </p:spPr>
        <p:txBody>
          <a:bodyPr wrap="none" lIns="0" tIns="0" rIns="0" bIns="0" rtlCol="0" anchor="t"/>
          <a:lstStyle/>
          <a:p>
            <a:pPr marL="0" indent="0" algn="l">
              <a:lnSpc>
                <a:spcPct val="104000"/>
              </a:lnSpc>
              <a:buNone/>
            </a:pPr>
            <a:r>
              <a:rPr lang="en-US" sz="1000" dirty="0">
                <a:solidFill>
                  <a:srgbClr val="3C3939"/>
                </a:solidFill>
                <a:latin typeface="Raleway" pitchFamily="34" charset="0"/>
                <a:ea typeface="Raleway" pitchFamily="34" charset="-122"/>
                <a:cs typeface="Raleway" pitchFamily="34" charset="-120"/>
              </a:rPr>
              <a:t>Single 1‑D path Training data </a:t>
            </a:r>
            <a:endParaRPr lang="en-US" sz="1000" dirty="0"/>
          </a:p>
        </p:txBody>
      </p:sp>
      <p:sp>
        <p:nvSpPr>
          <p:cNvPr id="5" name="Text 3"/>
          <p:cNvSpPr/>
          <p:nvPr/>
        </p:nvSpPr>
        <p:spPr>
          <a:xfrm>
            <a:off x="1036588" y="1091282"/>
            <a:ext cx="7203579" cy="357188"/>
          </a:xfrm>
          <a:prstGeom prst="rect">
            <a:avLst/>
          </a:prstGeom>
          <a:noFill/>
          <a:ln/>
        </p:spPr>
        <p:txBody>
          <a:bodyPr wrap="square" lIns="0" tIns="0" rIns="0" bIns="0" rtlCol="0" anchor="t">
            <a:normAutofit/>
          </a:bodyPr>
          <a:lstStyle/>
          <a:p>
            <a:pPr marL="0" indent="0" algn="l">
              <a:lnSpc>
                <a:spcPct val="117000"/>
              </a:lnSpc>
              <a:buNone/>
            </a:pPr>
            <a:r>
              <a:rPr lang="en-US" sz="650" dirty="0">
                <a:solidFill>
                  <a:srgbClr val="3C3939"/>
                </a:solidFill>
                <a:latin typeface="Roboto" pitchFamily="34" charset="0"/>
                <a:ea typeface="Roboto" pitchFamily="34" charset="-122"/>
                <a:cs typeface="Roboto" pitchFamily="34" charset="-120"/>
              </a:rPr>
              <a:t>All four </a:t>
            </a:r>
            <a:r>
              <a:rPr lang="en-US" sz="650" dirty="0">
                <a:solidFill>
                  <a:srgbClr val="3C3939"/>
                </a:solidFill>
                <a:highlight>
                  <a:srgbClr val="F2F2F2"/>
                </a:highlight>
                <a:latin typeface="Consolas" pitchFamily="34" charset="0"/>
                <a:ea typeface="Consolas" pitchFamily="34" charset="-122"/>
                <a:cs typeface="Consolas" pitchFamily="34" charset="-120"/>
              </a:rPr>
              <a:t>Continuous_Fused_*.csv</a:t>
            </a:r>
            <a:r>
              <a:rPr lang="en-US" sz="650" dirty="0">
                <a:solidFill>
                  <a:srgbClr val="3C3939"/>
                </a:solidFill>
                <a:latin typeface="Roboto" pitchFamily="34" charset="0"/>
                <a:ea typeface="Roboto" pitchFamily="34" charset="-122"/>
                <a:cs typeface="Roboto" pitchFamily="34" charset="-120"/>
              </a:rPr>
              <a:t> files trace the same corridor, with the same start point (≈</a:t>
            </a:r>
            <a:r>
              <a:rPr lang="en-US" sz="650" dirty="0">
                <a:solidFill>
                  <a:srgbClr val="3C3939"/>
                </a:solidFill>
                <a:highlight>
                  <a:srgbClr val="F2F2F2"/>
                </a:highlight>
                <a:latin typeface="Consolas" pitchFamily="34" charset="0"/>
                <a:ea typeface="Consolas" pitchFamily="34" charset="-122"/>
                <a:cs typeface="Consolas" pitchFamily="34" charset="-120"/>
              </a:rPr>
              <a:t>(90, 24)</a:t>
            </a:r>
            <a:r>
              <a:rPr lang="en-US" sz="650" dirty="0">
                <a:solidFill>
                  <a:srgbClr val="3C3939"/>
                </a:solidFill>
                <a:latin typeface="Roboto" pitchFamily="34" charset="0"/>
                <a:ea typeface="Roboto" pitchFamily="34" charset="-122"/>
                <a:cs typeface="Roboto" pitchFamily="34" charset="-120"/>
              </a:rPr>
              <a:t>) and the same end region, and only </a:t>
            </a:r>
            <a:r>
              <a:rPr lang="en-US" sz="650" b="1" dirty="0">
                <a:solidFill>
                  <a:srgbClr val="3C3939"/>
                </a:solidFill>
                <a:latin typeface="Roboto" pitchFamily="34" charset="0"/>
                <a:ea typeface="Roboto" pitchFamily="34" charset="-122"/>
                <a:cs typeface="Roboto" pitchFamily="34" charset="-120"/>
              </a:rPr>
              <a:t>2 turns</a:t>
            </a:r>
            <a:r>
              <a:rPr lang="en-US" sz="650" dirty="0">
                <a:solidFill>
                  <a:srgbClr val="3C3939"/>
                </a:solidFill>
                <a:latin typeface="Roboto" pitchFamily="34" charset="0"/>
                <a:ea typeface="Roboto" pitchFamily="34" charset="-122"/>
                <a:cs typeface="Roboto" pitchFamily="34" charset="-120"/>
              </a:rPr>
              <a:t> along the way, only about </a:t>
            </a:r>
            <a:r>
              <a:rPr lang="en-US" sz="650" b="1" dirty="0">
                <a:solidFill>
                  <a:srgbClr val="3C3939"/>
                </a:solidFill>
                <a:latin typeface="Roboto" pitchFamily="34" charset="0"/>
                <a:ea typeface="Roboto" pitchFamily="34" charset="-122"/>
                <a:cs typeface="Roboto" pitchFamily="34" charset="-120"/>
              </a:rPr>
              <a:t>325 training windows</a:t>
            </a:r>
            <a:r>
              <a:rPr lang="en-US" sz="650" dirty="0">
                <a:solidFill>
                  <a:srgbClr val="3C3939"/>
                </a:solidFill>
                <a:latin typeface="Roboto" pitchFamily="34" charset="0"/>
                <a:ea typeface="Roboto" pitchFamily="34" charset="-122"/>
                <a:cs typeface="Roboto" pitchFamily="34" charset="-120"/>
              </a:rPr>
              <a:t> and </a:t>
            </a:r>
            <a:r>
              <a:rPr lang="en-US" sz="650" b="1" dirty="0">
                <a:solidFill>
                  <a:srgbClr val="3C3939"/>
                </a:solidFill>
                <a:latin typeface="Roboto" pitchFamily="34" charset="0"/>
                <a:ea typeface="Roboto" pitchFamily="34" charset="-122"/>
                <a:cs typeface="Roboto" pitchFamily="34" charset="-120"/>
              </a:rPr>
              <a:t>99 test windows</a:t>
            </a:r>
            <a:r>
              <a:rPr lang="en-US" sz="650" dirty="0">
                <a:solidFill>
                  <a:srgbClr val="3C3939"/>
                </a:solidFill>
                <a:latin typeface="Roboto" pitchFamily="34" charset="0"/>
                <a:ea typeface="Roboto" pitchFamily="34" charset="-122"/>
                <a:cs typeface="Roboto" pitchFamily="34" charset="-120"/>
              </a:rPr>
              <a:t> — all drawn from one narrow line through a 2-D building. The models never saw a true 2-D sampling of the environment; they only saw a single trajectory repeated across files. That is why they do not learn a general fingerprint of space. </a:t>
            </a:r>
            <a:endParaRPr lang="en-US" sz="650" dirty="0"/>
          </a:p>
        </p:txBody>
      </p:sp>
      <p:sp>
        <p:nvSpPr>
          <p:cNvPr id="6" name="Shape 4"/>
          <p:cNvSpPr/>
          <p:nvPr/>
        </p:nvSpPr>
        <p:spPr>
          <a:xfrm>
            <a:off x="903759" y="1664419"/>
            <a:ext cx="53132" cy="53132"/>
          </a:xfrm>
          <a:prstGeom prst="roundRect">
            <a:avLst>
              <a:gd name="adj" fmla="val 537811"/>
            </a:avLst>
          </a:prstGeom>
          <a:solidFill>
            <a:srgbClr val="1B1B27"/>
          </a:solidFill>
          <a:ln/>
        </p:spPr>
        <p:txBody>
          <a:bodyPr/>
          <a:lstStyle/>
          <a:p>
            <a:endParaRPr lang="en-IN"/>
          </a:p>
        </p:txBody>
      </p:sp>
      <p:sp>
        <p:nvSpPr>
          <p:cNvPr id="7" name="Text 5"/>
          <p:cNvSpPr/>
          <p:nvPr/>
        </p:nvSpPr>
        <p:spPr>
          <a:xfrm>
            <a:off x="1036588" y="1607939"/>
            <a:ext cx="2619449" cy="166092"/>
          </a:xfrm>
          <a:prstGeom prst="rect">
            <a:avLst/>
          </a:prstGeom>
          <a:noFill/>
          <a:ln/>
        </p:spPr>
        <p:txBody>
          <a:bodyPr wrap="none" lIns="0" tIns="0" rIns="0" bIns="0" rtlCol="0" anchor="t"/>
          <a:lstStyle/>
          <a:p>
            <a:pPr marL="0" indent="0" algn="l">
              <a:lnSpc>
                <a:spcPct val="104000"/>
              </a:lnSpc>
              <a:buNone/>
            </a:pPr>
            <a:r>
              <a:rPr lang="en-US" sz="1000" dirty="0">
                <a:solidFill>
                  <a:srgbClr val="3C3939"/>
                </a:solidFill>
                <a:latin typeface="Raleway" pitchFamily="34" charset="0"/>
                <a:ea typeface="Raleway" pitchFamily="34" charset="-122"/>
                <a:cs typeface="Raleway" pitchFamily="34" charset="-120"/>
              </a:rPr>
              <a:t>2. Magnetometer was direction-dependent</a:t>
            </a:r>
            <a:endParaRPr lang="en-US" sz="1000" dirty="0"/>
          </a:p>
        </p:txBody>
      </p:sp>
      <p:sp>
        <p:nvSpPr>
          <p:cNvPr id="8" name="Text 6"/>
          <p:cNvSpPr/>
          <p:nvPr/>
        </p:nvSpPr>
        <p:spPr>
          <a:xfrm>
            <a:off x="1036588" y="1821805"/>
            <a:ext cx="7203579" cy="476250"/>
          </a:xfrm>
          <a:prstGeom prst="rect">
            <a:avLst/>
          </a:prstGeom>
          <a:noFill/>
          <a:ln/>
        </p:spPr>
        <p:txBody>
          <a:bodyPr wrap="square" lIns="0" tIns="0" rIns="0" bIns="0" rtlCol="0" anchor="t">
            <a:normAutofit/>
          </a:bodyPr>
          <a:lstStyle/>
          <a:p>
            <a:pPr marL="0" indent="0" algn="l">
              <a:lnSpc>
                <a:spcPct val="117000"/>
              </a:lnSpc>
              <a:buNone/>
            </a:pPr>
            <a:r>
              <a:rPr lang="en-US" sz="650" dirty="0">
                <a:solidFill>
                  <a:srgbClr val="3C3939"/>
                </a:solidFill>
                <a:latin typeface="Roboto" pitchFamily="34" charset="0"/>
                <a:ea typeface="Roboto" pitchFamily="34" charset="-122"/>
                <a:cs typeface="Roboto" pitchFamily="34" charset="-120"/>
              </a:rPr>
              <a:t>Raw </a:t>
            </a:r>
            <a:r>
              <a:rPr lang="en-US" sz="650" dirty="0">
                <a:solidFill>
                  <a:srgbClr val="3C3939"/>
                </a:solidFill>
                <a:highlight>
                  <a:srgbClr val="F2F2F2"/>
                </a:highlight>
                <a:latin typeface="Consolas" pitchFamily="34" charset="0"/>
                <a:ea typeface="Consolas" pitchFamily="34" charset="-122"/>
                <a:cs typeface="Consolas" pitchFamily="34" charset="-120"/>
              </a:rPr>
              <a:t>Mag_x</a:t>
            </a:r>
            <a:r>
              <a:rPr lang="en-US" sz="650" dirty="0">
                <a:solidFill>
                  <a:srgbClr val="3C3939"/>
                </a:solidFill>
                <a:latin typeface="Roboto" pitchFamily="34" charset="0"/>
                <a:ea typeface="Roboto" pitchFamily="34" charset="-122"/>
                <a:cs typeface="Roboto" pitchFamily="34" charset="-120"/>
              </a:rPr>
              <a:t>, </a:t>
            </a:r>
            <a:r>
              <a:rPr lang="en-US" sz="650" dirty="0">
                <a:solidFill>
                  <a:srgbClr val="3C3939"/>
                </a:solidFill>
                <a:highlight>
                  <a:srgbClr val="F2F2F2"/>
                </a:highlight>
                <a:latin typeface="Consolas" pitchFamily="34" charset="0"/>
                <a:ea typeface="Consolas" pitchFamily="34" charset="-122"/>
                <a:cs typeface="Consolas" pitchFamily="34" charset="-120"/>
              </a:rPr>
              <a:t>Mag_y</a:t>
            </a:r>
            <a:r>
              <a:rPr lang="en-US" sz="650" dirty="0">
                <a:solidFill>
                  <a:srgbClr val="3C3939"/>
                </a:solidFill>
                <a:latin typeface="Roboto" pitchFamily="34" charset="0"/>
                <a:ea typeface="Roboto" pitchFamily="34" charset="-122"/>
                <a:cs typeface="Roboto" pitchFamily="34" charset="-120"/>
              </a:rPr>
              <a:t>, and </a:t>
            </a:r>
            <a:r>
              <a:rPr lang="en-US" sz="650" dirty="0">
                <a:solidFill>
                  <a:srgbClr val="3C3939"/>
                </a:solidFill>
                <a:highlight>
                  <a:srgbClr val="F2F2F2"/>
                </a:highlight>
                <a:latin typeface="Consolas" pitchFamily="34" charset="0"/>
                <a:ea typeface="Consolas" pitchFamily="34" charset="-122"/>
                <a:cs typeface="Consolas" pitchFamily="34" charset="-120"/>
              </a:rPr>
              <a:t>Mag_z</a:t>
            </a:r>
            <a:r>
              <a:rPr lang="en-US" sz="650" dirty="0">
                <a:solidFill>
                  <a:srgbClr val="3C3939"/>
                </a:solidFill>
                <a:latin typeface="Roboto" pitchFamily="34" charset="0"/>
                <a:ea typeface="Roboto" pitchFamily="34" charset="-122"/>
                <a:cs typeface="Roboto" pitchFamily="34" charset="-120"/>
              </a:rPr>
              <a:t> are measured in the phone’s </a:t>
            </a:r>
            <a:r>
              <a:rPr lang="en-US" sz="650" b="1" dirty="0">
                <a:solidFill>
                  <a:srgbClr val="3C3939"/>
                </a:solidFill>
                <a:latin typeface="Roboto" pitchFamily="34" charset="0"/>
                <a:ea typeface="Roboto" pitchFamily="34" charset="-122"/>
                <a:cs typeface="Roboto" pitchFamily="34" charset="-120"/>
              </a:rPr>
              <a:t>body frame</a:t>
            </a:r>
            <a:r>
              <a:rPr lang="en-US" sz="650" dirty="0">
                <a:solidFill>
                  <a:srgbClr val="3C3939"/>
                </a:solidFill>
                <a:latin typeface="Roboto" pitchFamily="34" charset="0"/>
                <a:ea typeface="Roboto" pitchFamily="34" charset="-122"/>
                <a:cs typeface="Roboto" pitchFamily="34" charset="-120"/>
              </a:rPr>
              <a:t>, so they rotate whenever the user changes heading. The same physical spot therefore produces different axis values when walked in opposite directions, even though the location is identical. It was learning a </a:t>
            </a:r>
            <a:r>
              <a:rPr lang="en-US" sz="650" b="1" dirty="0">
                <a:solidFill>
                  <a:srgbClr val="3C3939"/>
                </a:solidFill>
                <a:latin typeface="Roboto" pitchFamily="34" charset="0"/>
                <a:ea typeface="Roboto" pitchFamily="34" charset="-122"/>
                <a:cs typeface="Roboto" pitchFamily="34" charset="-120"/>
              </a:rPr>
              <a:t>direction-dependent</a:t>
            </a:r>
            <a:r>
              <a:rPr lang="en-US" sz="650" dirty="0">
                <a:solidFill>
                  <a:srgbClr val="3C3939"/>
                </a:solidFill>
                <a:latin typeface="Roboto" pitchFamily="34" charset="0"/>
                <a:ea typeface="Roboto" pitchFamily="34" charset="-122"/>
                <a:cs typeface="Roboto" pitchFamily="34" charset="-120"/>
              </a:rPr>
              <a:t> signature . Model 3 (Environment Model), achieved </a:t>
            </a:r>
            <a:r>
              <a:rPr lang="en-US" sz="650" b="1" dirty="0">
                <a:solidFill>
                  <a:srgbClr val="3C3939"/>
                </a:solidFill>
                <a:latin typeface="Roboto" pitchFamily="34" charset="0"/>
                <a:ea typeface="Roboto" pitchFamily="34" charset="-122"/>
                <a:cs typeface="Roboto" pitchFamily="34" charset="-120"/>
              </a:rPr>
              <a:t>6.36 m MAE</a:t>
            </a:r>
            <a:r>
              <a:rPr lang="en-US" sz="650" dirty="0">
                <a:solidFill>
                  <a:srgbClr val="3C3939"/>
                </a:solidFill>
                <a:latin typeface="Roboto" pitchFamily="34" charset="0"/>
                <a:ea typeface="Roboto" pitchFamily="34" charset="-122"/>
                <a:cs typeface="Roboto" pitchFamily="34" charset="-120"/>
              </a:rPr>
              <a:t> on the forward path and collapsed to </a:t>
            </a:r>
            <a:r>
              <a:rPr lang="en-US" sz="650" b="1" dirty="0">
                <a:solidFill>
                  <a:srgbClr val="3C3939"/>
                </a:solidFill>
                <a:latin typeface="Roboto" pitchFamily="34" charset="0"/>
                <a:ea typeface="Roboto" pitchFamily="34" charset="-122"/>
                <a:cs typeface="Roboto" pitchFamily="34" charset="-120"/>
              </a:rPr>
              <a:t>63 m MAE</a:t>
            </a:r>
            <a:r>
              <a:rPr lang="en-US" sz="650" dirty="0">
                <a:solidFill>
                  <a:srgbClr val="3C3939"/>
                </a:solidFill>
                <a:latin typeface="Roboto" pitchFamily="34" charset="0"/>
                <a:ea typeface="Roboto" pitchFamily="34" charset="-122"/>
                <a:cs typeface="Roboto" pitchFamily="34" charset="-120"/>
              </a:rPr>
              <a:t> on the reversed path. The model had effectively learned a heading-conditioned shortcut, so when the travel direction flipped, the supposed fingerprint no longer matched.</a:t>
            </a:r>
            <a:endParaRPr lang="en-US" sz="650" dirty="0"/>
          </a:p>
        </p:txBody>
      </p:sp>
      <p:sp>
        <p:nvSpPr>
          <p:cNvPr id="9" name="Shape 7"/>
          <p:cNvSpPr/>
          <p:nvPr/>
        </p:nvSpPr>
        <p:spPr>
          <a:xfrm>
            <a:off x="903759" y="2514005"/>
            <a:ext cx="53132" cy="53132"/>
          </a:xfrm>
          <a:prstGeom prst="roundRect">
            <a:avLst>
              <a:gd name="adj" fmla="val 537811"/>
            </a:avLst>
          </a:prstGeom>
          <a:solidFill>
            <a:srgbClr val="1B1B27"/>
          </a:solidFill>
          <a:ln/>
        </p:spPr>
        <p:txBody>
          <a:bodyPr/>
          <a:lstStyle/>
          <a:p>
            <a:endParaRPr lang="en-IN"/>
          </a:p>
        </p:txBody>
      </p:sp>
      <p:sp>
        <p:nvSpPr>
          <p:cNvPr id="10" name="Text 8"/>
          <p:cNvSpPr/>
          <p:nvPr/>
        </p:nvSpPr>
        <p:spPr>
          <a:xfrm>
            <a:off x="1036588" y="2457524"/>
            <a:ext cx="2762250" cy="166092"/>
          </a:xfrm>
          <a:prstGeom prst="rect">
            <a:avLst/>
          </a:prstGeom>
          <a:noFill/>
          <a:ln/>
        </p:spPr>
        <p:txBody>
          <a:bodyPr wrap="none" lIns="0" tIns="0" rIns="0" bIns="0" rtlCol="0" anchor="t"/>
          <a:lstStyle/>
          <a:p>
            <a:pPr marL="0" indent="0" algn="l">
              <a:lnSpc>
                <a:spcPct val="104000"/>
              </a:lnSpc>
              <a:buNone/>
            </a:pPr>
            <a:r>
              <a:rPr lang="en-US" sz="1000" dirty="0">
                <a:solidFill>
                  <a:srgbClr val="3C3939"/>
                </a:solidFill>
                <a:latin typeface="Raleway" pitchFamily="34" charset="0"/>
                <a:ea typeface="Raleway" pitchFamily="34" charset="-122"/>
                <a:cs typeface="Raleway" pitchFamily="34" charset="-120"/>
              </a:rPr>
              <a:t>3. Single (X,Y) regression blurs multi-modality</a:t>
            </a:r>
            <a:endParaRPr lang="en-US" sz="1000" dirty="0"/>
          </a:p>
        </p:txBody>
      </p:sp>
      <p:sp>
        <p:nvSpPr>
          <p:cNvPr id="11" name="Text 9"/>
          <p:cNvSpPr/>
          <p:nvPr/>
        </p:nvSpPr>
        <p:spPr>
          <a:xfrm>
            <a:off x="1036588" y="2671390"/>
            <a:ext cx="7203579" cy="595313"/>
          </a:xfrm>
          <a:prstGeom prst="rect">
            <a:avLst/>
          </a:prstGeom>
          <a:noFill/>
          <a:ln/>
        </p:spPr>
        <p:txBody>
          <a:bodyPr wrap="square" lIns="0" tIns="0" rIns="0" bIns="0" rtlCol="0" anchor="t">
            <a:normAutofit/>
          </a:bodyPr>
          <a:lstStyle/>
          <a:p>
            <a:pPr marL="0" indent="0" algn="l">
              <a:lnSpc>
                <a:spcPct val="117000"/>
              </a:lnSpc>
              <a:buNone/>
            </a:pPr>
            <a:r>
              <a:rPr lang="en-US" sz="650" dirty="0">
                <a:solidFill>
                  <a:srgbClr val="3C3939"/>
                </a:solidFill>
                <a:latin typeface="Roboto" pitchFamily="34" charset="0"/>
                <a:ea typeface="Roboto" pitchFamily="34" charset="-122"/>
                <a:cs typeface="Roboto" pitchFamily="34" charset="-120"/>
              </a:rPr>
              <a:t>A single WiFi/magnetic fingerprint measurement can correspond to multiple points along the corridor because several places look similar in sensor space. But a regression model forced to emit only one </a:t>
            </a:r>
            <a:r>
              <a:rPr lang="en-US" sz="650" dirty="0">
                <a:solidFill>
                  <a:srgbClr val="3C3939"/>
                </a:solidFill>
                <a:highlight>
                  <a:srgbClr val="F2F2F2"/>
                </a:highlight>
                <a:latin typeface="Consolas" pitchFamily="34" charset="0"/>
                <a:ea typeface="Consolas" pitchFamily="34" charset="-122"/>
                <a:cs typeface="Consolas" pitchFamily="34" charset="-120"/>
              </a:rPr>
              <a:t>(X, Y)</a:t>
            </a:r>
            <a:r>
              <a:rPr lang="en-US" sz="650" dirty="0">
                <a:solidFill>
                  <a:srgbClr val="3C3939"/>
                </a:solidFill>
                <a:latin typeface="Roboto" pitchFamily="34" charset="0"/>
                <a:ea typeface="Roboto" pitchFamily="34" charset="-122"/>
                <a:cs typeface="Roboto" pitchFamily="34" charset="-120"/>
              </a:rPr>
              <a:t> cannot represent that ambiguity. Instead of saying “this reading matches locations </a:t>
            </a:r>
            <a:r>
              <a:rPr lang="en-US" sz="650" b="1" dirty="0">
                <a:solidFill>
                  <a:srgbClr val="3C3939"/>
                </a:solidFill>
                <a:latin typeface="Roboto" pitchFamily="34" charset="0"/>
                <a:ea typeface="Roboto" pitchFamily="34" charset="-122"/>
                <a:cs typeface="Roboto" pitchFamily="34" charset="-120"/>
              </a:rPr>
              <a:t>A</a:t>
            </a:r>
            <a:r>
              <a:rPr lang="en-US" sz="650" dirty="0">
                <a:solidFill>
                  <a:srgbClr val="3C3939"/>
                </a:solidFill>
                <a:latin typeface="Roboto" pitchFamily="34" charset="0"/>
                <a:ea typeface="Roboto" pitchFamily="34" charset="-122"/>
                <a:cs typeface="Roboto" pitchFamily="34" charset="-120"/>
              </a:rPr>
              <a:t>, </a:t>
            </a:r>
            <a:r>
              <a:rPr lang="en-US" sz="650" b="1" dirty="0">
                <a:solidFill>
                  <a:srgbClr val="3C3939"/>
                </a:solidFill>
                <a:latin typeface="Roboto" pitchFamily="34" charset="0"/>
                <a:ea typeface="Roboto" pitchFamily="34" charset="-122"/>
                <a:cs typeface="Roboto" pitchFamily="34" charset="-120"/>
              </a:rPr>
              <a:t>B</a:t>
            </a:r>
            <a:r>
              <a:rPr lang="en-US" sz="650" dirty="0">
                <a:solidFill>
                  <a:srgbClr val="3C3939"/>
                </a:solidFill>
                <a:latin typeface="Roboto" pitchFamily="34" charset="0"/>
                <a:ea typeface="Roboto" pitchFamily="34" charset="-122"/>
                <a:cs typeface="Roboto" pitchFamily="34" charset="-120"/>
              </a:rPr>
              <a:t>, and </a:t>
            </a:r>
            <a:r>
              <a:rPr lang="en-US" sz="650" b="1" dirty="0">
                <a:solidFill>
                  <a:srgbClr val="3C3939"/>
                </a:solidFill>
                <a:latin typeface="Roboto" pitchFamily="34" charset="0"/>
                <a:ea typeface="Roboto" pitchFamily="34" charset="-122"/>
                <a:cs typeface="Roboto" pitchFamily="34" charset="-120"/>
              </a:rPr>
              <a:t>C</a:t>
            </a:r>
            <a:r>
              <a:rPr lang="en-US" sz="650" dirty="0">
                <a:solidFill>
                  <a:srgbClr val="3C3939"/>
                </a:solidFill>
                <a:latin typeface="Roboto" pitchFamily="34" charset="0"/>
                <a:ea typeface="Roboto" pitchFamily="34" charset="-122"/>
                <a:cs typeface="Roboto" pitchFamily="34" charset="-120"/>
              </a:rPr>
              <a:t> with comparable likelihood,” the network must collapse everything into one coordinate, effectively predicting the </a:t>
            </a:r>
            <a:r>
              <a:rPr lang="en-US" sz="650" b="1" dirty="0">
                <a:solidFill>
                  <a:srgbClr val="3C3939"/>
                </a:solidFill>
                <a:latin typeface="Roboto" pitchFamily="34" charset="0"/>
                <a:ea typeface="Roboto" pitchFamily="34" charset="-122"/>
                <a:cs typeface="Roboto" pitchFamily="34" charset="-120"/>
              </a:rPr>
              <a:t>centroid</a:t>
            </a:r>
            <a:r>
              <a:rPr lang="en-US" sz="650" dirty="0">
                <a:solidFill>
                  <a:srgbClr val="3C3939"/>
                </a:solidFill>
                <a:latin typeface="Roboto" pitchFamily="34" charset="0"/>
                <a:ea typeface="Roboto" pitchFamily="34" charset="-122"/>
                <a:cs typeface="Roboto" pitchFamily="34" charset="-120"/>
              </a:rPr>
              <a:t> of the candidate set. That averaging blurs the true multi-modal structure of the problem and systematically pulls predictions toward the route center, where the competing hypotheses overlap most. So even when the signal is informative, the representation is wrong: the model is not estimating a distribution over possible locations, only a single point estimate. This is a fundamental limitation of the target formulation, not just a tuning issue.</a:t>
            </a:r>
            <a:endParaRPr lang="en-US" sz="650" dirty="0"/>
          </a:p>
        </p:txBody>
      </p:sp>
      <p:sp>
        <p:nvSpPr>
          <p:cNvPr id="12" name="Shape 10"/>
          <p:cNvSpPr/>
          <p:nvPr/>
        </p:nvSpPr>
        <p:spPr>
          <a:xfrm>
            <a:off x="903759" y="3482653"/>
            <a:ext cx="53132" cy="53132"/>
          </a:xfrm>
          <a:prstGeom prst="roundRect">
            <a:avLst>
              <a:gd name="adj" fmla="val 537811"/>
            </a:avLst>
          </a:prstGeom>
          <a:solidFill>
            <a:srgbClr val="1B1B27"/>
          </a:solidFill>
          <a:ln/>
        </p:spPr>
        <p:txBody>
          <a:bodyPr/>
          <a:lstStyle/>
          <a:p>
            <a:endParaRPr lang="en-IN"/>
          </a:p>
        </p:txBody>
      </p:sp>
      <p:sp>
        <p:nvSpPr>
          <p:cNvPr id="13" name="Text 11"/>
          <p:cNvSpPr/>
          <p:nvPr/>
        </p:nvSpPr>
        <p:spPr>
          <a:xfrm>
            <a:off x="1036588" y="3426172"/>
            <a:ext cx="1584052" cy="166092"/>
          </a:xfrm>
          <a:prstGeom prst="rect">
            <a:avLst/>
          </a:prstGeom>
          <a:noFill/>
          <a:ln/>
        </p:spPr>
        <p:txBody>
          <a:bodyPr wrap="none" lIns="0" tIns="0" rIns="0" bIns="0" rtlCol="0" anchor="t"/>
          <a:lstStyle/>
          <a:p>
            <a:pPr marL="0" indent="0" algn="l">
              <a:lnSpc>
                <a:spcPct val="104000"/>
              </a:lnSpc>
              <a:buNone/>
            </a:pPr>
            <a:r>
              <a:rPr lang="en-US" sz="1000" dirty="0">
                <a:solidFill>
                  <a:srgbClr val="3C3939"/>
                </a:solidFill>
                <a:latin typeface="Raleway" pitchFamily="34" charset="0"/>
                <a:ea typeface="Raleway" pitchFamily="34" charset="-122"/>
                <a:cs typeface="Raleway" pitchFamily="34" charset="-120"/>
              </a:rPr>
              <a:t>4. Fabricated ground truth</a:t>
            </a:r>
            <a:endParaRPr lang="en-US" sz="1000" dirty="0"/>
          </a:p>
        </p:txBody>
      </p:sp>
      <p:sp>
        <p:nvSpPr>
          <p:cNvPr id="14" name="Text 12"/>
          <p:cNvSpPr/>
          <p:nvPr/>
        </p:nvSpPr>
        <p:spPr>
          <a:xfrm>
            <a:off x="1036588" y="3640038"/>
            <a:ext cx="7203579" cy="1051322"/>
          </a:xfrm>
          <a:prstGeom prst="rect">
            <a:avLst/>
          </a:prstGeom>
          <a:noFill/>
          <a:ln/>
        </p:spPr>
        <p:txBody>
          <a:bodyPr wrap="square" lIns="0" tIns="0" rIns="0" bIns="0" rtlCol="0" anchor="t">
            <a:normAutofit/>
          </a:bodyPr>
          <a:lstStyle/>
          <a:p>
            <a:pPr marL="0" indent="0" algn="l">
              <a:lnSpc>
                <a:spcPct val="117000"/>
              </a:lnSpc>
              <a:buNone/>
            </a:pPr>
            <a:r>
              <a:rPr lang="en-US" sz="800" dirty="0">
                <a:solidFill>
                  <a:srgbClr val="3C3939"/>
                </a:solidFill>
                <a:latin typeface="Roboto" pitchFamily="34" charset="0"/>
                <a:ea typeface="Roboto" pitchFamily="34" charset="-122"/>
                <a:cs typeface="Roboto" pitchFamily="34" charset="-120"/>
              </a:rPr>
              <a:t>The </a:t>
            </a:r>
            <a:r>
              <a:rPr lang="en-US" sz="800" dirty="0">
                <a:solidFill>
                  <a:srgbClr val="3C3939"/>
                </a:solidFill>
                <a:highlight>
                  <a:srgbClr val="F2F2F2"/>
                </a:highlight>
                <a:latin typeface="Consolas" pitchFamily="34" charset="0"/>
                <a:ea typeface="Consolas" pitchFamily="34" charset="-122"/>
                <a:cs typeface="Consolas" pitchFamily="34" charset="-120"/>
              </a:rPr>
              <a:t>Continuous_Fused_*.csv</a:t>
            </a:r>
            <a:r>
              <a:rPr lang="en-US" sz="800" dirty="0">
                <a:solidFill>
                  <a:srgbClr val="3C3939"/>
                </a:solidFill>
                <a:latin typeface="Roboto" pitchFamily="34" charset="0"/>
                <a:ea typeface="Roboto" pitchFamily="34" charset="-122"/>
                <a:cs typeface="Roboto" pitchFamily="34" charset="-120"/>
              </a:rPr>
              <a:t> files were generated by </a:t>
            </a:r>
            <a:r>
              <a:rPr lang="en-US" sz="800" dirty="0">
                <a:solidFill>
                  <a:srgbClr val="3C3939"/>
                </a:solidFill>
                <a:highlight>
                  <a:srgbClr val="F2F2F2"/>
                </a:highlight>
                <a:latin typeface="Consolas" pitchFamily="34" charset="0"/>
                <a:ea typeface="Consolas" pitchFamily="34" charset="-122"/>
                <a:cs typeface="Consolas" pitchFamily="34" charset="-120"/>
              </a:rPr>
              <a:t>fuse_continuous_wifi.py</a:t>
            </a:r>
            <a:r>
              <a:rPr lang="en-US" sz="800" dirty="0">
                <a:solidFill>
                  <a:srgbClr val="3C3939"/>
                </a:solidFill>
                <a:latin typeface="Roboto" pitchFamily="34" charset="0"/>
                <a:ea typeface="Roboto" pitchFamily="34" charset="-122"/>
                <a:cs typeface="Roboto" pitchFamily="34" charset="-120"/>
              </a:rPr>
              <a:t>, which used </a:t>
            </a:r>
            <a:r>
              <a:rPr lang="en-US" sz="800" b="1" dirty="0">
                <a:solidFill>
                  <a:srgbClr val="3C3939"/>
                </a:solidFill>
                <a:latin typeface="Roboto" pitchFamily="34" charset="0"/>
                <a:ea typeface="Roboto" pitchFamily="34" charset="-122"/>
                <a:cs typeface="Roboto" pitchFamily="34" charset="-120"/>
              </a:rPr>
              <a:t>BE Building</a:t>
            </a:r>
            <a:r>
              <a:rPr lang="en-US" sz="800" dirty="0">
                <a:solidFill>
                  <a:srgbClr val="3C3939"/>
                </a:solidFill>
                <a:latin typeface="Roboto" pitchFamily="34" charset="0"/>
                <a:ea typeface="Roboto" pitchFamily="34" charset="-122"/>
                <a:cs typeface="Roboto" pitchFamily="34" charset="-120"/>
              </a:rPr>
              <a:t> coordinates rather than the IT Engineering layout, linearly interpolated </a:t>
            </a:r>
            <a:r>
              <a:rPr lang="en-US" sz="800" dirty="0">
                <a:solidFill>
                  <a:srgbClr val="3C3939"/>
                </a:solidFill>
                <a:highlight>
                  <a:srgbClr val="F2F2F2"/>
                </a:highlight>
                <a:latin typeface="Consolas" pitchFamily="34" charset="0"/>
                <a:ea typeface="Consolas" pitchFamily="34" charset="-122"/>
                <a:cs typeface="Consolas" pitchFamily="34" charset="-120"/>
              </a:rPr>
              <a:t>True_X</a:t>
            </a:r>
            <a:r>
              <a:rPr lang="en-US" sz="800" dirty="0">
                <a:solidFill>
                  <a:srgbClr val="3C3939"/>
                </a:solidFill>
                <a:latin typeface="Roboto" pitchFamily="34" charset="0"/>
                <a:ea typeface="Roboto" pitchFamily="34" charset="-122"/>
                <a:cs typeface="Roboto" pitchFamily="34" charset="-120"/>
              </a:rPr>
              <a:t>/</a:t>
            </a:r>
            <a:r>
              <a:rPr lang="en-US" sz="800" dirty="0">
                <a:solidFill>
                  <a:srgbClr val="3C3939"/>
                </a:solidFill>
                <a:highlight>
                  <a:srgbClr val="F2F2F2"/>
                </a:highlight>
                <a:latin typeface="Consolas" pitchFamily="34" charset="0"/>
                <a:ea typeface="Consolas" pitchFamily="34" charset="-122"/>
                <a:cs typeface="Consolas" pitchFamily="34" charset="-120"/>
              </a:rPr>
              <a:t>True_Y</a:t>
            </a:r>
            <a:r>
              <a:rPr lang="en-US" sz="800" dirty="0">
                <a:solidFill>
                  <a:srgbClr val="3C3939"/>
                </a:solidFill>
                <a:latin typeface="Roboto" pitchFamily="34" charset="0"/>
                <a:ea typeface="Roboto" pitchFamily="34" charset="-122"/>
                <a:cs typeface="Roboto" pitchFamily="34" charset="-120"/>
              </a:rPr>
              <a:t> by timestamp from the ordered static-node list, and simulated WiFi measurements by injecting Gaussian noise around the static node scans. That means the “ground truth” was not independently observed at all — it was constructed from the </a:t>
            </a:r>
            <a:r>
              <a:rPr lang="en-US" sz="800" b="1" dirty="0">
                <a:solidFill>
                  <a:srgbClr val="3C3939"/>
                </a:solidFill>
                <a:latin typeface="Roboto" pitchFamily="34" charset="0"/>
                <a:ea typeface="Roboto" pitchFamily="34" charset="-122"/>
                <a:cs typeface="Roboto" pitchFamily="34" charset="-120"/>
              </a:rPr>
              <a:t>ordering of static nodes mapped onto time</a:t>
            </a:r>
            <a:r>
              <a:rPr lang="en-US" sz="800" dirty="0">
                <a:solidFill>
                  <a:srgbClr val="3C3939"/>
                </a:solidFill>
                <a:latin typeface="Roboto" pitchFamily="34" charset="0"/>
                <a:ea typeface="Roboto" pitchFamily="34" charset="-122"/>
                <a:cs typeface="Roboto" pitchFamily="34" charset="-120"/>
              </a:rPr>
              <a:t>. In practice, the models were being scored against an invented path that had been synthesized from the same database used to generate the inputs. This is exactly why route memorization looked successful: the labels themselves formed a sequence, so a model that learned the sequence could appear accurate without ever solving real localization. The reported errors therefore reflected consistency with the fabricated trajectory, not validity against real-world ground truth.</a:t>
            </a:r>
            <a:endParaRPr lang="en-US" sz="800" dirty="0"/>
          </a:p>
        </p:txBody>
      </p:sp>
      <mc:AlternateContent xmlns:mc="http://schemas.openxmlformats.org/markup-compatibility/2006">
        <mc:Choice xmlns:p14="http://schemas.microsoft.com/office/powerpoint/2010/main" Requires="p14">
          <p:contentPart p14:bwMode="auto" r:id="rId3">
            <p14:nvContentPartPr>
              <p14:cNvPr id="15" name="Ink 14">
                <a:extLst>
                  <a:ext uri="{FF2B5EF4-FFF2-40B4-BE49-F238E27FC236}">
                    <a16:creationId xmlns:a16="http://schemas.microsoft.com/office/drawing/2014/main" id="{91468823-ABF6-4B49-0266-08DC986562D0}"/>
                  </a:ext>
                </a:extLst>
              </p14:cNvPr>
              <p14:cNvContentPartPr/>
              <p14:nvPr/>
            </p14:nvContentPartPr>
            <p14:xfrm>
              <a:off x="7736650" y="4875398"/>
              <a:ext cx="738360" cy="73080"/>
            </p14:xfrm>
          </p:contentPart>
        </mc:Choice>
        <mc:Fallback>
          <p:pic>
            <p:nvPicPr>
              <p:cNvPr id="15" name="Ink 14">
                <a:extLst>
                  <a:ext uri="{FF2B5EF4-FFF2-40B4-BE49-F238E27FC236}">
                    <a16:creationId xmlns:a16="http://schemas.microsoft.com/office/drawing/2014/main" id="{91468823-ABF6-4B49-0266-08DC986562D0}"/>
                  </a:ext>
                </a:extLst>
              </p:cNvPr>
              <p:cNvPicPr/>
              <p:nvPr/>
            </p:nvPicPr>
            <p:blipFill>
              <a:blip r:embed="rId4"/>
              <a:stretch>
                <a:fillRect/>
              </a:stretch>
            </p:blipFill>
            <p:spPr>
              <a:xfrm>
                <a:off x="7682650" y="4767758"/>
                <a:ext cx="846000" cy="28872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16" name="Ink 15">
                <a:extLst>
                  <a:ext uri="{FF2B5EF4-FFF2-40B4-BE49-F238E27FC236}">
                    <a16:creationId xmlns:a16="http://schemas.microsoft.com/office/drawing/2014/main" id="{2518FEC8-C94F-CA3E-7498-4FC7B99B3F72}"/>
                  </a:ext>
                </a:extLst>
              </p14:cNvPr>
              <p14:cNvContentPartPr/>
              <p14:nvPr/>
            </p14:nvContentPartPr>
            <p14:xfrm>
              <a:off x="8475730" y="4895929"/>
              <a:ext cx="398520" cy="71280"/>
            </p14:xfrm>
          </p:contentPart>
        </mc:Choice>
        <mc:Fallback>
          <p:pic>
            <p:nvPicPr>
              <p:cNvPr id="16" name="Ink 15">
                <a:extLst>
                  <a:ext uri="{FF2B5EF4-FFF2-40B4-BE49-F238E27FC236}">
                    <a16:creationId xmlns:a16="http://schemas.microsoft.com/office/drawing/2014/main" id="{2518FEC8-C94F-CA3E-7498-4FC7B99B3F72}"/>
                  </a:ext>
                </a:extLst>
              </p:cNvPr>
              <p:cNvPicPr/>
              <p:nvPr/>
            </p:nvPicPr>
            <p:blipFill>
              <a:blip r:embed="rId6"/>
              <a:stretch>
                <a:fillRect/>
              </a:stretch>
            </p:blipFill>
            <p:spPr>
              <a:xfrm>
                <a:off x="8422090" y="4788289"/>
                <a:ext cx="506160" cy="28692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17" name="Ink 16">
                <a:extLst>
                  <a:ext uri="{FF2B5EF4-FFF2-40B4-BE49-F238E27FC236}">
                    <a16:creationId xmlns:a16="http://schemas.microsoft.com/office/drawing/2014/main" id="{FD46C15E-01D6-F606-1B93-D1D224692CB7}"/>
                  </a:ext>
                </a:extLst>
              </p14:cNvPr>
              <p14:cNvContentPartPr/>
              <p14:nvPr/>
            </p14:nvContentPartPr>
            <p14:xfrm>
              <a:off x="7652770" y="4291849"/>
              <a:ext cx="1069920" cy="675720"/>
            </p14:xfrm>
          </p:contentPart>
        </mc:Choice>
        <mc:Fallback>
          <p:pic>
            <p:nvPicPr>
              <p:cNvPr id="17" name="Ink 16">
                <a:extLst>
                  <a:ext uri="{FF2B5EF4-FFF2-40B4-BE49-F238E27FC236}">
                    <a16:creationId xmlns:a16="http://schemas.microsoft.com/office/drawing/2014/main" id="{FD46C15E-01D6-F606-1B93-D1D224692CB7}"/>
                  </a:ext>
                </a:extLst>
              </p:cNvPr>
              <p:cNvPicPr/>
              <p:nvPr/>
            </p:nvPicPr>
            <p:blipFill>
              <a:blip r:embed="rId8"/>
              <a:stretch>
                <a:fillRect/>
              </a:stretch>
            </p:blipFill>
            <p:spPr>
              <a:xfrm>
                <a:off x="7598770" y="4184209"/>
                <a:ext cx="1177560" cy="89136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18" name="Ink 17">
                <a:extLst>
                  <a:ext uri="{FF2B5EF4-FFF2-40B4-BE49-F238E27FC236}">
                    <a16:creationId xmlns:a16="http://schemas.microsoft.com/office/drawing/2014/main" id="{0B08FEEA-3D7E-A14E-2CB1-31CB0191B71E}"/>
                  </a:ext>
                </a:extLst>
              </p14:cNvPr>
              <p14:cNvContentPartPr/>
              <p14:nvPr/>
            </p14:nvContentPartPr>
            <p14:xfrm>
              <a:off x="8021050" y="4853449"/>
              <a:ext cx="1022760" cy="199080"/>
            </p14:xfrm>
          </p:contentPart>
        </mc:Choice>
        <mc:Fallback>
          <p:pic>
            <p:nvPicPr>
              <p:cNvPr id="18" name="Ink 17">
                <a:extLst>
                  <a:ext uri="{FF2B5EF4-FFF2-40B4-BE49-F238E27FC236}">
                    <a16:creationId xmlns:a16="http://schemas.microsoft.com/office/drawing/2014/main" id="{0B08FEEA-3D7E-A14E-2CB1-31CB0191B71E}"/>
                  </a:ext>
                </a:extLst>
              </p:cNvPr>
              <p:cNvPicPr/>
              <p:nvPr/>
            </p:nvPicPr>
            <p:blipFill>
              <a:blip r:embed="rId10"/>
              <a:stretch>
                <a:fillRect/>
              </a:stretch>
            </p:blipFill>
            <p:spPr>
              <a:xfrm>
                <a:off x="7958410" y="4790809"/>
                <a:ext cx="1148400" cy="324720"/>
              </a:xfrm>
              <a:prstGeom prst="rect">
                <a:avLst/>
              </a:prstGeom>
            </p:spPr>
          </p:pic>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980182" y="431155"/>
            <a:ext cx="5753472" cy="260226"/>
          </a:xfrm>
          <a:prstGeom prst="rect">
            <a:avLst/>
          </a:prstGeom>
          <a:noFill/>
          <a:ln/>
        </p:spPr>
        <p:txBody>
          <a:bodyPr wrap="none" lIns="0" tIns="0" rIns="0" bIns="0" rtlCol="0" anchor="t"/>
          <a:lstStyle/>
          <a:p>
            <a:pPr marL="0" indent="0" algn="l">
              <a:lnSpc>
                <a:spcPct val="104000"/>
              </a:lnSpc>
              <a:buNone/>
            </a:pPr>
            <a:r>
              <a:rPr lang="en-US" sz="1600" dirty="0">
                <a:solidFill>
                  <a:srgbClr val="1B1B27"/>
                </a:solidFill>
                <a:latin typeface="Raleway" pitchFamily="34" charset="0"/>
                <a:ea typeface="Raleway" pitchFamily="34" charset="-122"/>
                <a:cs typeface="Raleway" pitchFamily="34" charset="-120"/>
              </a:rPr>
              <a:t>New architecture - learned environment + causal fusion</a:t>
            </a:r>
            <a:endParaRPr lang="en-US" sz="1600" dirty="0"/>
          </a:p>
        </p:txBody>
      </p:sp>
      <p:sp>
        <p:nvSpPr>
          <p:cNvPr id="3" name="Text 1"/>
          <p:cNvSpPr/>
          <p:nvPr/>
        </p:nvSpPr>
        <p:spPr>
          <a:xfrm>
            <a:off x="980182" y="844228"/>
            <a:ext cx="7183562" cy="433313"/>
          </a:xfrm>
          <a:prstGeom prst="rect">
            <a:avLst/>
          </a:prstGeom>
          <a:noFill/>
          <a:ln/>
        </p:spPr>
        <p:txBody>
          <a:bodyPr wrap="square" lIns="0" tIns="0" rIns="0" bIns="0" rtlCol="0" anchor="t">
            <a:normAutofit/>
          </a:bodyPr>
          <a:lstStyle/>
          <a:p>
            <a:pPr marL="0" indent="0" algn="l">
              <a:lnSpc>
                <a:spcPct val="116000"/>
              </a:lnSpc>
              <a:buNone/>
            </a:pPr>
            <a:r>
              <a:rPr lang="en-US" sz="800" dirty="0">
                <a:solidFill>
                  <a:srgbClr val="3C3939"/>
                </a:solidFill>
                <a:latin typeface="Roboto" pitchFamily="34" charset="0"/>
                <a:ea typeface="Roboto" pitchFamily="34" charset="-122"/>
                <a:cs typeface="Roboto" pitchFamily="34" charset="-120"/>
              </a:rPr>
              <a:t> We separate the problem into components that can be trained and validated independently on the static fingerprint database, instead of learning from continuous walks. This fundamental shift enforces the environment model to learn from dense static scans with </a:t>
            </a:r>
            <a:r>
              <a:rPr lang="en-US" sz="800" b="1" dirty="0">
                <a:solidFill>
                  <a:srgbClr val="3C3939"/>
                </a:solidFill>
                <a:latin typeface="Roboto" pitchFamily="34" charset="0"/>
                <a:ea typeface="Roboto" pitchFamily="34" charset="-122"/>
                <a:cs typeface="Roboto" pitchFamily="34" charset="-120"/>
              </a:rPr>
              <a:t>538 node visits</a:t>
            </a:r>
            <a:r>
              <a:rPr lang="en-US" sz="800" dirty="0">
                <a:solidFill>
                  <a:srgbClr val="3C3939"/>
                </a:solidFill>
                <a:latin typeface="Roboto" pitchFamily="34" charset="0"/>
                <a:ea typeface="Roboto" pitchFamily="34" charset="-122"/>
                <a:cs typeface="Roboto" pitchFamily="34" charset="-120"/>
              </a:rPr>
              <a:t> covering </a:t>
            </a:r>
            <a:r>
              <a:rPr lang="en-US" sz="800" b="1" dirty="0">
                <a:solidFill>
                  <a:srgbClr val="3C3939"/>
                </a:solidFill>
                <a:latin typeface="Roboto" pitchFamily="34" charset="0"/>
                <a:ea typeface="Roboto" pitchFamily="34" charset="-122"/>
                <a:cs typeface="Roboto" pitchFamily="34" charset="-120"/>
              </a:rPr>
              <a:t>167/168 nodes</a:t>
            </a:r>
            <a:r>
              <a:rPr lang="en-US" sz="800" dirty="0">
                <a:solidFill>
                  <a:srgbClr val="3C3939"/>
                </a:solidFill>
                <a:latin typeface="Roboto" pitchFamily="34" charset="0"/>
                <a:ea typeface="Roboto" pitchFamily="34" charset="-122"/>
                <a:cs typeface="Roboto" pitchFamily="34" charset="-120"/>
              </a:rPr>
              <a:t>, and the fusion stage remains causal and nearly parameter-free.</a:t>
            </a:r>
            <a:endParaRPr lang="en-US" sz="800" dirty="0"/>
          </a:p>
        </p:txBody>
      </p:sp>
      <p:sp>
        <p:nvSpPr>
          <p:cNvPr id="4" name="Text 2"/>
          <p:cNvSpPr/>
          <p:nvPr/>
        </p:nvSpPr>
        <p:spPr>
          <a:xfrm>
            <a:off x="751582" y="1363489"/>
            <a:ext cx="7640762" cy="144438"/>
          </a:xfrm>
          <a:prstGeom prst="rect">
            <a:avLst/>
          </a:prstGeom>
          <a:noFill/>
          <a:ln/>
        </p:spPr>
        <p:txBody>
          <a:bodyPr wrap="none" lIns="0" tIns="0" rIns="0" bIns="0" rtlCol="0" anchor="t"/>
          <a:lstStyle/>
          <a:p>
            <a:pPr marL="0" indent="0" algn="ctr">
              <a:lnSpc>
                <a:spcPct val="116000"/>
              </a:lnSpc>
              <a:buNone/>
            </a:pPr>
            <a:r>
              <a:rPr lang="en-US" sz="800" u="sng" dirty="0">
                <a:solidFill>
                  <a:srgbClr val="3C3939"/>
                </a:solidFill>
                <a:latin typeface="Roboto" pitchFamily="34" charset="0"/>
                <a:ea typeface="Roboto" pitchFamily="34" charset="-122"/>
                <a:cs typeface="Roboto" pitchFamily="34" charset="-120"/>
              </a:rPr>
              <a:t>Static fingerprint learning + causal motion fusion + online calibration</a:t>
            </a:r>
            <a:endParaRPr lang="en-US" sz="800" dirty="0"/>
          </a:p>
        </p:txBody>
      </p:sp>
      <p:pic>
        <p:nvPicPr>
          <p:cNvPr id="5" name="Image 0" descr="preencoded.png"/>
          <p:cNvPicPr>
            <a:picLocks noChangeAspect="1"/>
          </p:cNvPicPr>
          <p:nvPr/>
        </p:nvPicPr>
        <p:blipFill>
          <a:blip r:embed="rId3"/>
          <a:stretch>
            <a:fillRect/>
          </a:stretch>
        </p:blipFill>
        <p:spPr>
          <a:xfrm>
            <a:off x="2217911" y="1593875"/>
            <a:ext cx="4708103" cy="2172742"/>
          </a:xfrm>
          <a:prstGeom prst="rect">
            <a:avLst/>
          </a:prstGeom>
        </p:spPr>
      </p:pic>
      <p:sp>
        <p:nvSpPr>
          <p:cNvPr id="6" name="Text 3"/>
          <p:cNvSpPr/>
          <p:nvPr/>
        </p:nvSpPr>
        <p:spPr>
          <a:xfrm>
            <a:off x="3882606" y="1773365"/>
            <a:ext cx="1389156" cy="147704"/>
          </a:xfrm>
          <a:prstGeom prst="rect">
            <a:avLst/>
          </a:prstGeom>
          <a:noFill/>
          <a:ln/>
        </p:spPr>
        <p:txBody>
          <a:bodyPr wrap="none" lIns="0" tIns="0" rIns="0" bIns="0" rtlCol="0" anchor="t"/>
          <a:lstStyle/>
          <a:p>
            <a:pPr marL="0" indent="0" algn="ctr">
              <a:lnSpc>
                <a:spcPct val="104000"/>
              </a:lnSpc>
              <a:buNone/>
            </a:pPr>
            <a:r>
              <a:rPr lang="en-US" sz="900" dirty="0">
                <a:solidFill>
                  <a:srgbClr val="FFFFFF"/>
                </a:solidFill>
                <a:latin typeface="Raleway" pitchFamily="34" charset="0"/>
                <a:ea typeface="Raleway" pitchFamily="34" charset="-122"/>
                <a:cs typeface="Raleway" pitchFamily="34" charset="-120"/>
              </a:rPr>
              <a:t>Three-part causal system</a:t>
            </a:r>
            <a:endParaRPr lang="en-US" sz="900" dirty="0"/>
          </a:p>
        </p:txBody>
      </p:sp>
      <p:sp>
        <p:nvSpPr>
          <p:cNvPr id="7" name="Text 4"/>
          <p:cNvSpPr/>
          <p:nvPr/>
        </p:nvSpPr>
        <p:spPr>
          <a:xfrm>
            <a:off x="2425179" y="2926030"/>
            <a:ext cx="804084" cy="392564"/>
          </a:xfrm>
          <a:prstGeom prst="rect">
            <a:avLst/>
          </a:prstGeom>
          <a:noFill/>
          <a:ln/>
        </p:spPr>
        <p:txBody>
          <a:bodyPr wrap="square" lIns="0" tIns="0" rIns="0" bIns="0" rtlCol="0" anchor="t">
            <a:normAutofit/>
          </a:bodyPr>
          <a:lstStyle/>
          <a:p>
            <a:pPr marL="0" indent="0" algn="ctr">
              <a:lnSpc>
                <a:spcPct val="90000"/>
              </a:lnSpc>
              <a:buNone/>
            </a:pPr>
            <a:r>
              <a:rPr lang="en-US" sz="900" dirty="0">
                <a:solidFill>
                  <a:srgbClr val="FFFFFF"/>
                </a:solidFill>
                <a:latin typeface="Roboto" pitchFamily="34" charset="0"/>
                <a:ea typeface="Roboto" pitchFamily="34" charset="-122"/>
                <a:cs typeface="Roboto" pitchFamily="34" charset="-120"/>
              </a:rPr>
              <a:t>Online magnetometer calibration</a:t>
            </a:r>
            <a:endParaRPr lang="en-US" sz="900" dirty="0"/>
          </a:p>
        </p:txBody>
      </p:sp>
      <p:sp>
        <p:nvSpPr>
          <p:cNvPr id="8" name="Text 5"/>
          <p:cNvSpPr/>
          <p:nvPr/>
        </p:nvSpPr>
        <p:spPr>
          <a:xfrm>
            <a:off x="6005850" y="3069795"/>
            <a:ext cx="650718" cy="136544"/>
          </a:xfrm>
          <a:prstGeom prst="rect">
            <a:avLst/>
          </a:prstGeom>
          <a:noFill/>
          <a:ln/>
        </p:spPr>
        <p:txBody>
          <a:bodyPr wrap="none" lIns="0" tIns="0" rIns="0" bIns="0" rtlCol="0" anchor="t"/>
          <a:lstStyle/>
          <a:p>
            <a:pPr marL="0" indent="0" algn="ctr">
              <a:lnSpc>
                <a:spcPct val="90000"/>
              </a:lnSpc>
              <a:buNone/>
            </a:pPr>
            <a:r>
              <a:rPr lang="en-US" sz="900" dirty="0">
                <a:solidFill>
                  <a:srgbClr val="FFFFFF"/>
                </a:solidFill>
                <a:latin typeface="Roboto" pitchFamily="34" charset="0"/>
                <a:ea typeface="Roboto" pitchFamily="34" charset="-122"/>
                <a:cs typeface="Roboto" pitchFamily="34" charset="-120"/>
              </a:rPr>
              <a:t>IMU pipeline</a:t>
            </a:r>
            <a:endParaRPr lang="en-US" sz="900" dirty="0"/>
          </a:p>
        </p:txBody>
      </p:sp>
      <p:sp>
        <p:nvSpPr>
          <p:cNvPr id="9" name="Text 6"/>
          <p:cNvSpPr/>
          <p:nvPr/>
        </p:nvSpPr>
        <p:spPr>
          <a:xfrm>
            <a:off x="3685504" y="3158089"/>
            <a:ext cx="625690" cy="264554"/>
          </a:xfrm>
          <a:prstGeom prst="rect">
            <a:avLst/>
          </a:prstGeom>
          <a:noFill/>
          <a:ln/>
        </p:spPr>
        <p:txBody>
          <a:bodyPr wrap="square" lIns="0" tIns="0" rIns="0" bIns="0" rtlCol="0" anchor="t">
            <a:normAutofit/>
          </a:bodyPr>
          <a:lstStyle/>
          <a:p>
            <a:pPr marL="0" indent="0" algn="ctr">
              <a:lnSpc>
                <a:spcPct val="90000"/>
              </a:lnSpc>
              <a:buNone/>
            </a:pPr>
            <a:r>
              <a:rPr lang="en-US" sz="900" dirty="0">
                <a:solidFill>
                  <a:srgbClr val="FFFFFF"/>
                </a:solidFill>
                <a:latin typeface="Roboto" pitchFamily="34" charset="0"/>
                <a:ea typeface="Roboto" pitchFamily="34" charset="-122"/>
                <a:cs typeface="Roboto" pitchFamily="34" charset="-120"/>
              </a:rPr>
              <a:t>Causal EKF fusion</a:t>
            </a:r>
            <a:endParaRPr lang="en-US" sz="900" dirty="0"/>
          </a:p>
        </p:txBody>
      </p:sp>
      <p:sp>
        <p:nvSpPr>
          <p:cNvPr id="10" name="Text 7"/>
          <p:cNvSpPr/>
          <p:nvPr/>
        </p:nvSpPr>
        <p:spPr>
          <a:xfrm>
            <a:off x="4835214" y="3147585"/>
            <a:ext cx="689531" cy="264554"/>
          </a:xfrm>
          <a:prstGeom prst="rect">
            <a:avLst/>
          </a:prstGeom>
          <a:noFill/>
          <a:ln/>
        </p:spPr>
        <p:txBody>
          <a:bodyPr wrap="square" lIns="0" tIns="0" rIns="0" bIns="0" rtlCol="0" anchor="t">
            <a:normAutofit/>
          </a:bodyPr>
          <a:lstStyle/>
          <a:p>
            <a:pPr marL="0" indent="0" algn="ctr">
              <a:lnSpc>
                <a:spcPct val="90000"/>
              </a:lnSpc>
              <a:buNone/>
            </a:pPr>
            <a:r>
              <a:rPr lang="en-US" sz="900" dirty="0">
                <a:solidFill>
                  <a:srgbClr val="FFFFFF"/>
                </a:solidFill>
                <a:latin typeface="Roboto" pitchFamily="34" charset="0"/>
                <a:ea typeface="Roboto" pitchFamily="34" charset="-122"/>
                <a:cs typeface="Roboto" pitchFamily="34" charset="-120"/>
              </a:rPr>
              <a:t>Environment model</a:t>
            </a:r>
            <a:endParaRPr lang="en-US" sz="900" dirty="0"/>
          </a:p>
        </p:txBody>
      </p:sp>
      <p:sp>
        <p:nvSpPr>
          <p:cNvPr id="11" name="Text 8"/>
          <p:cNvSpPr/>
          <p:nvPr/>
        </p:nvSpPr>
        <p:spPr>
          <a:xfrm>
            <a:off x="980182" y="3921323"/>
            <a:ext cx="1605409" cy="722188"/>
          </a:xfrm>
          <a:prstGeom prst="rect">
            <a:avLst/>
          </a:prstGeom>
          <a:noFill/>
          <a:ln/>
        </p:spPr>
        <p:txBody>
          <a:bodyPr wrap="square" lIns="0" tIns="0" rIns="0" bIns="0" rtlCol="0" anchor="t">
            <a:normAutofit/>
          </a:bodyPr>
          <a:lstStyle/>
          <a:p>
            <a:pPr marL="0" indent="0" algn="l">
              <a:lnSpc>
                <a:spcPct val="116000"/>
              </a:lnSpc>
              <a:buNone/>
            </a:pPr>
            <a:r>
              <a:rPr lang="en-US" sz="800" dirty="0">
                <a:solidFill>
                  <a:srgbClr val="3C3939"/>
                </a:solidFill>
                <a:latin typeface="Roboto" pitchFamily="34" charset="0"/>
                <a:ea typeface="Roboto" pitchFamily="34" charset="-122"/>
                <a:cs typeface="Roboto" pitchFamily="34" charset="-120"/>
              </a:rPr>
              <a:t>Self-calibration inside the EKF using a trailing buffer of raw samples. Fits an ellipsoid. Reduces cross-device spread by 3×.</a:t>
            </a:r>
            <a:endParaRPr lang="en-US" sz="800" dirty="0"/>
          </a:p>
        </p:txBody>
      </p:sp>
      <p:sp>
        <p:nvSpPr>
          <p:cNvPr id="12" name="Text 9"/>
          <p:cNvSpPr/>
          <p:nvPr/>
        </p:nvSpPr>
        <p:spPr>
          <a:xfrm>
            <a:off x="2844254" y="3921323"/>
            <a:ext cx="1605409" cy="577751"/>
          </a:xfrm>
          <a:prstGeom prst="rect">
            <a:avLst/>
          </a:prstGeom>
          <a:noFill/>
          <a:ln/>
        </p:spPr>
        <p:txBody>
          <a:bodyPr wrap="square" lIns="0" tIns="0" rIns="0" bIns="0" rtlCol="0" anchor="t">
            <a:normAutofit/>
          </a:bodyPr>
          <a:lstStyle/>
          <a:p>
            <a:pPr marL="0" indent="0" algn="l">
              <a:lnSpc>
                <a:spcPct val="116000"/>
              </a:lnSpc>
              <a:buNone/>
            </a:pPr>
            <a:r>
              <a:rPr lang="en-US" sz="800" dirty="0">
                <a:solidFill>
                  <a:srgbClr val="3C3939"/>
                </a:solidFill>
                <a:latin typeface="Roboto" pitchFamily="34" charset="0"/>
                <a:ea typeface="Roboto" pitchFamily="34" charset="-122"/>
                <a:cs typeface="Roboto" pitchFamily="34" charset="-120"/>
              </a:rPr>
              <a:t>Classical Kalman fusion of the heatmap measurement and PDR prediction. PDR is smooth but drifting. </a:t>
            </a:r>
            <a:endParaRPr lang="en-US" sz="800" dirty="0"/>
          </a:p>
        </p:txBody>
      </p:sp>
      <p:sp>
        <p:nvSpPr>
          <p:cNvPr id="13" name="Text 10"/>
          <p:cNvSpPr/>
          <p:nvPr/>
        </p:nvSpPr>
        <p:spPr>
          <a:xfrm>
            <a:off x="4708327" y="3921323"/>
            <a:ext cx="1902916" cy="577751"/>
          </a:xfrm>
          <a:prstGeom prst="rect">
            <a:avLst/>
          </a:prstGeom>
          <a:noFill/>
          <a:ln/>
        </p:spPr>
        <p:txBody>
          <a:bodyPr wrap="square" lIns="0" tIns="0" rIns="0" bIns="0" rtlCol="0" anchor="t">
            <a:normAutofit/>
          </a:bodyPr>
          <a:lstStyle/>
          <a:p>
            <a:pPr marL="0" indent="0" algn="l">
              <a:lnSpc>
                <a:spcPct val="116000"/>
              </a:lnSpc>
              <a:buNone/>
            </a:pPr>
            <a:r>
              <a:rPr lang="en-US" sz="800" dirty="0">
                <a:solidFill>
                  <a:srgbClr val="3C3939"/>
                </a:solidFill>
                <a:latin typeface="Roboto" pitchFamily="34" charset="0"/>
                <a:ea typeface="Roboto" pitchFamily="34" charset="-122"/>
                <a:cs typeface="Roboto" pitchFamily="34" charset="-120"/>
              </a:rPr>
              <a:t>Per-frame WiFi heatmap output. No temporal processing; outputs a probability distribution over grid cells rather than a single point.</a:t>
            </a:r>
            <a:endParaRPr lang="en-US" sz="800" dirty="0"/>
          </a:p>
        </p:txBody>
      </p:sp>
      <p:sp>
        <p:nvSpPr>
          <p:cNvPr id="14" name="Text 11"/>
          <p:cNvSpPr/>
          <p:nvPr/>
        </p:nvSpPr>
        <p:spPr>
          <a:xfrm>
            <a:off x="6869906" y="3921323"/>
            <a:ext cx="1307902" cy="577751"/>
          </a:xfrm>
          <a:prstGeom prst="rect">
            <a:avLst/>
          </a:prstGeom>
          <a:noFill/>
          <a:ln/>
        </p:spPr>
        <p:txBody>
          <a:bodyPr wrap="square" lIns="0" tIns="0" rIns="0" bIns="0" rtlCol="0" anchor="t">
            <a:normAutofit/>
          </a:bodyPr>
          <a:lstStyle/>
          <a:p>
            <a:pPr marL="0" indent="0" algn="l">
              <a:lnSpc>
                <a:spcPct val="116000"/>
              </a:lnSpc>
              <a:buNone/>
            </a:pPr>
            <a:r>
              <a:rPr lang="en-US" sz="800" dirty="0">
                <a:solidFill>
                  <a:srgbClr val="3C3939"/>
                </a:solidFill>
                <a:latin typeface="Roboto" pitchFamily="34" charset="0"/>
                <a:ea typeface="Roboto" pitchFamily="34" charset="-122"/>
                <a:cs typeface="Roboto" pitchFamily="34" charset="-120"/>
              </a:rPr>
              <a:t>Causal PDR motion predictions. Step detection from accelerometer magnitude.</a:t>
            </a:r>
            <a:endParaRPr lang="en-US" sz="800" dirty="0"/>
          </a:p>
        </p:txBody>
      </p:sp>
      <mc:AlternateContent xmlns:mc="http://schemas.openxmlformats.org/markup-compatibility/2006">
        <mc:Choice xmlns:p14="http://schemas.microsoft.com/office/powerpoint/2010/main" Requires="p14">
          <p:contentPart p14:bwMode="auto" r:id="rId4">
            <p14:nvContentPartPr>
              <p14:cNvPr id="15" name="Ink 14">
                <a:extLst>
                  <a:ext uri="{FF2B5EF4-FFF2-40B4-BE49-F238E27FC236}">
                    <a16:creationId xmlns:a16="http://schemas.microsoft.com/office/drawing/2014/main" id="{944A7CFE-D956-17E3-359E-8F0E10DB6C6A}"/>
                  </a:ext>
                </a:extLst>
              </p14:cNvPr>
              <p14:cNvContentPartPr/>
              <p14:nvPr/>
            </p14:nvContentPartPr>
            <p14:xfrm>
              <a:off x="7736650" y="4875398"/>
              <a:ext cx="738360" cy="73080"/>
            </p14:xfrm>
          </p:contentPart>
        </mc:Choice>
        <mc:Fallback>
          <p:pic>
            <p:nvPicPr>
              <p:cNvPr id="15" name="Ink 14">
                <a:extLst>
                  <a:ext uri="{FF2B5EF4-FFF2-40B4-BE49-F238E27FC236}">
                    <a16:creationId xmlns:a16="http://schemas.microsoft.com/office/drawing/2014/main" id="{944A7CFE-D956-17E3-359E-8F0E10DB6C6A}"/>
                  </a:ext>
                </a:extLst>
              </p:cNvPr>
              <p:cNvPicPr/>
              <p:nvPr/>
            </p:nvPicPr>
            <p:blipFill>
              <a:blip r:embed="rId5"/>
              <a:stretch>
                <a:fillRect/>
              </a:stretch>
            </p:blipFill>
            <p:spPr>
              <a:xfrm>
                <a:off x="7682650" y="4767758"/>
                <a:ext cx="846000" cy="28872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16" name="Ink 15">
                <a:extLst>
                  <a:ext uri="{FF2B5EF4-FFF2-40B4-BE49-F238E27FC236}">
                    <a16:creationId xmlns:a16="http://schemas.microsoft.com/office/drawing/2014/main" id="{D3D16718-1D8E-3419-5F9C-B0F038029E2A}"/>
                  </a:ext>
                </a:extLst>
              </p14:cNvPr>
              <p14:cNvContentPartPr/>
              <p14:nvPr/>
            </p14:nvContentPartPr>
            <p14:xfrm>
              <a:off x="8475730" y="4895929"/>
              <a:ext cx="398520" cy="71280"/>
            </p14:xfrm>
          </p:contentPart>
        </mc:Choice>
        <mc:Fallback>
          <p:pic>
            <p:nvPicPr>
              <p:cNvPr id="16" name="Ink 15">
                <a:extLst>
                  <a:ext uri="{FF2B5EF4-FFF2-40B4-BE49-F238E27FC236}">
                    <a16:creationId xmlns:a16="http://schemas.microsoft.com/office/drawing/2014/main" id="{D3D16718-1D8E-3419-5F9C-B0F038029E2A}"/>
                  </a:ext>
                </a:extLst>
              </p:cNvPr>
              <p:cNvPicPr/>
              <p:nvPr/>
            </p:nvPicPr>
            <p:blipFill>
              <a:blip r:embed="rId7"/>
              <a:stretch>
                <a:fillRect/>
              </a:stretch>
            </p:blipFill>
            <p:spPr>
              <a:xfrm>
                <a:off x="8422090" y="4788289"/>
                <a:ext cx="506160" cy="28692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7" name="Ink 16">
                <a:extLst>
                  <a:ext uri="{FF2B5EF4-FFF2-40B4-BE49-F238E27FC236}">
                    <a16:creationId xmlns:a16="http://schemas.microsoft.com/office/drawing/2014/main" id="{AE0DE836-1EC9-37E0-4C4F-A6FDB15A902D}"/>
                  </a:ext>
                </a:extLst>
              </p14:cNvPr>
              <p14:cNvContentPartPr/>
              <p14:nvPr/>
            </p14:nvContentPartPr>
            <p14:xfrm>
              <a:off x="7652770" y="4291849"/>
              <a:ext cx="1069920" cy="675720"/>
            </p14:xfrm>
          </p:contentPart>
        </mc:Choice>
        <mc:Fallback>
          <p:pic>
            <p:nvPicPr>
              <p:cNvPr id="17" name="Ink 16">
                <a:extLst>
                  <a:ext uri="{FF2B5EF4-FFF2-40B4-BE49-F238E27FC236}">
                    <a16:creationId xmlns:a16="http://schemas.microsoft.com/office/drawing/2014/main" id="{AE0DE836-1EC9-37E0-4C4F-A6FDB15A902D}"/>
                  </a:ext>
                </a:extLst>
              </p:cNvPr>
              <p:cNvPicPr/>
              <p:nvPr/>
            </p:nvPicPr>
            <p:blipFill>
              <a:blip r:embed="rId9"/>
              <a:stretch>
                <a:fillRect/>
              </a:stretch>
            </p:blipFill>
            <p:spPr>
              <a:xfrm>
                <a:off x="7598770" y="4184209"/>
                <a:ext cx="1177560" cy="89136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8" name="Ink 17">
                <a:extLst>
                  <a:ext uri="{FF2B5EF4-FFF2-40B4-BE49-F238E27FC236}">
                    <a16:creationId xmlns:a16="http://schemas.microsoft.com/office/drawing/2014/main" id="{7C51365B-78DE-51DD-BF63-C3A91589F359}"/>
                  </a:ext>
                </a:extLst>
              </p14:cNvPr>
              <p14:cNvContentPartPr/>
              <p14:nvPr/>
            </p14:nvContentPartPr>
            <p14:xfrm>
              <a:off x="8021050" y="4853449"/>
              <a:ext cx="1022760" cy="199080"/>
            </p14:xfrm>
          </p:contentPart>
        </mc:Choice>
        <mc:Fallback>
          <p:pic>
            <p:nvPicPr>
              <p:cNvPr id="18" name="Ink 17">
                <a:extLst>
                  <a:ext uri="{FF2B5EF4-FFF2-40B4-BE49-F238E27FC236}">
                    <a16:creationId xmlns:a16="http://schemas.microsoft.com/office/drawing/2014/main" id="{7C51365B-78DE-51DD-BF63-C3A91589F359}"/>
                  </a:ext>
                </a:extLst>
              </p:cNvPr>
              <p:cNvPicPr/>
              <p:nvPr/>
            </p:nvPicPr>
            <p:blipFill>
              <a:blip r:embed="rId11"/>
              <a:stretch>
                <a:fillRect/>
              </a:stretch>
            </p:blipFill>
            <p:spPr>
              <a:xfrm>
                <a:off x="7958410" y="4790809"/>
                <a:ext cx="1148400" cy="324720"/>
              </a:xfrm>
              <a:prstGeom prst="rect">
                <a:avLst/>
              </a:prstGeom>
            </p:spPr>
          </p:pic>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96119" y="476622"/>
            <a:ext cx="4013597" cy="4190181"/>
          </a:xfrm>
          <a:prstGeom prst="roundRect">
            <a:avLst>
              <a:gd name="adj" fmla="val 1391"/>
            </a:avLst>
          </a:prstGeom>
          <a:solidFill>
            <a:srgbClr val="E1E1EA"/>
          </a:solidFill>
          <a:ln w="4763">
            <a:solidFill>
              <a:srgbClr val="C7C7D0"/>
            </a:solidFill>
            <a:prstDash val="solid"/>
          </a:ln>
        </p:spPr>
        <p:txBody>
          <a:bodyPr/>
          <a:lstStyle/>
          <a:p>
            <a:endParaRPr lang="en-IN"/>
          </a:p>
        </p:txBody>
      </p:sp>
      <p:sp>
        <p:nvSpPr>
          <p:cNvPr id="3" name="Text 1"/>
          <p:cNvSpPr/>
          <p:nvPr/>
        </p:nvSpPr>
        <p:spPr>
          <a:xfrm>
            <a:off x="633785" y="614288"/>
            <a:ext cx="1661294" cy="207690"/>
          </a:xfrm>
          <a:prstGeom prst="rect">
            <a:avLst/>
          </a:prstGeom>
          <a:noFill/>
          <a:ln/>
        </p:spPr>
        <p:txBody>
          <a:bodyPr wrap="none" lIns="0" tIns="0" rIns="0" bIns="0" rtlCol="0" anchor="t"/>
          <a:lstStyle/>
          <a:p>
            <a:pPr marL="0" indent="0" algn="l">
              <a:lnSpc>
                <a:spcPct val="104000"/>
              </a:lnSpc>
              <a:buNone/>
            </a:pPr>
            <a:r>
              <a:rPr lang="en-US" sz="1300" dirty="0">
                <a:solidFill>
                  <a:srgbClr val="3C3939"/>
                </a:solidFill>
                <a:latin typeface="Raleway" pitchFamily="34" charset="0"/>
                <a:ea typeface="Raleway" pitchFamily="34" charset="-122"/>
                <a:cs typeface="Raleway" pitchFamily="34" charset="-120"/>
              </a:rPr>
              <a:t>Key properties</a:t>
            </a:r>
            <a:endParaRPr lang="en-US" sz="1300" dirty="0"/>
          </a:p>
        </p:txBody>
      </p:sp>
      <p:sp>
        <p:nvSpPr>
          <p:cNvPr id="4" name="Text 2"/>
          <p:cNvSpPr/>
          <p:nvPr/>
        </p:nvSpPr>
        <p:spPr>
          <a:xfrm>
            <a:off x="633785" y="896689"/>
            <a:ext cx="3738265" cy="3632448"/>
          </a:xfrm>
          <a:prstGeom prst="rect">
            <a:avLst/>
          </a:prstGeom>
          <a:noFill/>
          <a:ln/>
        </p:spPr>
        <p:txBody>
          <a:bodyPr wrap="square" lIns="0" tIns="0" rIns="0" bIns="0" rtlCol="0" anchor="t">
            <a:normAutofit/>
          </a:bodyPr>
          <a:lstStyle/>
          <a:p>
            <a:pPr marL="342900" indent="-342900" algn="l">
              <a:lnSpc>
                <a:spcPct val="129000"/>
              </a:lnSpc>
              <a:buSzPct val="100000"/>
              <a:buChar char="•"/>
            </a:pPr>
            <a:r>
              <a:rPr lang="en-US" sz="1000" dirty="0">
                <a:solidFill>
                  <a:srgbClr val="3C3939"/>
                </a:solidFill>
                <a:latin typeface="Roboto" pitchFamily="34" charset="0"/>
                <a:ea typeface="Roboto" pitchFamily="34" charset="-122"/>
                <a:cs typeface="Roboto" pitchFamily="34" charset="-120"/>
              </a:rPr>
              <a:t>Environment trained exclusively on a static fingerprint database. It is never trained on continuous walks, so it learns a location fingerprint rather than a trajectory.</a:t>
            </a:r>
            <a:endParaRPr lang="en-US" sz="1000" dirty="0"/>
          </a:p>
          <a:p>
            <a:pPr marL="342900" indent="-342900" algn="l">
              <a:lnSpc>
                <a:spcPct val="129000"/>
              </a:lnSpc>
              <a:buSzPct val="100000"/>
              <a:buChar char="•"/>
            </a:pPr>
            <a:r>
              <a:rPr lang="en-US" sz="1000" dirty="0">
                <a:solidFill>
                  <a:srgbClr val="3C3939"/>
                </a:solidFill>
                <a:latin typeface="Roboto" pitchFamily="34" charset="0"/>
                <a:ea typeface="Roboto" pitchFamily="34" charset="-122"/>
                <a:cs typeface="Roboto" pitchFamily="34" charset="-120"/>
              </a:rPr>
              <a:t>Instead of predicting a single </a:t>
            </a:r>
            <a:r>
              <a:rPr lang="en-US" sz="1000" i="1" dirty="0">
                <a:solidFill>
                  <a:srgbClr val="3C3939"/>
                </a:solidFill>
                <a:latin typeface="Roboto" pitchFamily="34" charset="0"/>
                <a:ea typeface="Roboto" pitchFamily="34" charset="-122"/>
                <a:cs typeface="Roboto" pitchFamily="34" charset="-120"/>
              </a:rPr>
              <a:t>(X, Y)</a:t>
            </a:r>
            <a:r>
              <a:rPr lang="en-US" sz="1000" dirty="0">
                <a:solidFill>
                  <a:srgbClr val="3C3939"/>
                </a:solidFill>
                <a:latin typeface="Roboto" pitchFamily="34" charset="0"/>
                <a:ea typeface="Roboto" pitchFamily="34" charset="-122"/>
                <a:cs typeface="Roboto" pitchFamily="34" charset="-120"/>
              </a:rPr>
              <a:t>, the environment model outputs a probability distribution over a </a:t>
            </a:r>
            <a:r>
              <a:rPr lang="en-US" sz="1000" b="1" dirty="0">
                <a:solidFill>
                  <a:srgbClr val="3C3939"/>
                </a:solidFill>
                <a:latin typeface="Roboto" pitchFamily="34" charset="0"/>
                <a:ea typeface="Roboto" pitchFamily="34" charset="-122"/>
                <a:cs typeface="Roboto" pitchFamily="34" charset="-120"/>
              </a:rPr>
              <a:t>1 m grid</a:t>
            </a:r>
            <a:r>
              <a:rPr lang="en-US" sz="1000" dirty="0">
                <a:solidFill>
                  <a:srgbClr val="3C3939"/>
                </a:solidFill>
                <a:latin typeface="Roboto" pitchFamily="34" charset="0"/>
                <a:ea typeface="Roboto" pitchFamily="34" charset="-122"/>
                <a:cs typeface="Roboto" pitchFamily="34" charset="-120"/>
              </a:rPr>
              <a:t>. The spatial spread of that heatmap becomes the Kalman measurement covariance </a:t>
            </a:r>
            <a:r>
              <a:rPr lang="en-US" sz="1000" b="1" dirty="0">
                <a:solidFill>
                  <a:srgbClr val="3C3939"/>
                </a:solidFill>
                <a:latin typeface="Roboto" pitchFamily="34" charset="0"/>
                <a:ea typeface="Roboto" pitchFamily="34" charset="-122"/>
                <a:cs typeface="Roboto" pitchFamily="34" charset="-120"/>
              </a:rPr>
              <a:t>R</a:t>
            </a:r>
            <a:r>
              <a:rPr lang="en-US" sz="1000" dirty="0">
                <a:solidFill>
                  <a:srgbClr val="3C3939"/>
                </a:solidFill>
                <a:latin typeface="Roboto" pitchFamily="34" charset="0"/>
                <a:ea typeface="Roboto" pitchFamily="34" charset="-122"/>
                <a:cs typeface="Roboto" pitchFamily="34" charset="-120"/>
              </a:rPr>
              <a:t>, so ambiguous measurements are automatically down-weighted in fusion.</a:t>
            </a:r>
            <a:endParaRPr lang="en-US" sz="1000" dirty="0"/>
          </a:p>
          <a:p>
            <a:pPr marL="342900" indent="-342900" algn="l">
              <a:lnSpc>
                <a:spcPct val="129000"/>
              </a:lnSpc>
              <a:buSzPct val="100000"/>
              <a:buChar char="•"/>
            </a:pPr>
            <a:r>
              <a:rPr lang="en-US" sz="1000" dirty="0">
                <a:solidFill>
                  <a:srgbClr val="3C3939"/>
                </a:solidFill>
                <a:latin typeface="Roboto" pitchFamily="34" charset="0"/>
                <a:ea typeface="Roboto" pitchFamily="34" charset="-122"/>
                <a:cs typeface="Roboto" pitchFamily="34" charset="-120"/>
              </a:rPr>
              <a:t>The </a:t>
            </a:r>
            <a:r>
              <a:rPr lang="en-US" sz="1000" b="1" dirty="0">
                <a:solidFill>
                  <a:srgbClr val="3C3939"/>
                </a:solidFill>
                <a:latin typeface="Roboto" pitchFamily="34" charset="0"/>
                <a:ea typeface="Roboto" pitchFamily="34" charset="-122"/>
                <a:cs typeface="Roboto" pitchFamily="34" charset="-120"/>
              </a:rPr>
              <a:t>OnlineMagNormalizer</a:t>
            </a:r>
            <a:r>
              <a:rPr lang="en-US" sz="1000" dirty="0">
                <a:solidFill>
                  <a:srgbClr val="3C3939"/>
                </a:solidFill>
                <a:latin typeface="Roboto" pitchFamily="34" charset="0"/>
                <a:ea typeface="Roboto" pitchFamily="34" charset="-122"/>
                <a:cs typeface="Roboto" pitchFamily="34" charset="-120"/>
              </a:rPr>
              <a:t> fits an ellipsoid from a trailing buffer of raw samples. This reduces cross-device </a:t>
            </a:r>
            <a:r>
              <a:rPr lang="en-US" sz="1000" b="1" dirty="0">
                <a:solidFill>
                  <a:srgbClr val="3C3939"/>
                </a:solidFill>
                <a:latin typeface="Roboto" pitchFamily="34" charset="0"/>
                <a:ea typeface="Roboto" pitchFamily="34" charset="-122"/>
                <a:cs typeface="Roboto" pitchFamily="34" charset="-120"/>
              </a:rPr>
              <a:t>‖M‖</a:t>
            </a:r>
            <a:r>
              <a:rPr lang="en-US" sz="1000" dirty="0">
                <a:solidFill>
                  <a:srgbClr val="3C3939"/>
                </a:solidFill>
                <a:latin typeface="Roboto" pitchFamily="34" charset="0"/>
                <a:ea typeface="Roboto" pitchFamily="34" charset="-122"/>
                <a:cs typeface="Roboto" pitchFamily="34" charset="-120"/>
              </a:rPr>
              <a:t> spread by </a:t>
            </a:r>
            <a:r>
              <a:rPr lang="en-US" sz="1000" b="1" dirty="0">
                <a:solidFill>
                  <a:srgbClr val="3C3939"/>
                </a:solidFill>
                <a:latin typeface="Roboto" pitchFamily="34" charset="0"/>
                <a:ea typeface="Roboto" pitchFamily="34" charset="-122"/>
                <a:cs typeface="Roboto" pitchFamily="34" charset="-120"/>
              </a:rPr>
              <a:t>3×</a:t>
            </a:r>
            <a:r>
              <a:rPr lang="en-US" sz="1000" dirty="0">
                <a:solidFill>
                  <a:srgbClr val="3C3939"/>
                </a:solidFill>
                <a:latin typeface="Roboto" pitchFamily="34" charset="0"/>
                <a:ea typeface="Roboto" pitchFamily="34" charset="-122"/>
                <a:cs typeface="Roboto" pitchFamily="34" charset="-120"/>
              </a:rPr>
              <a:t> (</a:t>
            </a:r>
            <a:r>
              <a:rPr lang="en-US" sz="1000" b="1" dirty="0">
                <a:solidFill>
                  <a:srgbClr val="3C3939"/>
                </a:solidFill>
                <a:latin typeface="Roboto" pitchFamily="34" charset="0"/>
                <a:ea typeface="Roboto" pitchFamily="34" charset="-122"/>
                <a:cs typeface="Roboto" pitchFamily="34" charset="-120"/>
              </a:rPr>
              <a:t>1.77 → 0.57 μT</a:t>
            </a:r>
            <a:r>
              <a:rPr lang="en-US" sz="1000" dirty="0">
                <a:solidFill>
                  <a:srgbClr val="3C3939"/>
                </a:solidFill>
                <a:latin typeface="Roboto" pitchFamily="34" charset="0"/>
                <a:ea typeface="Roboto" pitchFamily="34" charset="-122"/>
                <a:cs typeface="Roboto" pitchFamily="34" charset="-120"/>
              </a:rPr>
              <a:t>), enabling the same model to work across different phones without per-device calibration.</a:t>
            </a:r>
            <a:endParaRPr lang="en-US" sz="1000" dirty="0"/>
          </a:p>
          <a:p>
            <a:pPr marL="342900" indent="-342900" algn="l">
              <a:lnSpc>
                <a:spcPct val="129000"/>
              </a:lnSpc>
              <a:buSzPct val="100000"/>
              <a:buChar char="•"/>
            </a:pPr>
            <a:r>
              <a:rPr lang="en-US" sz="1000" dirty="0">
                <a:solidFill>
                  <a:srgbClr val="3C3939"/>
                </a:solidFill>
                <a:latin typeface="Roboto" pitchFamily="34" charset="0"/>
                <a:ea typeface="Roboto" pitchFamily="34" charset="-122"/>
                <a:cs typeface="Roboto" pitchFamily="34" charset="-120"/>
              </a:rPr>
              <a:t>The EKF is a standard closed-form filter with no learned parameters beyond the environment model. It cannot memorize a route because it has no memory of the path sequence—only the current state plus the measurement and motion models—so the system remains fully causal.</a:t>
            </a:r>
            <a:endParaRPr lang="en-US" sz="1000" dirty="0"/>
          </a:p>
        </p:txBody>
      </p:sp>
      <p:sp>
        <p:nvSpPr>
          <p:cNvPr id="5" name="Shape 3"/>
          <p:cNvSpPr/>
          <p:nvPr/>
        </p:nvSpPr>
        <p:spPr>
          <a:xfrm>
            <a:off x="4634285" y="476622"/>
            <a:ext cx="4013597" cy="4190181"/>
          </a:xfrm>
          <a:prstGeom prst="roundRect">
            <a:avLst>
              <a:gd name="adj" fmla="val 1391"/>
            </a:avLst>
          </a:prstGeom>
          <a:solidFill>
            <a:srgbClr val="E1E1EA"/>
          </a:solidFill>
          <a:ln w="4763">
            <a:solidFill>
              <a:srgbClr val="C7C7D0"/>
            </a:solidFill>
            <a:prstDash val="solid"/>
          </a:ln>
        </p:spPr>
        <p:txBody>
          <a:bodyPr/>
          <a:lstStyle/>
          <a:p>
            <a:endParaRPr lang="en-IN"/>
          </a:p>
        </p:txBody>
      </p:sp>
      <p:sp>
        <p:nvSpPr>
          <p:cNvPr id="6" name="Text 4"/>
          <p:cNvSpPr/>
          <p:nvPr/>
        </p:nvSpPr>
        <p:spPr>
          <a:xfrm>
            <a:off x="4771951" y="614288"/>
            <a:ext cx="1661294" cy="207690"/>
          </a:xfrm>
          <a:prstGeom prst="rect">
            <a:avLst/>
          </a:prstGeom>
          <a:noFill/>
          <a:ln/>
        </p:spPr>
        <p:txBody>
          <a:bodyPr wrap="none" lIns="0" tIns="0" rIns="0" bIns="0" rtlCol="0" anchor="t"/>
          <a:lstStyle/>
          <a:p>
            <a:pPr marL="0" indent="0" algn="l">
              <a:lnSpc>
                <a:spcPct val="104000"/>
              </a:lnSpc>
              <a:buNone/>
            </a:pPr>
            <a:r>
              <a:rPr lang="en-US" sz="1300" dirty="0">
                <a:solidFill>
                  <a:srgbClr val="3C3939"/>
                </a:solidFill>
                <a:latin typeface="Raleway" pitchFamily="34" charset="0"/>
                <a:ea typeface="Raleway" pitchFamily="34" charset="-122"/>
                <a:cs typeface="Raleway" pitchFamily="34" charset="-120"/>
              </a:rPr>
              <a:t>Reported results</a:t>
            </a:r>
            <a:endParaRPr lang="en-US" sz="1300" dirty="0"/>
          </a:p>
        </p:txBody>
      </p:sp>
      <p:sp>
        <p:nvSpPr>
          <p:cNvPr id="7" name="Text 5"/>
          <p:cNvSpPr/>
          <p:nvPr/>
        </p:nvSpPr>
        <p:spPr>
          <a:xfrm>
            <a:off x="4771951" y="896689"/>
            <a:ext cx="3738265" cy="3445073"/>
          </a:xfrm>
          <a:prstGeom prst="rect">
            <a:avLst/>
          </a:prstGeom>
          <a:noFill/>
          <a:ln/>
        </p:spPr>
        <p:txBody>
          <a:bodyPr wrap="square" lIns="0" tIns="0" rIns="0" bIns="0" rtlCol="0" anchor="t">
            <a:normAutofit/>
          </a:bodyPr>
          <a:lstStyle/>
          <a:p>
            <a:pPr marL="0" indent="0" algn="l">
              <a:lnSpc>
                <a:spcPct val="129000"/>
              </a:lnSpc>
              <a:buNone/>
            </a:pPr>
            <a:r>
              <a:rPr lang="en-US" sz="1000" dirty="0">
                <a:solidFill>
                  <a:srgbClr val="3C3939"/>
                </a:solidFill>
                <a:latin typeface="Roboto" pitchFamily="34" charset="0"/>
                <a:ea typeface="Roboto" pitchFamily="34" charset="-122"/>
                <a:cs typeface="Roboto" pitchFamily="34" charset="-120"/>
              </a:rPr>
              <a:t>WiFi heatmap environment model: </a:t>
            </a:r>
            <a:r>
              <a:rPr lang="en-US" sz="1000" b="1" dirty="0">
                <a:solidFill>
                  <a:srgbClr val="3C3939"/>
                </a:solidFill>
                <a:latin typeface="Roboto" pitchFamily="34" charset="0"/>
                <a:ea typeface="Roboto" pitchFamily="34" charset="-122"/>
                <a:cs typeface="Roboto" pitchFamily="34" charset="-120"/>
              </a:rPr>
              <a:t>MAE 1.43 m</a:t>
            </a:r>
            <a:r>
              <a:rPr lang="en-US" sz="1000" dirty="0">
                <a:solidFill>
                  <a:srgbClr val="3C3939"/>
                </a:solidFill>
                <a:latin typeface="Roboto" pitchFamily="34" charset="0"/>
                <a:ea typeface="Roboto" pitchFamily="34" charset="-122"/>
                <a:cs typeface="Roboto" pitchFamily="34" charset="-120"/>
              </a:rPr>
              <a:t> on the random split and </a:t>
            </a:r>
            <a:r>
              <a:rPr lang="en-US" sz="1000" b="1" dirty="0">
                <a:solidFill>
                  <a:srgbClr val="3C3939"/>
                </a:solidFill>
                <a:latin typeface="Roboto" pitchFamily="34" charset="0"/>
                <a:ea typeface="Roboto" pitchFamily="34" charset="-122"/>
                <a:cs typeface="Roboto" pitchFamily="34" charset="-120"/>
              </a:rPr>
              <a:t>2.02 m</a:t>
            </a:r>
            <a:r>
              <a:rPr lang="en-US" sz="1000" dirty="0">
                <a:solidFill>
                  <a:srgbClr val="3C3939"/>
                </a:solidFill>
                <a:latin typeface="Roboto" pitchFamily="34" charset="0"/>
                <a:ea typeface="Roboto" pitchFamily="34" charset="-122"/>
                <a:cs typeface="Roboto" pitchFamily="34" charset="-120"/>
              </a:rPr>
              <a:t> on the held-out device (S9+), a </a:t>
            </a:r>
            <a:r>
              <a:rPr lang="en-US" sz="1000" b="1" dirty="0">
                <a:solidFill>
                  <a:srgbClr val="3C3939"/>
                </a:solidFill>
                <a:latin typeface="Roboto" pitchFamily="34" charset="0"/>
                <a:ea typeface="Roboto" pitchFamily="34" charset="-122"/>
                <a:cs typeface="Roboto" pitchFamily="34" charset="-120"/>
              </a:rPr>
              <a:t>2.5× improvement</a:t>
            </a:r>
            <a:r>
              <a:rPr lang="en-US" sz="1000" dirty="0">
                <a:solidFill>
                  <a:srgbClr val="3C3939"/>
                </a:solidFill>
                <a:latin typeface="Roboto" pitchFamily="34" charset="0"/>
                <a:ea typeface="Roboto" pitchFamily="34" charset="-122"/>
                <a:cs typeface="Roboto" pitchFamily="34" charset="-120"/>
              </a:rPr>
              <a:t> over the best earlier model (</a:t>
            </a:r>
            <a:r>
              <a:rPr lang="en-US" sz="1000" b="1" dirty="0">
                <a:solidFill>
                  <a:srgbClr val="3C3939"/>
                </a:solidFill>
                <a:latin typeface="Roboto" pitchFamily="34" charset="0"/>
                <a:ea typeface="Roboto" pitchFamily="34" charset="-122"/>
                <a:cs typeface="Roboto" pitchFamily="34" charset="-120"/>
              </a:rPr>
              <a:t>3.64 m</a:t>
            </a:r>
            <a:r>
              <a:rPr lang="en-US" sz="1000" dirty="0">
                <a:solidFill>
                  <a:srgbClr val="3C3939"/>
                </a:solidFill>
                <a:latin typeface="Roboto" pitchFamily="34" charset="0"/>
                <a:ea typeface="Roboto" pitchFamily="34" charset="-122"/>
                <a:cs typeface="Roboto" pitchFamily="34" charset="-120"/>
              </a:rPr>
              <a:t>). The random split evaluates generalization to unseen visits of the same nodes, while the held-out-device split tests generalization to an unseen phone; both are strong results.</a:t>
            </a:r>
            <a:endParaRPr lang="en-US" sz="1000" dirty="0"/>
          </a:p>
          <a:p>
            <a:pPr marL="0" indent="0" algn="l">
              <a:lnSpc>
                <a:spcPct val="129000"/>
              </a:lnSpc>
              <a:buNone/>
            </a:pPr>
            <a:r>
              <a:rPr lang="en-US" sz="1000" dirty="0">
                <a:solidFill>
                  <a:srgbClr val="3C3939"/>
                </a:solidFill>
                <a:latin typeface="Roboto" pitchFamily="34" charset="0"/>
                <a:ea typeface="Roboto" pitchFamily="34" charset="-122"/>
                <a:cs typeface="Roboto" pitchFamily="34" charset="-120"/>
              </a:rPr>
              <a:t>The online magnetometer normalizer reduced cross-device </a:t>
            </a:r>
            <a:r>
              <a:rPr lang="en-US" sz="1000" b="1" dirty="0">
                <a:solidFill>
                  <a:srgbClr val="3C3939"/>
                </a:solidFill>
                <a:latin typeface="Roboto" pitchFamily="34" charset="0"/>
                <a:ea typeface="Roboto" pitchFamily="34" charset="-122"/>
                <a:cs typeface="Roboto" pitchFamily="34" charset="-120"/>
              </a:rPr>
              <a:t>‖M‖</a:t>
            </a:r>
            <a:r>
              <a:rPr lang="en-US" sz="1000" dirty="0">
                <a:solidFill>
                  <a:srgbClr val="3C3939"/>
                </a:solidFill>
                <a:latin typeface="Roboto" pitchFamily="34" charset="0"/>
                <a:ea typeface="Roboto" pitchFamily="34" charset="-122"/>
                <a:cs typeface="Roboto" pitchFamily="34" charset="-120"/>
              </a:rPr>
              <a:t> spread by about </a:t>
            </a:r>
            <a:r>
              <a:rPr lang="en-US" sz="1000" b="1" dirty="0">
                <a:solidFill>
                  <a:srgbClr val="3C3939"/>
                </a:solidFill>
                <a:latin typeface="Roboto" pitchFamily="34" charset="0"/>
                <a:ea typeface="Roboto" pitchFamily="34" charset="-122"/>
                <a:cs typeface="Roboto" pitchFamily="34" charset="-120"/>
              </a:rPr>
              <a:t>3×</a:t>
            </a:r>
            <a:r>
              <a:rPr lang="en-US" sz="1000" dirty="0">
                <a:solidFill>
                  <a:srgbClr val="3C3939"/>
                </a:solidFill>
                <a:latin typeface="Roboto" pitchFamily="34" charset="0"/>
                <a:ea typeface="Roboto" pitchFamily="34" charset="-122"/>
                <a:cs typeface="Roboto" pitchFamily="34" charset="-120"/>
              </a:rPr>
              <a:t>. This was validated by running the normalizer on all four continuous walks and measuring the standard deviation of </a:t>
            </a:r>
            <a:r>
              <a:rPr lang="en-US" sz="1000" b="1" dirty="0">
                <a:solidFill>
                  <a:srgbClr val="3C3939"/>
                </a:solidFill>
                <a:latin typeface="Roboto" pitchFamily="34" charset="0"/>
                <a:ea typeface="Roboto" pitchFamily="34" charset="-122"/>
                <a:cs typeface="Roboto" pitchFamily="34" charset="-120"/>
              </a:rPr>
              <a:t>‖M‖</a:t>
            </a:r>
            <a:r>
              <a:rPr lang="en-US" sz="1000" dirty="0">
                <a:solidFill>
                  <a:srgbClr val="3C3939"/>
                </a:solidFill>
                <a:latin typeface="Roboto" pitchFamily="34" charset="0"/>
                <a:ea typeface="Roboto" pitchFamily="34" charset="-122"/>
                <a:cs typeface="Roboto" pitchFamily="34" charset="-120"/>
              </a:rPr>
              <a:t> across devices before and after calibration.</a:t>
            </a:r>
            <a:endParaRPr lang="en-US" sz="1000" dirty="0"/>
          </a:p>
          <a:p>
            <a:pPr marL="0" indent="0" algn="l">
              <a:lnSpc>
                <a:spcPct val="129000"/>
              </a:lnSpc>
              <a:buNone/>
            </a:pPr>
            <a:r>
              <a:rPr lang="en-US" sz="1000" dirty="0">
                <a:solidFill>
                  <a:srgbClr val="3C3939"/>
                </a:solidFill>
                <a:latin typeface="Roboto" pitchFamily="34" charset="0"/>
                <a:ea typeface="Roboto" pitchFamily="34" charset="-122"/>
                <a:cs typeface="Roboto" pitchFamily="34" charset="-120"/>
              </a:rPr>
              <a:t>Causal PDR achieves about </a:t>
            </a:r>
            <a:r>
              <a:rPr lang="en-US" sz="1000" b="1" dirty="0">
                <a:solidFill>
                  <a:srgbClr val="3C3939"/>
                </a:solidFill>
                <a:latin typeface="Roboto" pitchFamily="34" charset="0"/>
                <a:ea typeface="Roboto" pitchFamily="34" charset="-122"/>
                <a:cs typeface="Roboto" pitchFamily="34" charset="-120"/>
              </a:rPr>
              <a:t>1.5 m</a:t>
            </a:r>
            <a:r>
              <a:rPr lang="en-US" sz="1000" dirty="0">
                <a:solidFill>
                  <a:srgbClr val="3C3939"/>
                </a:solidFill>
                <a:latin typeface="Roboto" pitchFamily="34" charset="0"/>
                <a:ea typeface="Roboto" pitchFamily="34" charset="-122"/>
                <a:cs typeface="Roboto" pitchFamily="34" charset="-120"/>
              </a:rPr>
              <a:t> short-walk MAE. That drift on long walks is expected and unavoidable without the WiFi anchor: PDR is the smooth, causal motion model, while the WiFi heatmap provides the drift-free correction every </a:t>
            </a:r>
            <a:r>
              <a:rPr lang="en-US" sz="1000" b="1" dirty="0">
                <a:solidFill>
                  <a:srgbClr val="3C3939"/>
                </a:solidFill>
                <a:latin typeface="Roboto" pitchFamily="34" charset="0"/>
                <a:ea typeface="Roboto" pitchFamily="34" charset="-122"/>
                <a:cs typeface="Roboto" pitchFamily="34" charset="-120"/>
              </a:rPr>
              <a:t>~1 second</a:t>
            </a:r>
            <a:r>
              <a:rPr lang="en-US" sz="1000" dirty="0">
                <a:solidFill>
                  <a:srgbClr val="3C3939"/>
                </a:solidFill>
                <a:latin typeface="Roboto" pitchFamily="34" charset="0"/>
                <a:ea typeface="Roboto" pitchFamily="34" charset="-122"/>
                <a:cs typeface="Roboto" pitchFamily="34" charset="-120"/>
              </a:rPr>
              <a:t>.</a:t>
            </a:r>
            <a:endParaRPr lang="en-US" sz="1000" dirty="0"/>
          </a:p>
        </p:txBody>
      </p:sp>
      <mc:AlternateContent xmlns:mc="http://schemas.openxmlformats.org/markup-compatibility/2006">
        <mc:Choice xmlns:p14="http://schemas.microsoft.com/office/powerpoint/2010/main" Requires="p14">
          <p:contentPart p14:bwMode="auto" r:id="rId3">
            <p14:nvContentPartPr>
              <p14:cNvPr id="8" name="Ink 7">
                <a:extLst>
                  <a:ext uri="{FF2B5EF4-FFF2-40B4-BE49-F238E27FC236}">
                    <a16:creationId xmlns:a16="http://schemas.microsoft.com/office/drawing/2014/main" id="{4EAF291B-615B-B1C1-46C4-1047D1573B76}"/>
                  </a:ext>
                </a:extLst>
              </p14:cNvPr>
              <p14:cNvContentPartPr/>
              <p14:nvPr/>
            </p14:nvContentPartPr>
            <p14:xfrm>
              <a:off x="7736650" y="4875398"/>
              <a:ext cx="738360" cy="73080"/>
            </p14:xfrm>
          </p:contentPart>
        </mc:Choice>
        <mc:Fallback>
          <p:pic>
            <p:nvPicPr>
              <p:cNvPr id="8" name="Ink 7">
                <a:extLst>
                  <a:ext uri="{FF2B5EF4-FFF2-40B4-BE49-F238E27FC236}">
                    <a16:creationId xmlns:a16="http://schemas.microsoft.com/office/drawing/2014/main" id="{4EAF291B-615B-B1C1-46C4-1047D1573B76}"/>
                  </a:ext>
                </a:extLst>
              </p:cNvPr>
              <p:cNvPicPr/>
              <p:nvPr/>
            </p:nvPicPr>
            <p:blipFill>
              <a:blip r:embed="rId4"/>
              <a:stretch>
                <a:fillRect/>
              </a:stretch>
            </p:blipFill>
            <p:spPr>
              <a:xfrm>
                <a:off x="7682650" y="4767758"/>
                <a:ext cx="846000" cy="28872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9" name="Ink 8">
                <a:extLst>
                  <a:ext uri="{FF2B5EF4-FFF2-40B4-BE49-F238E27FC236}">
                    <a16:creationId xmlns:a16="http://schemas.microsoft.com/office/drawing/2014/main" id="{A65EF145-5BAF-66E7-2412-545204467F31}"/>
                  </a:ext>
                </a:extLst>
              </p14:cNvPr>
              <p14:cNvContentPartPr/>
              <p14:nvPr/>
            </p14:nvContentPartPr>
            <p14:xfrm>
              <a:off x="8475730" y="4895929"/>
              <a:ext cx="398520" cy="71280"/>
            </p14:xfrm>
          </p:contentPart>
        </mc:Choice>
        <mc:Fallback>
          <p:pic>
            <p:nvPicPr>
              <p:cNvPr id="9" name="Ink 8">
                <a:extLst>
                  <a:ext uri="{FF2B5EF4-FFF2-40B4-BE49-F238E27FC236}">
                    <a16:creationId xmlns:a16="http://schemas.microsoft.com/office/drawing/2014/main" id="{A65EF145-5BAF-66E7-2412-545204467F31}"/>
                  </a:ext>
                </a:extLst>
              </p:cNvPr>
              <p:cNvPicPr/>
              <p:nvPr/>
            </p:nvPicPr>
            <p:blipFill>
              <a:blip r:embed="rId6"/>
              <a:stretch>
                <a:fillRect/>
              </a:stretch>
            </p:blipFill>
            <p:spPr>
              <a:xfrm>
                <a:off x="8422090" y="4788289"/>
                <a:ext cx="506160" cy="28692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10" name="Ink 9">
                <a:extLst>
                  <a:ext uri="{FF2B5EF4-FFF2-40B4-BE49-F238E27FC236}">
                    <a16:creationId xmlns:a16="http://schemas.microsoft.com/office/drawing/2014/main" id="{31A613A5-2860-57AB-4F5B-78E75AEB7DBA}"/>
                  </a:ext>
                </a:extLst>
              </p14:cNvPr>
              <p14:cNvContentPartPr/>
              <p14:nvPr/>
            </p14:nvContentPartPr>
            <p14:xfrm>
              <a:off x="7652770" y="4291849"/>
              <a:ext cx="1069920" cy="675720"/>
            </p14:xfrm>
          </p:contentPart>
        </mc:Choice>
        <mc:Fallback>
          <p:pic>
            <p:nvPicPr>
              <p:cNvPr id="10" name="Ink 9">
                <a:extLst>
                  <a:ext uri="{FF2B5EF4-FFF2-40B4-BE49-F238E27FC236}">
                    <a16:creationId xmlns:a16="http://schemas.microsoft.com/office/drawing/2014/main" id="{31A613A5-2860-57AB-4F5B-78E75AEB7DBA}"/>
                  </a:ext>
                </a:extLst>
              </p:cNvPr>
              <p:cNvPicPr/>
              <p:nvPr/>
            </p:nvPicPr>
            <p:blipFill>
              <a:blip r:embed="rId8"/>
              <a:stretch>
                <a:fillRect/>
              </a:stretch>
            </p:blipFill>
            <p:spPr>
              <a:xfrm>
                <a:off x="7598770" y="4184209"/>
                <a:ext cx="1177560" cy="89136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11" name="Ink 10">
                <a:extLst>
                  <a:ext uri="{FF2B5EF4-FFF2-40B4-BE49-F238E27FC236}">
                    <a16:creationId xmlns:a16="http://schemas.microsoft.com/office/drawing/2014/main" id="{06E9AE13-95A4-2CA1-BB21-78F3F3D0AB24}"/>
                  </a:ext>
                </a:extLst>
              </p14:cNvPr>
              <p14:cNvContentPartPr/>
              <p14:nvPr/>
            </p14:nvContentPartPr>
            <p14:xfrm>
              <a:off x="8021050" y="4853449"/>
              <a:ext cx="1022760" cy="199080"/>
            </p14:xfrm>
          </p:contentPart>
        </mc:Choice>
        <mc:Fallback>
          <p:pic>
            <p:nvPicPr>
              <p:cNvPr id="11" name="Ink 10">
                <a:extLst>
                  <a:ext uri="{FF2B5EF4-FFF2-40B4-BE49-F238E27FC236}">
                    <a16:creationId xmlns:a16="http://schemas.microsoft.com/office/drawing/2014/main" id="{06E9AE13-95A4-2CA1-BB21-78F3F3D0AB24}"/>
                  </a:ext>
                </a:extLst>
              </p:cNvPr>
              <p:cNvPicPr/>
              <p:nvPr/>
            </p:nvPicPr>
            <p:blipFill>
              <a:blip r:embed="rId10"/>
              <a:stretch>
                <a:fillRect/>
              </a:stretch>
            </p:blipFill>
            <p:spPr>
              <a:xfrm>
                <a:off x="7958410" y="4790809"/>
                <a:ext cx="1148400" cy="324720"/>
              </a:xfrm>
              <a:prstGeom prst="rect">
                <a:avLst/>
              </a:prstGeom>
            </p:spPr>
          </p:pic>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980182" y="449014"/>
            <a:ext cx="6237089" cy="325338"/>
          </a:xfrm>
          <a:prstGeom prst="rect">
            <a:avLst/>
          </a:prstGeom>
          <a:noFill/>
          <a:ln/>
        </p:spPr>
        <p:txBody>
          <a:bodyPr wrap="none" lIns="0" tIns="0" rIns="0" bIns="0" rtlCol="0" anchor="t"/>
          <a:lstStyle/>
          <a:p>
            <a:pPr marL="0" indent="0" algn="l">
              <a:lnSpc>
                <a:spcPct val="104000"/>
              </a:lnSpc>
              <a:buNone/>
            </a:pPr>
            <a:r>
              <a:rPr lang="en-US" sz="2000" dirty="0">
                <a:solidFill>
                  <a:srgbClr val="1B1B27"/>
                </a:solidFill>
                <a:latin typeface="Raleway" pitchFamily="34" charset="0"/>
                <a:ea typeface="Raleway" pitchFamily="34" charset="-122"/>
                <a:cs typeface="Raleway" pitchFamily="34" charset="-120"/>
              </a:rPr>
              <a:t>3.64m to 1.43m - Evolution of Positioning Models</a:t>
            </a:r>
            <a:endParaRPr lang="en-US" sz="2000" dirty="0"/>
          </a:p>
        </p:txBody>
      </p:sp>
      <p:sp>
        <p:nvSpPr>
          <p:cNvPr id="3" name="Shape 1"/>
          <p:cNvSpPr/>
          <p:nvPr/>
        </p:nvSpPr>
        <p:spPr>
          <a:xfrm>
            <a:off x="980182" y="889025"/>
            <a:ext cx="7183562" cy="1426443"/>
          </a:xfrm>
          <a:prstGeom prst="roundRect">
            <a:avLst>
              <a:gd name="adj" fmla="val 3065"/>
            </a:avLst>
          </a:prstGeom>
          <a:solidFill>
            <a:srgbClr val="E1E1EA"/>
          </a:solidFill>
          <a:ln w="4763">
            <a:solidFill>
              <a:srgbClr val="C7C7D0"/>
            </a:solidFill>
            <a:prstDash val="solid"/>
          </a:ln>
        </p:spPr>
        <p:txBody>
          <a:bodyPr/>
          <a:lstStyle/>
          <a:p>
            <a:endParaRPr lang="en-IN"/>
          </a:p>
        </p:txBody>
      </p:sp>
      <p:sp>
        <p:nvSpPr>
          <p:cNvPr id="4" name="Shape 2"/>
          <p:cNvSpPr/>
          <p:nvPr/>
        </p:nvSpPr>
        <p:spPr>
          <a:xfrm>
            <a:off x="984945" y="893787"/>
            <a:ext cx="3586981" cy="1416918"/>
          </a:xfrm>
          <a:prstGeom prst="rect">
            <a:avLst/>
          </a:prstGeom>
          <a:solidFill>
            <a:srgbClr val="E1E1EA"/>
          </a:solidFill>
          <a:ln/>
        </p:spPr>
        <p:txBody>
          <a:bodyPr/>
          <a:lstStyle/>
          <a:p>
            <a:endParaRPr lang="en-IN"/>
          </a:p>
        </p:txBody>
      </p:sp>
      <p:sp>
        <p:nvSpPr>
          <p:cNvPr id="5" name="Text 3"/>
          <p:cNvSpPr/>
          <p:nvPr/>
        </p:nvSpPr>
        <p:spPr>
          <a:xfrm>
            <a:off x="1089050" y="997893"/>
            <a:ext cx="1928143" cy="162669"/>
          </a:xfrm>
          <a:prstGeom prst="rect">
            <a:avLst/>
          </a:prstGeom>
          <a:noFill/>
          <a:ln/>
        </p:spPr>
        <p:txBody>
          <a:bodyPr wrap="none" lIns="0" tIns="0" rIns="0" bIns="0" rtlCol="0" anchor="t"/>
          <a:lstStyle/>
          <a:p>
            <a:pPr marL="0" indent="0" algn="l">
              <a:lnSpc>
                <a:spcPct val="104000"/>
              </a:lnSpc>
              <a:buNone/>
            </a:pPr>
            <a:r>
              <a:rPr lang="en-US" sz="1000" dirty="0">
                <a:solidFill>
                  <a:srgbClr val="3C3939"/>
                </a:solidFill>
                <a:latin typeface="Raleway" pitchFamily="34" charset="0"/>
                <a:ea typeface="Raleway" pitchFamily="34" charset="-122"/>
                <a:cs typeface="Raleway" pitchFamily="34" charset="-120"/>
              </a:rPr>
              <a:t>Initial Models (3.64–6.36 m MAE)</a:t>
            </a:r>
            <a:endParaRPr lang="en-US" sz="1000" dirty="0"/>
          </a:p>
        </p:txBody>
      </p:sp>
      <p:sp>
        <p:nvSpPr>
          <p:cNvPr id="6" name="Text 4"/>
          <p:cNvSpPr/>
          <p:nvPr/>
        </p:nvSpPr>
        <p:spPr>
          <a:xfrm>
            <a:off x="1089050" y="1206401"/>
            <a:ext cx="3378771" cy="802332"/>
          </a:xfrm>
          <a:prstGeom prst="rect">
            <a:avLst/>
          </a:prstGeom>
          <a:noFill/>
          <a:ln/>
        </p:spPr>
        <p:txBody>
          <a:bodyPr wrap="square" lIns="0" tIns="0" rIns="0" bIns="0" rtlCol="0" anchor="t">
            <a:normAutofit lnSpcReduction="10000"/>
          </a:bodyPr>
          <a:lstStyle/>
          <a:p>
            <a:pPr marL="342900" indent="-342900" algn="l">
              <a:lnSpc>
                <a:spcPct val="116000"/>
              </a:lnSpc>
              <a:buSzPct val="100000"/>
              <a:buChar char="•"/>
            </a:pPr>
            <a:r>
              <a:rPr lang="en-US" sz="800" dirty="0">
                <a:solidFill>
                  <a:srgbClr val="3C3939"/>
                </a:solidFill>
                <a:latin typeface="Roboto" pitchFamily="34" charset="0"/>
                <a:ea typeface="Roboto" pitchFamily="34" charset="-122"/>
                <a:cs typeface="Roboto" pitchFamily="34" charset="-120"/>
              </a:rPr>
              <a:t>Model 1 (CNN-LSTM): 5.04 m — Non-causal, bidirectional look-ahead</a:t>
            </a:r>
            <a:endParaRPr lang="en-US" sz="800" dirty="0"/>
          </a:p>
          <a:p>
            <a:pPr marL="342900" indent="-342900" algn="l">
              <a:lnSpc>
                <a:spcPct val="116000"/>
              </a:lnSpc>
              <a:buSzPct val="100000"/>
              <a:buChar char="•"/>
            </a:pPr>
            <a:r>
              <a:rPr lang="en-US" sz="800" dirty="0">
                <a:solidFill>
                  <a:srgbClr val="3C3939"/>
                </a:solidFill>
                <a:latin typeface="Roboto" pitchFamily="34" charset="0"/>
                <a:ea typeface="Roboto" pitchFamily="34" charset="-122"/>
                <a:cs typeface="Roboto" pitchFamily="34" charset="-120"/>
              </a:rPr>
              <a:t>Model 2 (Causal Hybrid): 3.64 m — Causal but memorizes route</a:t>
            </a:r>
            <a:endParaRPr lang="en-US" sz="800" dirty="0"/>
          </a:p>
          <a:p>
            <a:pPr marL="342900" indent="-342900" algn="l">
              <a:lnSpc>
                <a:spcPct val="116000"/>
              </a:lnSpc>
              <a:buSzPct val="100000"/>
              <a:buChar char="•"/>
            </a:pPr>
            <a:r>
              <a:rPr lang="en-US" sz="800" dirty="0">
                <a:solidFill>
                  <a:srgbClr val="3C3939"/>
                </a:solidFill>
                <a:latin typeface="Roboto" pitchFamily="34" charset="0"/>
                <a:ea typeface="Roboto" pitchFamily="34" charset="-122"/>
                <a:cs typeface="Roboto" pitchFamily="34" charset="-120"/>
              </a:rPr>
              <a:t>Model 3 (Environment): 6.36 m → 63 m reversed — Direction-dependent features</a:t>
            </a:r>
            <a:endParaRPr lang="en-US" sz="800" dirty="0"/>
          </a:p>
          <a:p>
            <a:pPr marL="342900" indent="-342900" algn="l">
              <a:lnSpc>
                <a:spcPct val="116000"/>
              </a:lnSpc>
              <a:buSzPct val="100000"/>
              <a:buChar char="•"/>
            </a:pPr>
            <a:r>
              <a:rPr lang="en-US" sz="800" dirty="0">
                <a:solidFill>
                  <a:srgbClr val="3C3939"/>
                </a:solidFill>
                <a:latin typeface="Roboto" pitchFamily="34" charset="0"/>
                <a:ea typeface="Roboto" pitchFamily="34" charset="-122"/>
                <a:cs typeface="Roboto" pitchFamily="34" charset="-120"/>
              </a:rPr>
              <a:t>Model 4 (Neural EKF): 4.29 m — Learned fusion, still memorizes</a:t>
            </a:r>
            <a:endParaRPr lang="en-US" sz="800" dirty="0"/>
          </a:p>
        </p:txBody>
      </p:sp>
      <p:sp>
        <p:nvSpPr>
          <p:cNvPr id="7" name="Shape 5"/>
          <p:cNvSpPr/>
          <p:nvPr/>
        </p:nvSpPr>
        <p:spPr>
          <a:xfrm>
            <a:off x="4571926" y="893787"/>
            <a:ext cx="3587055" cy="1416918"/>
          </a:xfrm>
          <a:prstGeom prst="rect">
            <a:avLst/>
          </a:prstGeom>
          <a:solidFill>
            <a:srgbClr val="E1E1EA"/>
          </a:solidFill>
          <a:ln/>
        </p:spPr>
        <p:txBody>
          <a:bodyPr/>
          <a:lstStyle/>
          <a:p>
            <a:endParaRPr lang="en-IN"/>
          </a:p>
        </p:txBody>
      </p:sp>
      <p:sp>
        <p:nvSpPr>
          <p:cNvPr id="8" name="Shape 6"/>
          <p:cNvSpPr/>
          <p:nvPr/>
        </p:nvSpPr>
        <p:spPr>
          <a:xfrm>
            <a:off x="4571926" y="893787"/>
            <a:ext cx="14288" cy="1416918"/>
          </a:xfrm>
          <a:prstGeom prst="roundRect">
            <a:avLst>
              <a:gd name="adj" fmla="val 306036"/>
            </a:avLst>
          </a:prstGeom>
          <a:solidFill>
            <a:srgbClr val="C7C7D0"/>
          </a:solidFill>
          <a:ln/>
        </p:spPr>
        <p:txBody>
          <a:bodyPr/>
          <a:lstStyle/>
          <a:p>
            <a:endParaRPr lang="en-IN"/>
          </a:p>
        </p:txBody>
      </p:sp>
      <p:sp>
        <p:nvSpPr>
          <p:cNvPr id="9" name="Text 7"/>
          <p:cNvSpPr/>
          <p:nvPr/>
        </p:nvSpPr>
        <p:spPr>
          <a:xfrm>
            <a:off x="4676031" y="997893"/>
            <a:ext cx="1301353" cy="162669"/>
          </a:xfrm>
          <a:prstGeom prst="rect">
            <a:avLst/>
          </a:prstGeom>
          <a:noFill/>
          <a:ln/>
        </p:spPr>
        <p:txBody>
          <a:bodyPr wrap="none" lIns="0" tIns="0" rIns="0" bIns="0" rtlCol="0" anchor="t"/>
          <a:lstStyle/>
          <a:p>
            <a:pPr marL="0" indent="0" algn="l">
              <a:lnSpc>
                <a:spcPct val="104000"/>
              </a:lnSpc>
              <a:buNone/>
            </a:pPr>
            <a:r>
              <a:rPr lang="en-US" sz="1000" dirty="0">
                <a:solidFill>
                  <a:srgbClr val="3C3939"/>
                </a:solidFill>
                <a:latin typeface="Raleway" pitchFamily="34" charset="0"/>
                <a:ea typeface="Raleway" pitchFamily="34" charset="-122"/>
                <a:cs typeface="Raleway" pitchFamily="34" charset="-120"/>
              </a:rPr>
              <a:t>Current (1.43 m MAE)</a:t>
            </a:r>
            <a:endParaRPr lang="en-US" sz="1000" dirty="0"/>
          </a:p>
        </p:txBody>
      </p:sp>
      <p:sp>
        <p:nvSpPr>
          <p:cNvPr id="10" name="Text 8"/>
          <p:cNvSpPr/>
          <p:nvPr/>
        </p:nvSpPr>
        <p:spPr>
          <a:xfrm>
            <a:off x="4676031" y="1206401"/>
            <a:ext cx="3378845" cy="1000199"/>
          </a:xfrm>
          <a:prstGeom prst="rect">
            <a:avLst/>
          </a:prstGeom>
          <a:noFill/>
          <a:ln/>
        </p:spPr>
        <p:txBody>
          <a:bodyPr wrap="square" lIns="0" tIns="0" rIns="0" bIns="0" rtlCol="0" anchor="t">
            <a:normAutofit/>
          </a:bodyPr>
          <a:lstStyle/>
          <a:p>
            <a:pPr marL="342900" indent="-342900" algn="l">
              <a:lnSpc>
                <a:spcPct val="116000"/>
              </a:lnSpc>
              <a:buSzPct val="100000"/>
              <a:buChar char="•"/>
            </a:pPr>
            <a:r>
              <a:rPr lang="en-US" sz="800" dirty="0">
                <a:solidFill>
                  <a:srgbClr val="3C3939"/>
                </a:solidFill>
                <a:latin typeface="Roboto" pitchFamily="34" charset="0"/>
                <a:ea typeface="Roboto" pitchFamily="34" charset="-122"/>
                <a:cs typeface="Roboto" pitchFamily="34" charset="-120"/>
              </a:rPr>
              <a:t>Model 5 (WiFi Heatmap): 1.43 m random, 2.02 m held-out device</a:t>
            </a:r>
            <a:endParaRPr lang="en-US" sz="800" dirty="0"/>
          </a:p>
          <a:p>
            <a:pPr marL="342900" indent="-342900" algn="l">
              <a:lnSpc>
                <a:spcPct val="116000"/>
              </a:lnSpc>
              <a:buSzPct val="100000"/>
              <a:buChar char="•"/>
            </a:pPr>
            <a:r>
              <a:rPr lang="en-US" sz="800" dirty="0">
                <a:solidFill>
                  <a:srgbClr val="3C3939"/>
                </a:solidFill>
                <a:latin typeface="Roboto" pitchFamily="34" charset="0"/>
                <a:ea typeface="Roboto" pitchFamily="34" charset="-122"/>
                <a:cs typeface="Roboto" pitchFamily="34" charset="-120"/>
              </a:rPr>
              <a:t>2.5× improvement over best prior model</a:t>
            </a:r>
            <a:endParaRPr lang="en-US" sz="800" dirty="0"/>
          </a:p>
          <a:p>
            <a:pPr marL="342900" indent="-342900" algn="l">
              <a:lnSpc>
                <a:spcPct val="116000"/>
              </a:lnSpc>
              <a:buSzPct val="100000"/>
              <a:buChar char="•"/>
            </a:pPr>
            <a:r>
              <a:rPr lang="en-US" sz="800" dirty="0">
                <a:solidFill>
                  <a:srgbClr val="3C3939"/>
                </a:solidFill>
                <a:latin typeface="Roboto" pitchFamily="34" charset="0"/>
                <a:ea typeface="Roboto" pitchFamily="34" charset="-122"/>
                <a:cs typeface="Roboto" pitchFamily="34" charset="-120"/>
              </a:rPr>
              <a:t>Trains on real static data (538 node visits)</a:t>
            </a:r>
            <a:endParaRPr lang="en-US" sz="800" dirty="0"/>
          </a:p>
          <a:p>
            <a:pPr marL="342900" indent="-342900" algn="l">
              <a:lnSpc>
                <a:spcPct val="116000"/>
              </a:lnSpc>
              <a:buSzPct val="100000"/>
              <a:buChar char="•"/>
            </a:pPr>
            <a:r>
              <a:rPr lang="en-US" sz="800" dirty="0">
                <a:solidFill>
                  <a:srgbClr val="3C3939"/>
                </a:solidFill>
                <a:latin typeface="Roboto" pitchFamily="34" charset="0"/>
                <a:ea typeface="Roboto" pitchFamily="34" charset="-122"/>
                <a:cs typeface="Roboto" pitchFamily="34" charset="-120"/>
              </a:rPr>
              <a:t>Outputs probability heatmap (not single point)</a:t>
            </a:r>
            <a:endParaRPr lang="en-US" sz="800" dirty="0"/>
          </a:p>
          <a:p>
            <a:pPr marL="342900" indent="-342900" algn="l">
              <a:lnSpc>
                <a:spcPct val="116000"/>
              </a:lnSpc>
              <a:buSzPct val="100000"/>
              <a:buChar char="•"/>
            </a:pPr>
            <a:r>
              <a:rPr lang="en-US" sz="800" dirty="0">
                <a:solidFill>
                  <a:srgbClr val="3C3939"/>
                </a:solidFill>
                <a:latin typeface="Roboto" pitchFamily="34" charset="0"/>
                <a:ea typeface="Roboto" pitchFamily="34" charset="-122"/>
                <a:cs typeface="Roboto" pitchFamily="34" charset="-120"/>
              </a:rPr>
              <a:t>Trivially direction-invariant (per-frame processing)</a:t>
            </a:r>
            <a:endParaRPr lang="en-US" sz="800" dirty="0"/>
          </a:p>
          <a:p>
            <a:pPr marL="342900" indent="-342900" algn="l">
              <a:lnSpc>
                <a:spcPct val="116000"/>
              </a:lnSpc>
              <a:buSzPct val="100000"/>
              <a:buChar char="•"/>
            </a:pPr>
            <a:r>
              <a:rPr lang="en-US" sz="800" dirty="0">
                <a:solidFill>
                  <a:srgbClr val="3C3939"/>
                </a:solidFill>
                <a:latin typeface="Roboto" pitchFamily="34" charset="0"/>
                <a:ea typeface="Roboto" pitchFamily="34" charset="-122"/>
                <a:cs typeface="Roboto" pitchFamily="34" charset="-120"/>
              </a:rPr>
              <a:t>Cannot memorize route (no trajectory training)</a:t>
            </a:r>
            <a:endParaRPr lang="en-US" sz="800" dirty="0"/>
          </a:p>
        </p:txBody>
      </p:sp>
      <p:sp>
        <p:nvSpPr>
          <p:cNvPr id="11" name="Shape 9"/>
          <p:cNvSpPr/>
          <p:nvPr/>
        </p:nvSpPr>
        <p:spPr>
          <a:xfrm>
            <a:off x="980182" y="2401416"/>
            <a:ext cx="7183562" cy="1256779"/>
          </a:xfrm>
          <a:prstGeom prst="roundRect">
            <a:avLst>
              <a:gd name="adj" fmla="val 3479"/>
            </a:avLst>
          </a:prstGeom>
          <a:noFill/>
          <a:ln w="4763">
            <a:solidFill>
              <a:srgbClr val="000000">
                <a:alpha val="8000"/>
              </a:srgbClr>
            </a:solidFill>
            <a:prstDash val="solid"/>
          </a:ln>
        </p:spPr>
        <p:txBody>
          <a:bodyPr/>
          <a:lstStyle/>
          <a:p>
            <a:endParaRPr lang="en-IN"/>
          </a:p>
        </p:txBody>
      </p:sp>
      <p:sp>
        <p:nvSpPr>
          <p:cNvPr id="12" name="Text 10"/>
          <p:cNvSpPr/>
          <p:nvPr/>
        </p:nvSpPr>
        <p:spPr>
          <a:xfrm>
            <a:off x="1089794" y="2456780"/>
            <a:ext cx="2637458" cy="144438"/>
          </a:xfrm>
          <a:prstGeom prst="rect">
            <a:avLst/>
          </a:prstGeom>
          <a:noFill/>
          <a:ln/>
        </p:spPr>
        <p:txBody>
          <a:bodyPr wrap="none" lIns="0" tIns="0" rIns="0" bIns="0" rtlCol="0" anchor="t"/>
          <a:lstStyle/>
          <a:p>
            <a:pPr marL="0" indent="0" algn="l">
              <a:lnSpc>
                <a:spcPct val="116000"/>
              </a:lnSpc>
              <a:buNone/>
            </a:pPr>
            <a:r>
              <a:rPr lang="en-US" sz="800" dirty="0">
                <a:solidFill>
                  <a:srgbClr val="3C3939"/>
                </a:solidFill>
                <a:latin typeface="Roboto" pitchFamily="34" charset="0"/>
                <a:ea typeface="Roboto" pitchFamily="34" charset="-122"/>
                <a:cs typeface="Roboto" pitchFamily="34" charset="-120"/>
              </a:rPr>
              <a:t>Metric</a:t>
            </a:r>
            <a:endParaRPr lang="en-US" sz="800" dirty="0"/>
          </a:p>
        </p:txBody>
      </p:sp>
      <p:sp>
        <p:nvSpPr>
          <p:cNvPr id="13" name="Text 11"/>
          <p:cNvSpPr/>
          <p:nvPr/>
        </p:nvSpPr>
        <p:spPr>
          <a:xfrm>
            <a:off x="3483025" y="2456780"/>
            <a:ext cx="2635076" cy="144438"/>
          </a:xfrm>
          <a:prstGeom prst="rect">
            <a:avLst/>
          </a:prstGeom>
          <a:noFill/>
          <a:ln/>
        </p:spPr>
        <p:txBody>
          <a:bodyPr wrap="none" lIns="0" tIns="0" rIns="0" bIns="0" rtlCol="0" anchor="t"/>
          <a:lstStyle/>
          <a:p>
            <a:pPr marL="0" indent="0" algn="l">
              <a:lnSpc>
                <a:spcPct val="116000"/>
              </a:lnSpc>
              <a:buNone/>
            </a:pPr>
            <a:r>
              <a:rPr lang="en-US" sz="800" dirty="0">
                <a:solidFill>
                  <a:srgbClr val="3C3939"/>
                </a:solidFill>
                <a:latin typeface="Roboto" pitchFamily="34" charset="0"/>
                <a:ea typeface="Roboto" pitchFamily="34" charset="-122"/>
                <a:cs typeface="Roboto" pitchFamily="34" charset="-120"/>
              </a:rPr>
              <a:t>Initial Models</a:t>
            </a:r>
            <a:endParaRPr lang="en-US" sz="800" dirty="0"/>
          </a:p>
        </p:txBody>
      </p:sp>
      <p:sp>
        <p:nvSpPr>
          <p:cNvPr id="14" name="Text 12"/>
          <p:cNvSpPr/>
          <p:nvPr/>
        </p:nvSpPr>
        <p:spPr>
          <a:xfrm>
            <a:off x="5873874" y="2456780"/>
            <a:ext cx="2637458" cy="144438"/>
          </a:xfrm>
          <a:prstGeom prst="rect">
            <a:avLst/>
          </a:prstGeom>
          <a:noFill/>
          <a:ln/>
        </p:spPr>
        <p:txBody>
          <a:bodyPr wrap="none" lIns="0" tIns="0" rIns="0" bIns="0" rtlCol="0" anchor="t"/>
          <a:lstStyle/>
          <a:p>
            <a:pPr marL="0" indent="0" algn="l">
              <a:lnSpc>
                <a:spcPct val="116000"/>
              </a:lnSpc>
              <a:buNone/>
            </a:pPr>
            <a:r>
              <a:rPr lang="en-US" sz="800" dirty="0">
                <a:solidFill>
                  <a:srgbClr val="3C3939"/>
                </a:solidFill>
                <a:latin typeface="Roboto" pitchFamily="34" charset="0"/>
                <a:ea typeface="Roboto" pitchFamily="34" charset="-122"/>
                <a:cs typeface="Roboto" pitchFamily="34" charset="-120"/>
              </a:rPr>
              <a:t>Current</a:t>
            </a:r>
            <a:endParaRPr lang="en-US" sz="800" dirty="0"/>
          </a:p>
        </p:txBody>
      </p:sp>
      <p:sp>
        <p:nvSpPr>
          <p:cNvPr id="15" name="Text 13"/>
          <p:cNvSpPr/>
          <p:nvPr/>
        </p:nvSpPr>
        <p:spPr>
          <a:xfrm>
            <a:off x="1089794" y="2707184"/>
            <a:ext cx="2637458" cy="144438"/>
          </a:xfrm>
          <a:prstGeom prst="rect">
            <a:avLst/>
          </a:prstGeom>
          <a:noFill/>
          <a:ln/>
        </p:spPr>
        <p:txBody>
          <a:bodyPr wrap="none" lIns="0" tIns="0" rIns="0" bIns="0" rtlCol="0" anchor="t"/>
          <a:lstStyle/>
          <a:p>
            <a:pPr marL="0" indent="0" algn="l">
              <a:lnSpc>
                <a:spcPct val="116000"/>
              </a:lnSpc>
              <a:buNone/>
            </a:pPr>
            <a:r>
              <a:rPr lang="en-US" sz="800" dirty="0">
                <a:solidFill>
                  <a:srgbClr val="3C3939"/>
                </a:solidFill>
                <a:latin typeface="Roboto" pitchFamily="34" charset="0"/>
                <a:ea typeface="Roboto" pitchFamily="34" charset="-122"/>
                <a:cs typeface="Roboto" pitchFamily="34" charset="-120"/>
              </a:rPr>
              <a:t>MAE progression</a:t>
            </a:r>
            <a:endParaRPr lang="en-US" sz="800" dirty="0"/>
          </a:p>
        </p:txBody>
      </p:sp>
      <p:sp>
        <p:nvSpPr>
          <p:cNvPr id="16" name="Text 14"/>
          <p:cNvSpPr/>
          <p:nvPr/>
        </p:nvSpPr>
        <p:spPr>
          <a:xfrm>
            <a:off x="3483025" y="2707184"/>
            <a:ext cx="2635076" cy="144438"/>
          </a:xfrm>
          <a:prstGeom prst="rect">
            <a:avLst/>
          </a:prstGeom>
          <a:noFill/>
          <a:ln/>
        </p:spPr>
        <p:txBody>
          <a:bodyPr wrap="none" lIns="0" tIns="0" rIns="0" bIns="0" rtlCol="0" anchor="t"/>
          <a:lstStyle/>
          <a:p>
            <a:pPr marL="0" indent="0" algn="l">
              <a:lnSpc>
                <a:spcPct val="116000"/>
              </a:lnSpc>
              <a:buNone/>
            </a:pPr>
            <a:r>
              <a:rPr lang="en-US" sz="800" dirty="0">
                <a:solidFill>
                  <a:srgbClr val="3C3939"/>
                </a:solidFill>
                <a:latin typeface="Roboto" pitchFamily="34" charset="0"/>
                <a:ea typeface="Roboto" pitchFamily="34" charset="-122"/>
                <a:cs typeface="Roboto" pitchFamily="34" charset="-120"/>
              </a:rPr>
              <a:t>6.36 → 5.04 → 4.29 → 3.64 m</a:t>
            </a:r>
            <a:endParaRPr lang="en-US" sz="800" dirty="0"/>
          </a:p>
        </p:txBody>
      </p:sp>
      <p:sp>
        <p:nvSpPr>
          <p:cNvPr id="17" name="Text 15"/>
          <p:cNvSpPr/>
          <p:nvPr/>
        </p:nvSpPr>
        <p:spPr>
          <a:xfrm>
            <a:off x="5873874" y="2707184"/>
            <a:ext cx="2637458" cy="144438"/>
          </a:xfrm>
          <a:prstGeom prst="rect">
            <a:avLst/>
          </a:prstGeom>
          <a:noFill/>
          <a:ln/>
        </p:spPr>
        <p:txBody>
          <a:bodyPr wrap="none" lIns="0" tIns="0" rIns="0" bIns="0" rtlCol="0" anchor="t"/>
          <a:lstStyle/>
          <a:p>
            <a:pPr marL="0" indent="0" algn="l">
              <a:lnSpc>
                <a:spcPct val="116000"/>
              </a:lnSpc>
              <a:buNone/>
            </a:pPr>
            <a:r>
              <a:rPr lang="en-US" sz="800" b="1" dirty="0">
                <a:solidFill>
                  <a:srgbClr val="3C3939"/>
                </a:solidFill>
                <a:latin typeface="Roboto" pitchFamily="34" charset="0"/>
                <a:ea typeface="Roboto" pitchFamily="34" charset="-122"/>
                <a:cs typeface="Roboto" pitchFamily="34" charset="-120"/>
              </a:rPr>
              <a:t>1.43 m</a:t>
            </a:r>
            <a:endParaRPr lang="en-US" sz="800" dirty="0"/>
          </a:p>
        </p:txBody>
      </p:sp>
      <p:sp>
        <p:nvSpPr>
          <p:cNvPr id="18" name="Text 16"/>
          <p:cNvSpPr/>
          <p:nvPr/>
        </p:nvSpPr>
        <p:spPr>
          <a:xfrm>
            <a:off x="1089794" y="2957587"/>
            <a:ext cx="2637458" cy="144438"/>
          </a:xfrm>
          <a:prstGeom prst="rect">
            <a:avLst/>
          </a:prstGeom>
          <a:noFill/>
          <a:ln/>
        </p:spPr>
        <p:txBody>
          <a:bodyPr wrap="none" lIns="0" tIns="0" rIns="0" bIns="0" rtlCol="0" anchor="t"/>
          <a:lstStyle/>
          <a:p>
            <a:pPr marL="0" indent="0" algn="l">
              <a:lnSpc>
                <a:spcPct val="116000"/>
              </a:lnSpc>
              <a:buNone/>
            </a:pPr>
            <a:r>
              <a:rPr lang="en-US" sz="800" dirty="0">
                <a:solidFill>
                  <a:srgbClr val="3C3939"/>
                </a:solidFill>
                <a:latin typeface="Roboto" pitchFamily="34" charset="0"/>
                <a:ea typeface="Roboto" pitchFamily="34" charset="-122"/>
                <a:cs typeface="Roboto" pitchFamily="34" charset="-120"/>
              </a:rPr>
              <a:t>Route memorization risk</a:t>
            </a:r>
            <a:endParaRPr lang="en-US" sz="800" dirty="0"/>
          </a:p>
        </p:txBody>
      </p:sp>
      <p:sp>
        <p:nvSpPr>
          <p:cNvPr id="19" name="Text 17"/>
          <p:cNvSpPr/>
          <p:nvPr/>
        </p:nvSpPr>
        <p:spPr>
          <a:xfrm>
            <a:off x="3483025" y="2957587"/>
            <a:ext cx="2635076" cy="144438"/>
          </a:xfrm>
          <a:prstGeom prst="rect">
            <a:avLst/>
          </a:prstGeom>
          <a:noFill/>
          <a:ln/>
        </p:spPr>
        <p:txBody>
          <a:bodyPr wrap="none" lIns="0" tIns="0" rIns="0" bIns="0" rtlCol="0" anchor="t"/>
          <a:lstStyle/>
          <a:p>
            <a:pPr marL="0" indent="0" algn="l">
              <a:lnSpc>
                <a:spcPct val="116000"/>
              </a:lnSpc>
              <a:buNone/>
            </a:pPr>
            <a:r>
              <a:rPr lang="en-US" sz="800" dirty="0">
                <a:solidFill>
                  <a:srgbClr val="3C3939"/>
                </a:solidFill>
                <a:latin typeface="Roboto" pitchFamily="34" charset="0"/>
                <a:ea typeface="Roboto" pitchFamily="34" charset="-122"/>
                <a:cs typeface="Roboto" pitchFamily="34" charset="-120"/>
              </a:rPr>
              <a:t>High → High → High → Medium</a:t>
            </a:r>
            <a:endParaRPr lang="en-US" sz="800" dirty="0"/>
          </a:p>
        </p:txBody>
      </p:sp>
      <p:sp>
        <p:nvSpPr>
          <p:cNvPr id="20" name="Text 18"/>
          <p:cNvSpPr/>
          <p:nvPr/>
        </p:nvSpPr>
        <p:spPr>
          <a:xfrm>
            <a:off x="5873874" y="2957587"/>
            <a:ext cx="2637458" cy="144438"/>
          </a:xfrm>
          <a:prstGeom prst="rect">
            <a:avLst/>
          </a:prstGeom>
          <a:noFill/>
          <a:ln/>
        </p:spPr>
        <p:txBody>
          <a:bodyPr wrap="none" lIns="0" tIns="0" rIns="0" bIns="0" rtlCol="0" anchor="t"/>
          <a:lstStyle/>
          <a:p>
            <a:pPr marL="0" indent="0" algn="l">
              <a:lnSpc>
                <a:spcPct val="116000"/>
              </a:lnSpc>
              <a:buNone/>
            </a:pPr>
            <a:r>
              <a:rPr lang="en-US" sz="800" b="1" dirty="0">
                <a:solidFill>
                  <a:srgbClr val="3C3939"/>
                </a:solidFill>
                <a:latin typeface="Roboto" pitchFamily="34" charset="0"/>
                <a:ea typeface="Roboto" pitchFamily="34" charset="-122"/>
                <a:cs typeface="Roboto" pitchFamily="34" charset="-120"/>
              </a:rPr>
              <a:t>None</a:t>
            </a:r>
            <a:endParaRPr lang="en-US" sz="800" dirty="0"/>
          </a:p>
        </p:txBody>
      </p:sp>
      <p:sp>
        <p:nvSpPr>
          <p:cNvPr id="21" name="Text 19"/>
          <p:cNvSpPr/>
          <p:nvPr/>
        </p:nvSpPr>
        <p:spPr>
          <a:xfrm>
            <a:off x="1089794" y="3207990"/>
            <a:ext cx="2637458" cy="144438"/>
          </a:xfrm>
          <a:prstGeom prst="rect">
            <a:avLst/>
          </a:prstGeom>
          <a:noFill/>
          <a:ln/>
        </p:spPr>
        <p:txBody>
          <a:bodyPr wrap="none" lIns="0" tIns="0" rIns="0" bIns="0" rtlCol="0" anchor="t"/>
          <a:lstStyle/>
          <a:p>
            <a:pPr marL="0" indent="0" algn="l">
              <a:lnSpc>
                <a:spcPct val="116000"/>
              </a:lnSpc>
              <a:buNone/>
            </a:pPr>
            <a:r>
              <a:rPr lang="en-US" sz="800" dirty="0">
                <a:solidFill>
                  <a:srgbClr val="3C3939"/>
                </a:solidFill>
                <a:latin typeface="Roboto" pitchFamily="34" charset="0"/>
                <a:ea typeface="Roboto" pitchFamily="34" charset="-122"/>
                <a:cs typeface="Roboto" pitchFamily="34" charset="-120"/>
              </a:rPr>
              <a:t>Training data</a:t>
            </a:r>
            <a:endParaRPr lang="en-US" sz="800" dirty="0"/>
          </a:p>
        </p:txBody>
      </p:sp>
      <p:sp>
        <p:nvSpPr>
          <p:cNvPr id="22" name="Text 20"/>
          <p:cNvSpPr/>
          <p:nvPr/>
        </p:nvSpPr>
        <p:spPr>
          <a:xfrm>
            <a:off x="3483025" y="3207990"/>
            <a:ext cx="2635076" cy="144438"/>
          </a:xfrm>
          <a:prstGeom prst="rect">
            <a:avLst/>
          </a:prstGeom>
          <a:noFill/>
          <a:ln/>
        </p:spPr>
        <p:txBody>
          <a:bodyPr wrap="none" lIns="0" tIns="0" rIns="0" bIns="0" rtlCol="0" anchor="t"/>
          <a:lstStyle/>
          <a:p>
            <a:pPr marL="0" indent="0" algn="l">
              <a:lnSpc>
                <a:spcPct val="116000"/>
              </a:lnSpc>
              <a:buNone/>
            </a:pPr>
            <a:r>
              <a:rPr lang="en-US" sz="800" dirty="0">
                <a:solidFill>
                  <a:srgbClr val="3C3939"/>
                </a:solidFill>
                <a:latin typeface="Roboto" pitchFamily="34" charset="0"/>
                <a:ea typeface="Roboto" pitchFamily="34" charset="-122"/>
                <a:cs typeface="Roboto" pitchFamily="34" charset="-120"/>
              </a:rPr>
              <a:t>Continuous walks</a:t>
            </a:r>
            <a:endParaRPr lang="en-US" sz="800" dirty="0"/>
          </a:p>
        </p:txBody>
      </p:sp>
      <p:sp>
        <p:nvSpPr>
          <p:cNvPr id="23" name="Text 21"/>
          <p:cNvSpPr/>
          <p:nvPr/>
        </p:nvSpPr>
        <p:spPr>
          <a:xfrm>
            <a:off x="5873874" y="3207990"/>
            <a:ext cx="2637458" cy="144438"/>
          </a:xfrm>
          <a:prstGeom prst="rect">
            <a:avLst/>
          </a:prstGeom>
          <a:noFill/>
          <a:ln/>
        </p:spPr>
        <p:txBody>
          <a:bodyPr wrap="none" lIns="0" tIns="0" rIns="0" bIns="0" rtlCol="0" anchor="t"/>
          <a:lstStyle/>
          <a:p>
            <a:pPr marL="0" indent="0" algn="l">
              <a:lnSpc>
                <a:spcPct val="116000"/>
              </a:lnSpc>
              <a:buNone/>
            </a:pPr>
            <a:r>
              <a:rPr lang="en-US" sz="800" b="1" dirty="0">
                <a:solidFill>
                  <a:srgbClr val="3C3939"/>
                </a:solidFill>
                <a:latin typeface="Roboto" pitchFamily="34" charset="0"/>
                <a:ea typeface="Roboto" pitchFamily="34" charset="-122"/>
                <a:cs typeface="Roboto" pitchFamily="34" charset="-120"/>
              </a:rPr>
              <a:t>Static DB</a:t>
            </a:r>
            <a:endParaRPr lang="en-US" sz="800" dirty="0"/>
          </a:p>
        </p:txBody>
      </p:sp>
      <p:sp>
        <p:nvSpPr>
          <p:cNvPr id="24" name="Text 22"/>
          <p:cNvSpPr/>
          <p:nvPr/>
        </p:nvSpPr>
        <p:spPr>
          <a:xfrm>
            <a:off x="1089794" y="3458394"/>
            <a:ext cx="2637458" cy="144438"/>
          </a:xfrm>
          <a:prstGeom prst="rect">
            <a:avLst/>
          </a:prstGeom>
          <a:noFill/>
          <a:ln/>
        </p:spPr>
        <p:txBody>
          <a:bodyPr wrap="none" lIns="0" tIns="0" rIns="0" bIns="0" rtlCol="0" anchor="t"/>
          <a:lstStyle/>
          <a:p>
            <a:pPr marL="0" indent="0" algn="l">
              <a:lnSpc>
                <a:spcPct val="116000"/>
              </a:lnSpc>
              <a:buNone/>
            </a:pPr>
            <a:r>
              <a:rPr lang="en-US" sz="800" dirty="0">
                <a:solidFill>
                  <a:srgbClr val="3C3939"/>
                </a:solidFill>
                <a:latin typeface="Roboto" pitchFamily="34" charset="0"/>
                <a:ea typeface="Roboto" pitchFamily="34" charset="-122"/>
                <a:cs typeface="Roboto" pitchFamily="34" charset="-120"/>
              </a:rPr>
              <a:t>Output</a:t>
            </a:r>
            <a:endParaRPr lang="en-US" sz="800" dirty="0"/>
          </a:p>
        </p:txBody>
      </p:sp>
      <p:sp>
        <p:nvSpPr>
          <p:cNvPr id="25" name="Text 23"/>
          <p:cNvSpPr/>
          <p:nvPr/>
        </p:nvSpPr>
        <p:spPr>
          <a:xfrm>
            <a:off x="3483025" y="3458394"/>
            <a:ext cx="2635076" cy="144438"/>
          </a:xfrm>
          <a:prstGeom prst="rect">
            <a:avLst/>
          </a:prstGeom>
          <a:noFill/>
          <a:ln/>
        </p:spPr>
        <p:txBody>
          <a:bodyPr wrap="none" lIns="0" tIns="0" rIns="0" bIns="0" rtlCol="0" anchor="t"/>
          <a:lstStyle/>
          <a:p>
            <a:pPr marL="0" indent="0" algn="l">
              <a:lnSpc>
                <a:spcPct val="116000"/>
              </a:lnSpc>
              <a:buNone/>
            </a:pPr>
            <a:r>
              <a:rPr lang="en-US" sz="800" dirty="0">
                <a:solidFill>
                  <a:srgbClr val="3C3939"/>
                </a:solidFill>
                <a:latin typeface="Roboto" pitchFamily="34" charset="0"/>
                <a:ea typeface="Roboto" pitchFamily="34" charset="-122"/>
                <a:cs typeface="Roboto" pitchFamily="34" charset="-120"/>
              </a:rPr>
              <a:t>Single point</a:t>
            </a:r>
            <a:endParaRPr lang="en-US" sz="800" dirty="0"/>
          </a:p>
        </p:txBody>
      </p:sp>
      <p:sp>
        <p:nvSpPr>
          <p:cNvPr id="26" name="Text 24"/>
          <p:cNvSpPr/>
          <p:nvPr/>
        </p:nvSpPr>
        <p:spPr>
          <a:xfrm>
            <a:off x="5873874" y="3458394"/>
            <a:ext cx="2637458" cy="144438"/>
          </a:xfrm>
          <a:prstGeom prst="rect">
            <a:avLst/>
          </a:prstGeom>
          <a:noFill/>
          <a:ln/>
        </p:spPr>
        <p:txBody>
          <a:bodyPr wrap="none" lIns="0" tIns="0" rIns="0" bIns="0" rtlCol="0" anchor="t"/>
          <a:lstStyle/>
          <a:p>
            <a:pPr marL="0" indent="0" algn="l">
              <a:lnSpc>
                <a:spcPct val="116000"/>
              </a:lnSpc>
              <a:buNone/>
            </a:pPr>
            <a:r>
              <a:rPr lang="en-US" sz="800" b="1" dirty="0">
                <a:solidFill>
                  <a:srgbClr val="3C3939"/>
                </a:solidFill>
                <a:latin typeface="Roboto" pitchFamily="34" charset="0"/>
                <a:ea typeface="Roboto" pitchFamily="34" charset="-122"/>
                <a:cs typeface="Roboto" pitchFamily="34" charset="-120"/>
              </a:rPr>
              <a:t>Heatmap</a:t>
            </a:r>
            <a:endParaRPr lang="en-US" sz="800" dirty="0"/>
          </a:p>
        </p:txBody>
      </p:sp>
      <p:sp>
        <p:nvSpPr>
          <p:cNvPr id="27" name="Text 25"/>
          <p:cNvSpPr/>
          <p:nvPr/>
        </p:nvSpPr>
        <p:spPr>
          <a:xfrm>
            <a:off x="980182" y="3772867"/>
            <a:ext cx="2539380" cy="260226"/>
          </a:xfrm>
          <a:prstGeom prst="rect">
            <a:avLst/>
          </a:prstGeom>
          <a:noFill/>
          <a:ln/>
        </p:spPr>
        <p:txBody>
          <a:bodyPr wrap="none" lIns="0" tIns="0" rIns="0" bIns="0" rtlCol="0" anchor="t"/>
          <a:lstStyle/>
          <a:p>
            <a:pPr marL="0" indent="0" algn="l">
              <a:lnSpc>
                <a:spcPct val="104000"/>
              </a:lnSpc>
              <a:buNone/>
            </a:pPr>
            <a:r>
              <a:rPr lang="en-US" sz="1600" dirty="0">
                <a:solidFill>
                  <a:srgbClr val="1B1B27"/>
                </a:solidFill>
                <a:latin typeface="Raleway" pitchFamily="34" charset="0"/>
                <a:ea typeface="Raleway" pitchFamily="34" charset="-122"/>
                <a:cs typeface="Raleway" pitchFamily="34" charset="-120"/>
              </a:rPr>
              <a:t>The Path Forward</a:t>
            </a:r>
            <a:endParaRPr lang="en-US" sz="1600" dirty="0"/>
          </a:p>
        </p:txBody>
      </p:sp>
      <p:sp>
        <p:nvSpPr>
          <p:cNvPr id="28" name="Text 26"/>
          <p:cNvSpPr/>
          <p:nvPr/>
        </p:nvSpPr>
        <p:spPr>
          <a:xfrm>
            <a:off x="1136303" y="4233714"/>
            <a:ext cx="7027441" cy="288875"/>
          </a:xfrm>
          <a:prstGeom prst="rect">
            <a:avLst/>
          </a:prstGeom>
          <a:noFill/>
          <a:ln/>
        </p:spPr>
        <p:txBody>
          <a:bodyPr wrap="square" lIns="0" tIns="0" rIns="0" bIns="0" rtlCol="0" anchor="t">
            <a:normAutofit/>
          </a:bodyPr>
          <a:lstStyle/>
          <a:p>
            <a:pPr marL="0" indent="0" algn="l">
              <a:lnSpc>
                <a:spcPct val="116000"/>
              </a:lnSpc>
              <a:buNone/>
            </a:pPr>
            <a:r>
              <a:rPr lang="en-US" sz="800" dirty="0">
                <a:solidFill>
                  <a:srgbClr val="3C3939"/>
                </a:solidFill>
                <a:latin typeface="Roboto" pitchFamily="34" charset="0"/>
                <a:ea typeface="Roboto" pitchFamily="34" charset="-122"/>
                <a:cs typeface="Roboto" pitchFamily="34" charset="-120"/>
              </a:rPr>
              <a:t>The WiFi heatmap (1.43 m) is proven. The full EKF fusion is ready. The only missing piece is WiFi-enabled walks with per-frame ground truth. Once that data is collected, the complete system will be validated end-to-end and ready for deployment.</a:t>
            </a:r>
            <a:endParaRPr lang="en-US" sz="800" dirty="0"/>
          </a:p>
        </p:txBody>
      </p:sp>
      <mc:AlternateContent xmlns:mc="http://schemas.openxmlformats.org/markup-compatibility/2006">
        <mc:Choice xmlns:p14="http://schemas.microsoft.com/office/powerpoint/2010/main" Requires="p14">
          <p:contentPart p14:bwMode="auto" r:id="rId3">
            <p14:nvContentPartPr>
              <p14:cNvPr id="29" name="Ink 28">
                <a:extLst>
                  <a:ext uri="{FF2B5EF4-FFF2-40B4-BE49-F238E27FC236}">
                    <a16:creationId xmlns:a16="http://schemas.microsoft.com/office/drawing/2014/main" id="{E8C630E7-FEC8-46A5-7146-52F616BE38E6}"/>
                  </a:ext>
                </a:extLst>
              </p14:cNvPr>
              <p14:cNvContentPartPr/>
              <p14:nvPr/>
            </p14:nvContentPartPr>
            <p14:xfrm>
              <a:off x="7736650" y="4875398"/>
              <a:ext cx="738360" cy="73080"/>
            </p14:xfrm>
          </p:contentPart>
        </mc:Choice>
        <mc:Fallback>
          <p:pic>
            <p:nvPicPr>
              <p:cNvPr id="29" name="Ink 28">
                <a:extLst>
                  <a:ext uri="{FF2B5EF4-FFF2-40B4-BE49-F238E27FC236}">
                    <a16:creationId xmlns:a16="http://schemas.microsoft.com/office/drawing/2014/main" id="{E8C630E7-FEC8-46A5-7146-52F616BE38E6}"/>
                  </a:ext>
                </a:extLst>
              </p:cNvPr>
              <p:cNvPicPr/>
              <p:nvPr/>
            </p:nvPicPr>
            <p:blipFill>
              <a:blip r:embed="rId4"/>
              <a:stretch>
                <a:fillRect/>
              </a:stretch>
            </p:blipFill>
            <p:spPr>
              <a:xfrm>
                <a:off x="7682650" y="4767758"/>
                <a:ext cx="846000" cy="28872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30" name="Ink 29">
                <a:extLst>
                  <a:ext uri="{FF2B5EF4-FFF2-40B4-BE49-F238E27FC236}">
                    <a16:creationId xmlns:a16="http://schemas.microsoft.com/office/drawing/2014/main" id="{A58E891E-E088-5A6C-73C7-79AF7D40171D}"/>
                  </a:ext>
                </a:extLst>
              </p14:cNvPr>
              <p14:cNvContentPartPr/>
              <p14:nvPr/>
            </p14:nvContentPartPr>
            <p14:xfrm>
              <a:off x="8475730" y="4895929"/>
              <a:ext cx="398520" cy="71280"/>
            </p14:xfrm>
          </p:contentPart>
        </mc:Choice>
        <mc:Fallback>
          <p:pic>
            <p:nvPicPr>
              <p:cNvPr id="30" name="Ink 29">
                <a:extLst>
                  <a:ext uri="{FF2B5EF4-FFF2-40B4-BE49-F238E27FC236}">
                    <a16:creationId xmlns:a16="http://schemas.microsoft.com/office/drawing/2014/main" id="{A58E891E-E088-5A6C-73C7-79AF7D40171D}"/>
                  </a:ext>
                </a:extLst>
              </p:cNvPr>
              <p:cNvPicPr/>
              <p:nvPr/>
            </p:nvPicPr>
            <p:blipFill>
              <a:blip r:embed="rId6"/>
              <a:stretch>
                <a:fillRect/>
              </a:stretch>
            </p:blipFill>
            <p:spPr>
              <a:xfrm>
                <a:off x="8422090" y="4788289"/>
                <a:ext cx="506160" cy="28692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31" name="Ink 30">
                <a:extLst>
                  <a:ext uri="{FF2B5EF4-FFF2-40B4-BE49-F238E27FC236}">
                    <a16:creationId xmlns:a16="http://schemas.microsoft.com/office/drawing/2014/main" id="{9AF86B05-970C-2912-629D-3CC0A1040951}"/>
                  </a:ext>
                </a:extLst>
              </p14:cNvPr>
              <p14:cNvContentPartPr/>
              <p14:nvPr/>
            </p14:nvContentPartPr>
            <p14:xfrm>
              <a:off x="7652770" y="4291849"/>
              <a:ext cx="1069920" cy="675720"/>
            </p14:xfrm>
          </p:contentPart>
        </mc:Choice>
        <mc:Fallback>
          <p:pic>
            <p:nvPicPr>
              <p:cNvPr id="31" name="Ink 30">
                <a:extLst>
                  <a:ext uri="{FF2B5EF4-FFF2-40B4-BE49-F238E27FC236}">
                    <a16:creationId xmlns:a16="http://schemas.microsoft.com/office/drawing/2014/main" id="{9AF86B05-970C-2912-629D-3CC0A1040951}"/>
                  </a:ext>
                </a:extLst>
              </p:cNvPr>
              <p:cNvPicPr/>
              <p:nvPr/>
            </p:nvPicPr>
            <p:blipFill>
              <a:blip r:embed="rId8"/>
              <a:stretch>
                <a:fillRect/>
              </a:stretch>
            </p:blipFill>
            <p:spPr>
              <a:xfrm>
                <a:off x="7598770" y="4184209"/>
                <a:ext cx="1177560" cy="89136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32" name="Ink 31">
                <a:extLst>
                  <a:ext uri="{FF2B5EF4-FFF2-40B4-BE49-F238E27FC236}">
                    <a16:creationId xmlns:a16="http://schemas.microsoft.com/office/drawing/2014/main" id="{FF0785E9-8171-D93B-A531-525C6B4EE8B0}"/>
                  </a:ext>
                </a:extLst>
              </p14:cNvPr>
              <p14:cNvContentPartPr/>
              <p14:nvPr/>
            </p14:nvContentPartPr>
            <p14:xfrm>
              <a:off x="8021050" y="4853449"/>
              <a:ext cx="1022760" cy="199080"/>
            </p14:xfrm>
          </p:contentPart>
        </mc:Choice>
        <mc:Fallback>
          <p:pic>
            <p:nvPicPr>
              <p:cNvPr id="32" name="Ink 31">
                <a:extLst>
                  <a:ext uri="{FF2B5EF4-FFF2-40B4-BE49-F238E27FC236}">
                    <a16:creationId xmlns:a16="http://schemas.microsoft.com/office/drawing/2014/main" id="{FF0785E9-8171-D93B-A531-525C6B4EE8B0}"/>
                  </a:ext>
                </a:extLst>
              </p:cNvPr>
              <p:cNvPicPr/>
              <p:nvPr/>
            </p:nvPicPr>
            <p:blipFill>
              <a:blip r:embed="rId10"/>
              <a:stretch>
                <a:fillRect/>
              </a:stretch>
            </p:blipFill>
            <p:spPr>
              <a:xfrm>
                <a:off x="7958410" y="4790809"/>
                <a:ext cx="1148400" cy="324720"/>
              </a:xfrm>
              <a:prstGeom prst="rect">
                <a:avLst/>
              </a:prstGeom>
            </p:spPr>
          </p:pic>
        </mc:Fallback>
      </mc:AlternateContent>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1835</Words>
  <Application>Microsoft Office PowerPoint</Application>
  <PresentationFormat>On-screen Show (16:9)</PresentationFormat>
  <Paragraphs>81</Paragraphs>
  <Slides>6</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Roboto</vt:lpstr>
      <vt:lpstr>Consolas</vt:lpstr>
      <vt:lpstr>Arial</vt:lpstr>
      <vt:lpstr>Raleway</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Jayendra Birhade</cp:lastModifiedBy>
  <cp:revision>2</cp:revision>
  <dcterms:created xsi:type="dcterms:W3CDTF">2026-06-13T14:03:50Z</dcterms:created>
  <dcterms:modified xsi:type="dcterms:W3CDTF">2026-06-13T14:06:42Z</dcterms:modified>
</cp:coreProperties>
</file>